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828800"/>
            <a:ext cx="3200400" cy="3200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2286000" cy="228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2286000" cy="1371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6000" b="1">
                <a:solidFill>
                  <a:srgbClr val="F39C12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560320"/>
            <a:ext cx="6858000" cy="16459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迈克尔逊干涉仪</a:t>
            </a:r>
            <a:br/>
            <a:r>
              <a:t>AI 智能辅助系统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4389120"/>
            <a:ext cx="4572000" cy="4572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600" b="0">
                <a:solidFill>
                  <a:srgbClr val="F39C12"/>
                </a:solidFill>
                <a:latin typeface="微软雅黑"/>
              </a:defRPr>
            </a:pPr>
            <a:r>
              <a:t>视觉识别 · 大模型助手 · 自动化实验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5029200"/>
            <a:ext cx="4572000" cy="36576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200" b="0">
                <a:solidFill>
                  <a:srgbClr val="5A6A7E"/>
                </a:solidFill>
                <a:latin typeface="微软雅黑"/>
              </a:defRPr>
            </a:pPr>
            <a:r>
              <a:t>AI 技术部分演示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微软雅黑"/>
              </a:defRPr>
            </a:pPr>
            <a:r>
              <a:t>AI 系统总览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微软雅黑"/>
              </a:defRPr>
            </a:pPr>
            <a:r>
              <a:t>三层 AI 架构协同工作，AI 助手严格只读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1554480"/>
            <a:ext cx="1005840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1554480"/>
            <a:ext cx="54864" cy="10972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645920"/>
            <a:ext cx="969264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微软雅黑"/>
              </a:defRPr>
            </a:pPr>
            <a:r>
              <a:t>AI 实验助手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20240"/>
            <a:ext cx="9692640" cy="1828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F39C12"/>
                </a:solidFill>
                <a:latin typeface="微软雅黑"/>
              </a:defRPr>
            </a:pPr>
            <a:r>
              <a:t>大模型 (DeepSeek) + 本地知识库 (RAG)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48840"/>
            <a:ext cx="9692640" cy="4114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预习指导 · 操作辅助 · 条纹诊断 · 误差计算 · 报告生成</a:t>
            </a:r>
            <a:br/>
            <a:r>
              <a:t>接收只读状态快照 → 结合知识库 → 生成个性化实验指导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651760"/>
            <a:ext cx="274320" cy="13716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788920"/>
            <a:ext cx="1005840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788920"/>
            <a:ext cx="54864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880360"/>
            <a:ext cx="969264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微软雅黑"/>
              </a:defRPr>
            </a:pPr>
            <a:r>
              <a:t>视觉 AI — YOLO 条纹识别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154680"/>
            <a:ext cx="9692640" cy="1828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自定义训练模型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383280"/>
            <a:ext cx="9692640" cy="4114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实时检测条纹类别（零级条纹 / 近场彩色条纹）</a:t>
            </a:r>
            <a:br/>
            <a:r>
              <a:t>亚像素中心定位 → 运动方向跟踪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886200"/>
            <a:ext cx="274320" cy="13716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4023360"/>
            <a:ext cx="1005840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4023360"/>
            <a:ext cx="54864" cy="10972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114800"/>
            <a:ext cx="969264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500" b="1">
                <a:solidFill>
                  <a:srgbClr val="2C3E50"/>
                </a:solidFill>
                <a:latin typeface="微软雅黑"/>
              </a:defRPr>
            </a:pPr>
            <a:r>
              <a:t>千分尺 OCR 读数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389120"/>
            <a:ext cx="9692640" cy="1828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微软雅黑"/>
              </a:defRPr>
            </a:pPr>
            <a:r>
              <a:t>PP-OCRv6 ONNX · 本地推理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617720"/>
            <a:ext cx="9692640" cy="4114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LCD 屏幕自动定位 → 数字字符识别 → 多帧投票稳定化输出</a:t>
            </a:r>
            <a:br/>
            <a:r>
              <a:t>闭合数据采集链路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5394960"/>
            <a:ext cx="10058400" cy="457200"/>
          </a:xfrm>
          <a:prstGeom prst="rect">
            <a:avLst/>
          </a:prstGeom>
          <a:solidFill>
            <a:srgbClr val="FDE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5413248"/>
            <a:ext cx="9692640" cy="4114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微软雅黑"/>
              </a:defRPr>
            </a:pPr>
            <a:r>
              <a:t>AI 助手严格只读，不控制任何硬件  |  所有电机操作由确定性状态机执行  |  YOLO + OCR 提供感知数据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微软雅黑"/>
              </a:defRPr>
            </a:pPr>
            <a:r>
              <a:t>YOLO 视觉识别原理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微软雅黑"/>
              </a:defRPr>
            </a:pPr>
            <a:r>
              <a:t>深度学习如何"看懂"干涉条纹 —— 从图像输入到条纹定位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5029200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27432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164592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输入图像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536192"/>
            <a:ext cx="27432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相机拍摄干涉条纹画面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94560"/>
            <a:ext cx="5029200" cy="640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27432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微软雅黑"/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67712"/>
            <a:ext cx="164592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微软雅黑"/>
              </a:defRPr>
            </a:pPr>
            <a:r>
              <a:t>网格划分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267712"/>
            <a:ext cx="27432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微软雅黑"/>
              </a:defRPr>
            </a:pPr>
            <a:r>
              <a:t>将画面切分为 N×N 小格子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5029200" cy="640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27432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微软雅黑"/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99232"/>
            <a:ext cx="164592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微软雅黑"/>
              </a:defRPr>
            </a:pPr>
            <a:r>
              <a:t>同时预测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999232"/>
            <a:ext cx="27432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微软雅黑"/>
              </a:defRPr>
            </a:pPr>
            <a:r>
              <a:t>每个格子一步完成位置框 + 类别判断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5029200" cy="6400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27432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30752"/>
            <a:ext cx="164592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筛选结果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730752"/>
            <a:ext cx="27432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微软雅黑"/>
              </a:defRPr>
            </a:pPr>
            <a:r>
              <a:t>去重合并，保留最优检测</a:t>
            </a:r>
          </a:p>
        </p:txBody>
      </p:sp>
      <p:sp>
        <p:nvSpPr>
          <p:cNvPr id="21" name="Rectangle 20"/>
          <p:cNvSpPr/>
          <p:nvPr/>
          <a:ln w="12700">
            <a:prstDash val="dash"/>
          </a:ln>
        </p:nvSpPr>
        <p:spPr>
          <a:xfrm>
            <a:off x="5943600" y="1463040"/>
            <a:ext cx="2834640" cy="1920240"/>
          </a:xfrm>
          <a:prstGeom prst="rect">
            <a:avLst/>
          </a:prstGeom>
          <a:solidFill>
            <a:srgbClr val="EEF1F5"/>
          </a:solidFill>
          <a:ln w="12700">
            <a:solidFill>
              <a:srgbClr val="5A6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2240280"/>
            <a:ext cx="2560320" cy="36576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【图】原始干涉条纹照片</a:t>
            </a:r>
          </a:p>
        </p:txBody>
      </p:sp>
      <p:sp>
        <p:nvSpPr>
          <p:cNvPr id="23" name="Rectangle 22"/>
          <p:cNvSpPr/>
          <p:nvPr/>
          <a:ln w="12700">
            <a:prstDash val="dash"/>
          </a:ln>
        </p:nvSpPr>
        <p:spPr>
          <a:xfrm>
            <a:off x="8961120" y="1463040"/>
            <a:ext cx="2834640" cy="1920240"/>
          </a:xfrm>
          <a:prstGeom prst="rect">
            <a:avLst/>
          </a:prstGeom>
          <a:solidFill>
            <a:srgbClr val="EEF1F5"/>
          </a:solidFill>
          <a:ln w="12700">
            <a:solidFill>
              <a:srgbClr val="5A6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240280"/>
            <a:ext cx="2560320" cy="36576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【图】叠加 YOLO 检测框的对比图</a:t>
            </a:r>
            <a:br/>
            <a:r>
              <a:t>（框 + 置信度标注）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06240"/>
            <a:ext cx="5029200" cy="3200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224528"/>
            <a:ext cx="484632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检测目标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544568"/>
            <a:ext cx="50292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590288"/>
            <a:ext cx="118872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  <a:latin typeface="微软雅黑"/>
              </a:defRPr>
            </a:pPr>
            <a:r>
              <a:t>零级条纹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590288"/>
            <a:ext cx="3474720" cy="4114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白光零光程差处的特征黑条纹 —— 实验的终极目标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4748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093208"/>
            <a:ext cx="118872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近场彩色条纹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093208"/>
            <a:ext cx="3474720" cy="4114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零级附近的彩色条纹 —— 搜索阶段的方向路标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4206240"/>
            <a:ext cx="5577840" cy="320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4224528"/>
            <a:ext cx="539496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模型训练流程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4617720"/>
            <a:ext cx="5303520" cy="256032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① 采集干涉条纹图像，人工标注条纹边界框和类别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892040"/>
            <a:ext cx="5303520" cy="256032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② 标注数据送入 YOLO 模型，输出预测结果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5166360"/>
            <a:ext cx="5303520" cy="256032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③ 对比预测与人工标注，计算误差并反向传播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5440680"/>
            <a:ext cx="5303520" cy="256032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④ 反复迭代直至收敛 → 在新图像上准确识别条纹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715000"/>
            <a:ext cx="1371600" cy="1828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精确定位管线：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5715000"/>
            <a:ext cx="9326880" cy="4114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YOLO 框 → 扩大搜索区域 → 提取颜色剖面 → 多特征评分（暗谷·色度·对称）→ 亚像素插值 → 时序滤波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微软雅黑"/>
              </a:defRPr>
            </a:pPr>
            <a:r>
              <a:t>AI 实验助手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微软雅黑"/>
              </a:defRPr>
            </a:pPr>
            <a:r>
              <a:t>基于大模型的智能实验辅助 —— RAG 检索增强生成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01168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011680" cy="3657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8288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① 学生提问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1828800" cy="59436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自然语言输入</a:t>
            </a:r>
            <a:br/>
            <a:r>
              <a:t>实验相关问题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463040"/>
            <a:ext cx="201168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1463040"/>
            <a:ext cx="2011680" cy="3657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554480"/>
            <a:ext cx="18288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② 知识检索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874520"/>
            <a:ext cx="1828800" cy="59436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本地 5 篇 Markdown</a:t>
            </a:r>
            <a:br/>
            <a:r>
              <a:t>关键词匹配检索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463040"/>
            <a:ext cx="201168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463040"/>
            <a:ext cx="2011680" cy="3657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1554480"/>
            <a:ext cx="18288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③ 状态感知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874520"/>
            <a:ext cx="1828800" cy="59436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读取相机·YOLO·电机</a:t>
            </a:r>
            <a:br/>
            <a:r>
              <a:t>千分尺·实验阶段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1463040"/>
            <a:ext cx="201168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5160" y="1463040"/>
            <a:ext cx="2011680" cy="3657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1554480"/>
            <a:ext cx="18288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④ 模型生成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1874520"/>
            <a:ext cx="1828800" cy="59436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DeepSeek 流式输出</a:t>
            </a:r>
            <a:br/>
            <a:r>
              <a:t>支持中途取消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463040"/>
            <a:ext cx="2011680" cy="10972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463040"/>
            <a:ext cx="201168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554480"/>
            <a:ext cx="18288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⑤ 格式化输出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874520"/>
            <a:ext cx="1828800" cy="59436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Markdown 渲染</a:t>
            </a:r>
            <a:br/>
            <a:r>
              <a:t>LaTeX 公式显示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2834640"/>
            <a:ext cx="1463040" cy="1234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801368" y="2926080"/>
            <a:ext cx="512064" cy="512064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520440"/>
            <a:ext cx="146304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实验预习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749040"/>
            <a:ext cx="146304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讲解原理</a:t>
            </a:r>
            <a:br/>
            <a:r>
              <a:t>自检提问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2834640"/>
            <a:ext cx="1463040" cy="1234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13048" y="2926080"/>
            <a:ext cx="512064" cy="51206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3520440"/>
            <a:ext cx="146304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过程指导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3749040"/>
            <a:ext cx="146304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判断阶段</a:t>
            </a:r>
            <a:br/>
            <a:r>
              <a:t>逐步操作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2834640"/>
            <a:ext cx="1463040" cy="1234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824728" y="2926080"/>
            <a:ext cx="512064" cy="512064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3520440"/>
            <a:ext cx="146304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条纹诊断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3749040"/>
            <a:ext cx="146304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分析画面</a:t>
            </a:r>
            <a:br/>
            <a:r>
              <a:t>排查故障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20" y="2834640"/>
            <a:ext cx="1463040" cy="1234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836408" y="2926080"/>
            <a:ext cx="512064" cy="512064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520440"/>
            <a:ext cx="146304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误差计算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3749040"/>
            <a:ext cx="146304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不确定度</a:t>
            </a:r>
            <a:br/>
            <a:r>
              <a:t>有效数字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72600" y="2834640"/>
            <a:ext cx="1463040" cy="12344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848088" y="2926080"/>
            <a:ext cx="512064" cy="512064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520440"/>
            <a:ext cx="146304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报告生成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3749040"/>
            <a:ext cx="146304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8 章结构</a:t>
            </a:r>
            <a:br/>
            <a:r>
              <a:t>缺项标记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343400"/>
            <a:ext cx="5303520" cy="1463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4343400"/>
            <a:ext cx="530352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434840"/>
            <a:ext cx="493776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微软雅黑"/>
              </a:defRPr>
            </a:pPr>
            <a:r>
              <a:t>安全约束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4754880"/>
            <a:ext cx="493776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E74C3C"/>
                </a:solidFill>
                <a:latin typeface="微软雅黑"/>
              </a:defRPr>
            </a:pPr>
            <a:r>
              <a:t>✗ 不控制电机、不编造读数/波长/误差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983480"/>
            <a:ext cx="493776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E74C3C"/>
                </a:solidFill>
                <a:latin typeface="微软雅黑"/>
              </a:defRPr>
            </a:pPr>
            <a:r>
              <a:t>✗ 不混淆模型置信度与测量不确定度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212080"/>
            <a:ext cx="493776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27AE60"/>
                </a:solidFill>
                <a:latin typeface="微软雅黑"/>
              </a:defRPr>
            </a:pPr>
            <a:r>
              <a:t>✓ 指出缺失数据，列出待补充项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440680"/>
            <a:ext cx="493776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27AE60"/>
                </a:solidFill>
                <a:latin typeface="微软雅黑"/>
              </a:defRPr>
            </a:pPr>
            <a:r>
              <a:t>✓ 传感器数据与知识库冲突时采信传感器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4343400"/>
            <a:ext cx="5486400" cy="1463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26480" y="4343400"/>
            <a:ext cx="548640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4434840"/>
            <a:ext cx="512064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微软雅黑"/>
              </a:defRPr>
            </a:pPr>
            <a:r>
              <a:t>离线降级机制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4800600"/>
            <a:ext cx="4937760" cy="365760"/>
          </a:xfrm>
          <a:prstGeom prst="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0" y="4800600"/>
            <a:ext cx="4572000" cy="36576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微软雅黑"/>
              </a:defRPr>
            </a:pPr>
            <a:r>
              <a:t>有网络 → DeepSeek API 在线生成（流式逐字输出）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5184648"/>
            <a:ext cx="457200" cy="1828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1000" b="0">
                <a:solidFill>
                  <a:srgbClr val="5A6A7E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5349240"/>
            <a:ext cx="4937760" cy="365760"/>
          </a:xfrm>
          <a:prstGeom prst="rect">
            <a:avLst/>
          </a:prstGeom>
          <a:solidFill>
            <a:srgbClr val="F2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83680" y="5349240"/>
            <a:ext cx="4572000" cy="36576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0">
                <a:solidFill>
                  <a:srgbClr val="5A6A7E"/>
                </a:solidFill>
                <a:latin typeface="微软雅黑"/>
              </a:defRPr>
            </a:pPr>
            <a:r>
              <a:t>无网络 → 本地 RAG 知识库 + 实验阶段规则（仍可指导）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微软雅黑"/>
              </a:defRPr>
            </a:pPr>
            <a:r>
              <a:t>AI 驱动的自动化实验流程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微软雅黑"/>
              </a:defRPr>
            </a:pPr>
            <a:r>
              <a:t>仅需两步人工操作，其余由 AI 自动完成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7724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45720" cy="50292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74320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① 人工调光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502920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使用红光调整干涉仪，使条纹清晰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554480"/>
            <a:ext cx="73152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r">
              <a:defRPr sz="700" b="1">
                <a:solidFill>
                  <a:srgbClr val="95A5A6"/>
                </a:solidFill>
                <a:latin typeface="微软雅黑"/>
              </a:defRPr>
            </a:pPr>
            <a:r>
              <a:t>人工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75104"/>
            <a:ext cx="77724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975104"/>
            <a:ext cx="45720" cy="50292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20824"/>
            <a:ext cx="274320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② 放置白光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31136"/>
            <a:ext cx="502920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切换光源为白光，条纹消失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112264"/>
            <a:ext cx="73152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r">
              <a:defRPr sz="700" b="1">
                <a:solidFill>
                  <a:srgbClr val="95A5A6"/>
                </a:solidFill>
                <a:latin typeface="微软雅黑"/>
              </a:defRPr>
            </a:pPr>
            <a:r>
              <a:t>人工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532888"/>
            <a:ext cx="7315200" cy="4598700480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──── 点击「自动实验」按钮，以下全部自动 ────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90672"/>
            <a:ext cx="77724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90672"/>
            <a:ext cx="4572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36392"/>
            <a:ext cx="274320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③ 设备初始化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346704"/>
            <a:ext cx="502920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自动启动相机 · 加载 YOLO 模型 · 连接电机 · 开启 OCR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227832"/>
            <a:ext cx="73152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r">
              <a:defRPr sz="700" b="1">
                <a:solidFill>
                  <a:srgbClr val="2C3E50"/>
                </a:solidFill>
                <a:latin typeface="微软雅黑"/>
              </a:defRPr>
            </a:pPr>
            <a:r>
              <a:t>AI 控制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648456"/>
            <a:ext cx="77724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648456"/>
            <a:ext cx="457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94176"/>
            <a:ext cx="274320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④ 条纹观察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04488"/>
            <a:ext cx="502920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YOLO 持续分析画面，等待条纹出现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785616"/>
            <a:ext cx="73152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r">
              <a:defRPr sz="700" b="1">
                <a:solidFill>
                  <a:srgbClr val="27AE60"/>
                </a:solidFill>
                <a:latin typeface="微软雅黑"/>
              </a:defRPr>
            </a:pPr>
            <a:r>
              <a:t>视觉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06240"/>
            <a:ext cx="77724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206240"/>
            <a:ext cx="457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51960"/>
            <a:ext cx="274320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⑤ 自动搜索中心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462272"/>
            <a:ext cx="502920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双向扩展搜索 · 近场条纹作路标 · 已搜索区间记忆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343400"/>
            <a:ext cx="73152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r">
              <a:defRPr sz="700" b="1">
                <a:solidFill>
                  <a:srgbClr val="F39C12"/>
                </a:solidFill>
                <a:latin typeface="微软雅黑"/>
              </a:defRPr>
            </a:pPr>
            <a:r>
              <a:t>电机控制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764024"/>
            <a:ext cx="77724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4764024"/>
            <a:ext cx="4572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809744"/>
            <a:ext cx="274320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⑥ 中心确认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020056"/>
            <a:ext cx="502920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零级黑条纹检测 → 亚像素定位 → 连续稳定 → 停车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901184"/>
            <a:ext cx="73152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r">
              <a:defRPr sz="700" b="1">
                <a:solidFill>
                  <a:srgbClr val="27AE60"/>
                </a:solidFill>
                <a:latin typeface="微软雅黑"/>
              </a:defRPr>
            </a:pPr>
            <a:r>
              <a:t>视觉 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321808"/>
            <a:ext cx="7772400" cy="50292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5321808"/>
            <a:ext cx="45720" cy="5029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367528"/>
            <a:ext cx="274320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微软雅黑"/>
              </a:defRPr>
            </a:pPr>
            <a:r>
              <a:t>⑦ 读数记录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502920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800" b="0">
                <a:solidFill>
                  <a:srgbClr val="5A6A7E"/>
                </a:solidFill>
                <a:latin typeface="微软雅黑"/>
              </a:defRPr>
            </a:pPr>
            <a:r>
              <a:t>OCR 读取千分尺 → 多帧稳定 → 计算动镜位移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458968"/>
            <a:ext cx="731520" cy="201168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r">
              <a:defRPr sz="700" b="1">
                <a:solidFill>
                  <a:srgbClr val="2C3E50"/>
                </a:solidFill>
                <a:latin typeface="微软雅黑"/>
              </a:defRPr>
            </a:pPr>
            <a:r>
              <a:t>AI 控制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1417320"/>
            <a:ext cx="2560320" cy="1828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1508760"/>
            <a:ext cx="219456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阶段图例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35440" y="1874520"/>
            <a:ext cx="201168" cy="109728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55480" y="1856232"/>
            <a:ext cx="1645920" cy="1828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人工操作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35440" y="2194560"/>
            <a:ext cx="201168" cy="10972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55480" y="2176272"/>
            <a:ext cx="1645920" cy="1828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AI 自动控制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35440" y="2514600"/>
            <a:ext cx="201168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55480" y="2496312"/>
            <a:ext cx="1645920" cy="1828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视觉 AI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35440" y="2834640"/>
            <a:ext cx="201168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55480" y="2816352"/>
            <a:ext cx="1645920" cy="18288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电机控制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5852160"/>
            <a:ext cx="10698480" cy="320040"/>
          </a:xfrm>
          <a:prstGeom prst="rect">
            <a:avLst/>
          </a:prstGeom>
          <a:solidFill>
            <a:srgbClr val="FDE2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4400" y="5852160"/>
            <a:ext cx="10332720" cy="32004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1000" b="0">
                <a:solidFill>
                  <a:srgbClr val="2C3E50"/>
                </a:solidFill>
                <a:latin typeface="微软雅黑"/>
              </a:defRPr>
            </a:pPr>
            <a:r>
              <a:t>完成 → AI 助手可自动生成结构化实验报告 / 进行不确定度分析</a:t>
            </a:r>
          </a:p>
        </p:txBody>
      </p:sp>
      <p:sp>
        <p:nvSpPr>
          <p:cNvPr id="53" name="Rectangle 52"/>
          <p:cNvSpPr/>
          <p:nvPr/>
          <a:ln w="12700">
            <a:prstDash val="dash"/>
          </a:ln>
        </p:nvSpPr>
        <p:spPr>
          <a:xfrm>
            <a:off x="8961120" y="3520440"/>
            <a:ext cx="2560320" cy="2103120"/>
          </a:xfrm>
          <a:prstGeom prst="rect">
            <a:avLst/>
          </a:prstGeom>
          <a:solidFill>
            <a:srgbClr val="EEF1F5"/>
          </a:solidFill>
          <a:ln w="12700">
            <a:solidFill>
              <a:srgbClr val="5A6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98280" y="4389120"/>
            <a:ext cx="2286000" cy="36576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【图】自动实验</a:t>
            </a:r>
            <a:br/>
            <a:r>
              <a:t>流程进行中截图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65760"/>
            <a:ext cx="9144000" cy="5029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微软雅黑"/>
              </a:defRPr>
            </a:pPr>
            <a:r>
              <a:t>系统协同与实际效果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914400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100" b="0">
                <a:solidFill>
                  <a:srgbClr val="5A6A7E"/>
                </a:solidFill>
                <a:latin typeface="微软雅黑"/>
              </a:defRPr>
            </a:pPr>
            <a:r>
              <a:t>三套 AI 各司其职 —— YOLO 感知、OCR 读数、大模型指导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640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474720" cy="3657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004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[干涉仪]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10512"/>
            <a:ext cx="32004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[USB相机1]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645920"/>
            <a:ext cx="36576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1400" b="0">
                <a:solidFill>
                  <a:srgbClr val="5A6A7E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474720" cy="640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63040"/>
            <a:ext cx="34747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004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YOLO 实时分析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10512"/>
            <a:ext cx="32004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条纹位置+方向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645920"/>
            <a:ext cx="36576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1400" b="0">
                <a:solidFill>
                  <a:srgbClr val="5A6A7E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474720" cy="640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554480"/>
            <a:ext cx="32004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[控制状态机]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810512"/>
            <a:ext cx="32004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[步进电机]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68880"/>
            <a:ext cx="3474720" cy="640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468880"/>
            <a:ext cx="3474720" cy="3657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560320"/>
            <a:ext cx="32004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[千分尺] → [USB相机2]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816352"/>
            <a:ext cx="32004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OCR 读数 → 实验阶段判定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108960"/>
            <a:ext cx="45720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1400" b="0">
                <a:solidFill>
                  <a:srgbClr val="5A6A7E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383280"/>
            <a:ext cx="576072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401568"/>
            <a:ext cx="5394960" cy="4572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只读状态快照 (JSON)   每 500ms 更新   相机 · YOLO · 电机 · 千分尺 · 实验阶段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886200"/>
            <a:ext cx="45720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1400" b="0">
                <a:solidFill>
                  <a:srgbClr val="5A6A7E"/>
                </a:solidFill>
                <a:latin typeface="微软雅黑"/>
              </a:defRPr>
            </a:pPr>
            <a: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160520"/>
            <a:ext cx="5760720" cy="64008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4160520"/>
            <a:ext cx="5760720" cy="3657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4251960"/>
            <a:ext cx="5394960" cy="4572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1000" b="1">
                <a:solidFill>
                  <a:srgbClr val="2C3E50"/>
                </a:solidFill>
                <a:latin typeface="微软雅黑"/>
              </a:defRPr>
            </a:pPr>
            <a:r>
              <a:t>AI 实验助手</a:t>
            </a:r>
            <a:br/>
            <a:r>
              <a:t>预习指导 · 操作辅助 · 误差计算 · 报告生成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20640"/>
            <a:ext cx="347472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5120640"/>
            <a:ext cx="3474720" cy="3657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212080"/>
            <a:ext cx="32004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微软雅黑"/>
              </a:defRPr>
            </a:pPr>
            <a:r>
              <a:t>YOLO 视觉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486400"/>
            <a:ext cx="3200400" cy="5029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深度学习模型识别条纹语义</a:t>
            </a:r>
            <a:br/>
            <a:r>
              <a:t>实时检测 → 精确定位 → 运动跟踪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5120640"/>
            <a:ext cx="347472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0" y="5120640"/>
            <a:ext cx="3474720" cy="36576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5212080"/>
            <a:ext cx="32004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微软雅黑"/>
              </a:defRPr>
            </a:pPr>
            <a:r>
              <a:t>AI 实验助手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5486400"/>
            <a:ext cx="3200400" cy="5029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DeepSeek + RAG 知识库</a:t>
            </a:r>
            <a:br/>
            <a:r>
              <a:t>预习·指导·诊断·误差·报告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5120640"/>
            <a:ext cx="3474720" cy="10058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5120640"/>
            <a:ext cx="3474720" cy="36576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5212080"/>
            <a:ext cx="3200400" cy="22860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1300" b="1">
                <a:solidFill>
                  <a:srgbClr val="95A5A6"/>
                </a:solidFill>
                <a:latin typeface="微软雅黑"/>
              </a:defRPr>
            </a:pPr>
            <a:r>
              <a:t>千分尺 OCR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5486400"/>
            <a:ext cx="3200400" cy="5029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l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PP-OCRv6 ONNX 本地推理</a:t>
            </a:r>
            <a:br/>
            <a:r>
              <a:t>LCD 定位 → 数字识别 → 稳定输出</a:t>
            </a:r>
          </a:p>
        </p:txBody>
      </p:sp>
      <p:sp>
        <p:nvSpPr>
          <p:cNvPr id="42" name="Rectangle 41"/>
          <p:cNvSpPr/>
          <p:nvPr/>
          <a:ln w="12700">
            <a:prstDash val="dash"/>
          </a:ln>
        </p:nvSpPr>
        <p:spPr>
          <a:xfrm>
            <a:off x="9601200" y="548640"/>
            <a:ext cx="2286000" cy="3474720"/>
          </a:xfrm>
          <a:prstGeom prst="rect">
            <a:avLst/>
          </a:prstGeom>
          <a:solidFill>
            <a:srgbClr val="EEF1F5"/>
          </a:solidFill>
          <a:ln w="12700">
            <a:solidFill>
              <a:srgbClr val="5A6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38360" y="2103120"/>
            <a:ext cx="2011680" cy="36576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ct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【图】软件主界面截图</a:t>
            </a:r>
            <a:br/>
            <a:r>
              <a:t>标注关键功能区域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2" bIns="2">
            <a:spAutoFit/>
          </a:bodyPr>
          <a:lstStyle/>
          <a:p>
            <a:pPr algn="r">
              <a:defRPr sz="900" b="0">
                <a:solidFill>
                  <a:srgbClr val="5A6A7E"/>
                </a:solidFill>
                <a:latin typeface="微软雅黑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