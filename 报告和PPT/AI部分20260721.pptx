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1" r:id="rId2"/>
    <p:sldId id="257" r:id="rId3"/>
    <p:sldId id="258" r:id="rId4"/>
    <p:sldId id="269" r:id="rId5"/>
    <p:sldId id="27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6" autoAdjust="0"/>
    <p:restoredTop sz="94646" autoAdjust="0"/>
  </p:normalViewPr>
  <p:slideViewPr>
    <p:cSldViewPr snapToGrid="0">
      <p:cViewPr varScale="1">
        <p:scale>
          <a:sx n="85" d="100"/>
          <a:sy n="85" d="100"/>
        </p:scale>
        <p:origin x="466" y="5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A1A68-1D73-465A-94C1-99680041157A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4189D-A04F-42BA-8661-B6CABB39D4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475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9E8DA-3DA2-937B-3A28-1AA01C821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E04781-3B9D-3B19-7D9B-163B02137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0D009E-13F0-D764-5E02-130371D9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330441-0960-5A36-F6D6-B782CD50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F27ECC-5443-EA38-4580-1DDC1A82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57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7A2AA3-7F7B-5627-FEB8-7EED8C5AF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23FCFD-BCCF-756E-681A-A62A1D9E1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945FA7-BC3A-8A13-3014-78148514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4D32AB-9AA7-C063-8275-9011999E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2B261-0022-9AD6-5E6D-473F5F81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537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93170-0BBB-F68F-291E-3EE71F02F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9AEC52-C657-A5B0-B1A2-3E012F166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FA6CF6-73D6-BC86-1517-025A6C1D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A36516-D7C4-E921-54D5-D498A2D8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8DEABB-39BA-5B73-DF32-A64F616F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31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35212-261F-8DCE-1675-1C038B7E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E27BD3-642B-91E6-F910-5B889ED42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B422E7-1DEA-42AB-A87C-8E773174C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618EDB-B4C6-B7B2-17A0-1EB74541E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918897-4C0B-51C4-37DD-61B47335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5C2196-9FB6-DA6A-0985-F6B55C47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3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3EE9B-FEDE-ECB9-40E5-1BF7951A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112CCC-5BEF-DFC9-5E9B-EDDD820C1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8D464-F321-B286-4C8D-0EF5AE002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FB2C9F-B38C-F4DD-D4F7-E2B024773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7707EC-E95F-6A58-3036-135C16B07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02E6D3-1396-4AB2-536E-D936E743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D2CB2A-F932-F8EA-7C0F-BFF2E032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CD24F2-BFC6-BAA1-685B-32373F25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17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EAB4D-130F-D9DE-655F-226F3531C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46A5DA-1AF3-779D-0C72-C7BEE2939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8EF002-A87A-54CD-299C-C361BC7CF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4DC97E-3F60-C842-F650-3BB73197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07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46B02B-7FB1-3686-8670-CAF6A87D0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99BCB5-04DA-AEDF-916A-D0A249787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E9485-B5DD-1B45-D195-D823D298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717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BC8E8-1E01-C3F5-35AF-84BD7781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CACF6E-4D06-2DCE-DC06-DDFDEF5C7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8461A8-270E-E822-3941-FD35B3D90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163807-1898-005E-33C7-0CCBD84A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65AB2F-8724-69FF-96C7-797F11C1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DB2FF4-6598-D482-CC8A-3D84A525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10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3024D-F1A7-87F6-E331-1A336556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D62207-D4E8-22C5-0152-BB56F8E80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EBEE8F-0B1A-27F2-BE1D-796C4C58D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794D9C-F7E2-CE65-71B6-233C4FB8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4978EF-15FC-D765-C51B-382F7FD3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1D31AA-20BA-FC6B-465C-560455E5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27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144A7-F71A-28D4-92CB-D3B53A984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7A0DB4-F25E-B25A-866F-F7556EEB9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58E1AD-1E33-CA2E-55A7-66F23415A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AB95F0-71A9-6C04-C32F-C3D1D61BB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89F354-4405-C9B7-CA68-1D4BE250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9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E54D9A-390A-4092-EE0F-42F67E0E4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2B6088-8AAD-FB5E-F050-3156096B9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8AC598-4E35-3895-49EE-60771DD4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BF0D1-8A10-E0D3-C28D-152B78A7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927B7-399D-29A4-95D0-A742CAC6B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924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379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08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E3ECD2-F771-99EF-3152-A7C169B9B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8B518E-7963-D920-FE97-52407FA00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7C7F0A-A737-C975-C128-A377A5E23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7483C-203D-4579-B4B7-AA2A8D7B9CC0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07F42F-B668-04E0-FDA2-19E59828C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E48456-58AD-9D2B-558E-CE7AB181B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B703F-95EF-4BA5-BD58-B8E8E6DA1B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35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10728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AI如何辅助迈克尔逊干涉实验？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877824"/>
            <a:ext cx="1219200" cy="487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99744"/>
            <a:ext cx="1072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 AI 模块协同，智能辅助光学干涉实验</a:t>
            </a:r>
            <a:endParaRPr lang="en-US" sz="1867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00DC795-75B4-F6CD-8AA9-73446D06C8A9}"/>
              </a:ext>
            </a:extLst>
          </p:cNvPr>
          <p:cNvGrpSpPr/>
          <p:nvPr/>
        </p:nvGrpSpPr>
        <p:grpSpPr>
          <a:xfrm>
            <a:off x="4327200" y="1645920"/>
            <a:ext cx="3560064" cy="3779520"/>
            <a:chOff x="548640" y="1645920"/>
            <a:chExt cx="3560064" cy="3779520"/>
          </a:xfrm>
        </p:grpSpPr>
        <p:sp>
          <p:nvSpPr>
            <p:cNvPr id="5" name="Shape 3"/>
            <p:cNvSpPr/>
            <p:nvPr/>
          </p:nvSpPr>
          <p:spPr>
            <a:xfrm>
              <a:off x="548640" y="1645920"/>
              <a:ext cx="3560064" cy="3779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548640" y="1645920"/>
              <a:ext cx="3560064" cy="73152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707136" y="1804416"/>
              <a:ext cx="536448" cy="536448"/>
            </a:xfrm>
            <a:prstGeom prst="ellipse">
              <a:avLst/>
            </a:prstGeom>
            <a:solidFill>
              <a:srgbClr val="EFF6FF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707136" y="1804416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👁</a:t>
              </a:r>
              <a:endParaRPr lang="en-US" sz="2133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341120" y="1828800"/>
              <a:ext cx="2523744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67" b="1" dirty="0">
                  <a:solidFill>
                    <a:srgbClr val="0F172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条纹视觉识别</a:t>
              </a:r>
              <a:endParaRPr lang="en-US" sz="2267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914400" y="2499360"/>
              <a:ext cx="2828544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890016" y="2645664"/>
              <a:ext cx="292608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457189" indent="-457189">
                <a:spcAft>
                  <a:spcPts val="1333"/>
                </a:spcAft>
                <a:buSzPct val="100000"/>
                <a:buChar char="•"/>
              </a:pPr>
              <a:r>
                <a:rPr lang="en-US" sz="1733" dirty="0" err="1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实时识别干涉条纹类别与状态</a:t>
              </a:r>
              <a:r>
                <a:rPr lang="zh-CN" altLang="en-US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（</a:t>
              </a:r>
              <a:r>
                <a:rPr lang="en-US" altLang="zh-CN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YOLO</a:t>
              </a:r>
              <a:r>
                <a:rPr lang="zh-CN" altLang="en-US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）</a:t>
              </a:r>
              <a:endParaRPr lang="en-US" sz="1733" dirty="0"/>
            </a:p>
            <a:p>
              <a:pPr marL="457189" indent="-457189">
                <a:spcAft>
                  <a:spcPts val="1333"/>
                </a:spcAft>
                <a:buSzPct val="100000"/>
                <a:buChar char="•"/>
              </a:pPr>
              <a:r>
                <a:rPr lang="en-US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精确定位中心条纹区域</a:t>
              </a:r>
              <a:endParaRPr lang="en-US" sz="1733" dirty="0"/>
            </a:p>
            <a:p>
              <a:pPr marL="457189" indent="-457189">
                <a:spcAft>
                  <a:spcPts val="1333"/>
                </a:spcAft>
                <a:buSzPct val="100000"/>
                <a:buChar char="•"/>
              </a:pPr>
              <a:r>
                <a:rPr lang="en-US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输出位置与置信度，减少判断差异</a:t>
              </a:r>
              <a:endParaRPr lang="en-US" sz="1733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000107B-C906-D9DB-F60A-F83F533DC18E}"/>
              </a:ext>
            </a:extLst>
          </p:cNvPr>
          <p:cNvGrpSpPr/>
          <p:nvPr/>
        </p:nvGrpSpPr>
        <p:grpSpPr>
          <a:xfrm>
            <a:off x="547200" y="1645920"/>
            <a:ext cx="3560064" cy="3779520"/>
            <a:chOff x="4328160" y="1645920"/>
            <a:chExt cx="3560064" cy="3779520"/>
          </a:xfrm>
        </p:grpSpPr>
        <p:sp>
          <p:nvSpPr>
            <p:cNvPr id="12" name="Shape 10"/>
            <p:cNvSpPr/>
            <p:nvPr/>
          </p:nvSpPr>
          <p:spPr>
            <a:xfrm>
              <a:off x="4328160" y="1645920"/>
              <a:ext cx="3560064" cy="3779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4328160" y="1645920"/>
              <a:ext cx="3560064" cy="73152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4486656" y="1804416"/>
              <a:ext cx="536448" cy="536448"/>
            </a:xfrm>
            <a:prstGeom prst="ellipse">
              <a:avLst/>
            </a:prstGeom>
            <a:solidFill>
              <a:srgbClr val="F0FDFA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486656" y="1804416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🧠</a:t>
              </a:r>
              <a:endParaRPr lang="en-US" sz="2133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120640" y="1828800"/>
              <a:ext cx="2523744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67" b="1" dirty="0">
                  <a:solidFill>
                    <a:srgbClr val="0F172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实验助手</a:t>
              </a:r>
              <a:endParaRPr lang="en-US" sz="2267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693920" y="2499360"/>
              <a:ext cx="2828544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669536" y="2645664"/>
              <a:ext cx="292608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457189" indent="-457189">
                <a:spcAft>
                  <a:spcPts val="1333"/>
                </a:spcAft>
                <a:buSzPct val="100000"/>
                <a:buChar char="•"/>
              </a:pPr>
              <a:r>
                <a:rPr lang="en-US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大模型 + 本地知识库 RAG 驱动</a:t>
              </a:r>
              <a:endParaRPr lang="en-US" sz="1733" dirty="0"/>
            </a:p>
            <a:p>
              <a:pPr marL="457189" indent="-457189">
                <a:spcAft>
                  <a:spcPts val="1333"/>
                </a:spcAft>
                <a:buSzPct val="100000"/>
                <a:buChar char="•"/>
              </a:pPr>
              <a:r>
                <a:rPr lang="en-US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汇总设备状态，判断实验进度</a:t>
              </a:r>
              <a:endParaRPr lang="en-US" sz="1733" dirty="0"/>
            </a:p>
            <a:p>
              <a:pPr marL="457189" indent="-457189">
                <a:spcAft>
                  <a:spcPts val="1333"/>
                </a:spcAft>
                <a:buSzPct val="100000"/>
                <a:buChar char="•"/>
              </a:pPr>
              <a:r>
                <a:rPr lang="en-US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预习指导 · 过程辅助 · 误差计算 · 报告</a:t>
              </a:r>
              <a:endParaRPr lang="en-US" sz="1733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36F6BFE-E7EB-8203-7B93-C06A2302F369}"/>
              </a:ext>
            </a:extLst>
          </p:cNvPr>
          <p:cNvGrpSpPr/>
          <p:nvPr/>
        </p:nvGrpSpPr>
        <p:grpSpPr>
          <a:xfrm>
            <a:off x="8107680" y="1645920"/>
            <a:ext cx="3560064" cy="3779520"/>
            <a:chOff x="8107680" y="1645920"/>
            <a:chExt cx="3560064" cy="3779520"/>
          </a:xfrm>
        </p:grpSpPr>
        <p:sp>
          <p:nvSpPr>
            <p:cNvPr id="19" name="Shape 17"/>
            <p:cNvSpPr/>
            <p:nvPr/>
          </p:nvSpPr>
          <p:spPr>
            <a:xfrm>
              <a:off x="8107680" y="1645920"/>
              <a:ext cx="3560064" cy="3779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8107680" y="1645920"/>
              <a:ext cx="3560064" cy="73152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8266176" y="1804416"/>
              <a:ext cx="536448" cy="536448"/>
            </a:xfrm>
            <a:prstGeom prst="ellipse">
              <a:avLst/>
            </a:prstGeom>
            <a:solidFill>
              <a:srgbClr val="F5F3FF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8266176" y="1804416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dirty="0">
                  <a:solidFill>
                    <a:srgbClr val="0000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📷</a:t>
              </a:r>
              <a:endParaRPr lang="en-US" sz="2133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900160" y="1828800"/>
              <a:ext cx="2523744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67" b="1" dirty="0" err="1">
                  <a:solidFill>
                    <a:srgbClr val="0F172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数显读数识别</a:t>
              </a:r>
              <a:endParaRPr lang="en-US" sz="2267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8473440" y="2499360"/>
              <a:ext cx="2828544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8449056" y="2645664"/>
              <a:ext cx="292608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457189" indent="-457189">
                <a:spcAft>
                  <a:spcPts val="1333"/>
                </a:spcAft>
                <a:buSzPct val="100000"/>
                <a:buChar char="•"/>
              </a:pPr>
              <a:r>
                <a:rPr lang="en-US" sz="1733" dirty="0" err="1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自动识别数显千分尺读数</a:t>
              </a:r>
              <a:r>
                <a:rPr lang="en-US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(OCR)</a:t>
              </a:r>
              <a:endParaRPr lang="en-US" sz="1733" dirty="0"/>
            </a:p>
            <a:p>
              <a:pPr marL="457189" indent="-457189">
                <a:spcAft>
                  <a:spcPts val="1333"/>
                </a:spcAft>
                <a:buSzPct val="100000"/>
                <a:buChar char="•"/>
              </a:pPr>
              <a:r>
                <a:rPr lang="en-US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屏幕定位 · 数字识别 · 多帧稳定输出</a:t>
              </a:r>
              <a:endParaRPr lang="en-US" sz="1733" dirty="0"/>
            </a:p>
            <a:p>
              <a:pPr marL="457189" indent="-457189">
                <a:spcAft>
                  <a:spcPts val="1333"/>
                </a:spcAft>
                <a:buSzPct val="100000"/>
                <a:buChar char="•"/>
              </a:pPr>
              <a:r>
                <a:rPr lang="en-US" sz="1733" dirty="0">
                  <a:solidFill>
                    <a:srgbClr val="3341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过滤突变，减少读数与抄录误差</a:t>
              </a:r>
              <a:endParaRPr lang="en-US" sz="1733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609600" y="5730240"/>
            <a:ext cx="10972800" cy="87782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75360" y="5730240"/>
            <a:ext cx="10241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 err="1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r>
              <a:rPr lang="en-US" sz="2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本地知识库 (RAG)</a:t>
            </a:r>
            <a:r>
              <a:rPr lang="en-US" sz="1733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读取设备状态与实验数据  →  AI 实验助手智能答复与指引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F4706C-E09F-9772-6D9A-F7A6E0990E3C}"/>
              </a:ext>
            </a:extLst>
          </p:cNvPr>
          <p:cNvSpPr txBox="1"/>
          <p:nvPr/>
        </p:nvSpPr>
        <p:spPr>
          <a:xfrm>
            <a:off x="410400" y="442800"/>
            <a:ext cx="4536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实验助手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6DEA82C-50BC-A8CD-D59D-42A0C6D031AF}"/>
              </a:ext>
            </a:extLst>
          </p:cNvPr>
          <p:cNvSpPr txBox="1"/>
          <p:nvPr/>
        </p:nvSpPr>
        <p:spPr>
          <a:xfrm>
            <a:off x="402455" y="1061919"/>
            <a:ext cx="1947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工作流程：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F71D1FD-D336-71DD-AB14-37747FB6B2EA}"/>
              </a:ext>
            </a:extLst>
          </p:cNvPr>
          <p:cNvGrpSpPr/>
          <p:nvPr/>
        </p:nvGrpSpPr>
        <p:grpSpPr>
          <a:xfrm>
            <a:off x="2287073" y="1027575"/>
            <a:ext cx="7617854" cy="507019"/>
            <a:chOff x="1468977" y="1745673"/>
            <a:chExt cx="9847614" cy="634148"/>
          </a:xfrm>
        </p:grpSpPr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B21AD80B-2922-FD1B-C903-7757FC647D08}"/>
                </a:ext>
              </a:extLst>
            </p:cNvPr>
            <p:cNvSpPr/>
            <p:nvPr/>
          </p:nvSpPr>
          <p:spPr>
            <a:xfrm>
              <a:off x="8879888" y="1745673"/>
              <a:ext cx="2092912" cy="6181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808552F1-629D-3831-20F0-88CE3F656306}"/>
                </a:ext>
              </a:extLst>
            </p:cNvPr>
            <p:cNvSpPr/>
            <p:nvPr/>
          </p:nvSpPr>
          <p:spPr>
            <a:xfrm>
              <a:off x="5659188" y="1745673"/>
              <a:ext cx="2689283" cy="6181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6A6CB694-4E0E-3E07-B8C2-CB99D95C2351}"/>
                </a:ext>
              </a:extLst>
            </p:cNvPr>
            <p:cNvSpPr/>
            <p:nvPr/>
          </p:nvSpPr>
          <p:spPr>
            <a:xfrm>
              <a:off x="3337560" y="1761713"/>
              <a:ext cx="1916086" cy="6181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C8A7156E-F71A-1409-412D-EF4953729B80}"/>
                </a:ext>
              </a:extLst>
            </p:cNvPr>
            <p:cNvGrpSpPr/>
            <p:nvPr/>
          </p:nvGrpSpPr>
          <p:grpSpPr>
            <a:xfrm>
              <a:off x="1468977" y="1761713"/>
              <a:ext cx="1463040" cy="618108"/>
              <a:chOff x="1468977" y="1761713"/>
              <a:chExt cx="1463040" cy="618108"/>
            </a:xfrm>
          </p:grpSpPr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800242F9-E49A-03F5-1AD7-E15C56F6E48C}"/>
                  </a:ext>
                </a:extLst>
              </p:cNvPr>
              <p:cNvSpPr/>
              <p:nvPr/>
            </p:nvSpPr>
            <p:spPr>
              <a:xfrm>
                <a:off x="1468977" y="1761713"/>
                <a:ext cx="1463040" cy="61810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02FCECA-4751-A6D0-81A6-6ED6AD012CF8}"/>
                  </a:ext>
                </a:extLst>
              </p:cNvPr>
              <p:cNvSpPr txBox="1"/>
              <p:nvPr/>
            </p:nvSpPr>
            <p:spPr>
              <a:xfrm>
                <a:off x="1650076" y="1886101"/>
                <a:ext cx="1246909" cy="384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学生提问</a:t>
                </a: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BD087AA-0271-FCC7-AE52-845DEA7EE089}"/>
                </a:ext>
              </a:extLst>
            </p:cNvPr>
            <p:cNvSpPr txBox="1"/>
            <p:nvPr/>
          </p:nvSpPr>
          <p:spPr>
            <a:xfrm>
              <a:off x="3375564" y="1878293"/>
              <a:ext cx="1878083" cy="38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检索本地知识库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B724114-F744-CF5A-0798-BA7653BDBFAC}"/>
                </a:ext>
              </a:extLst>
            </p:cNvPr>
            <p:cNvSpPr txBox="1"/>
            <p:nvPr/>
          </p:nvSpPr>
          <p:spPr>
            <a:xfrm>
              <a:off x="5659189" y="1886101"/>
              <a:ext cx="2881548" cy="38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读取设备状态和实验进度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D44649F0-A42E-F0BD-7FCB-535C23D79015}"/>
                </a:ext>
              </a:extLst>
            </p:cNvPr>
            <p:cNvSpPr txBox="1"/>
            <p:nvPr/>
          </p:nvSpPr>
          <p:spPr>
            <a:xfrm>
              <a:off x="9072154" y="1886101"/>
              <a:ext cx="2244437" cy="38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Deepseek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回复</a:t>
              </a:r>
            </a:p>
          </p:txBody>
        </p: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0614C775-41F3-CAA9-610F-AD7141C4231E}"/>
                </a:ext>
              </a:extLst>
            </p:cNvPr>
            <p:cNvCxnSpPr>
              <a:cxnSpLocks/>
              <a:stCxn id="45" idx="3"/>
              <a:endCxn id="46" idx="1"/>
            </p:cNvCxnSpPr>
            <p:nvPr/>
          </p:nvCxnSpPr>
          <p:spPr>
            <a:xfrm>
              <a:off x="5253646" y="2070767"/>
              <a:ext cx="405543" cy="7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E4B77A41-E26E-6927-DF2E-3CB64DEB099D}"/>
                </a:ext>
              </a:extLst>
            </p:cNvPr>
            <p:cNvCxnSpPr/>
            <p:nvPr/>
          </p:nvCxnSpPr>
          <p:spPr>
            <a:xfrm>
              <a:off x="2932017" y="2070767"/>
              <a:ext cx="4055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9D1AC70B-CE22-6681-0990-BDE346FC7D13}"/>
                </a:ext>
              </a:extLst>
            </p:cNvPr>
            <p:cNvCxnSpPr>
              <a:cxnSpLocks/>
            </p:cNvCxnSpPr>
            <p:nvPr/>
          </p:nvCxnSpPr>
          <p:spPr>
            <a:xfrm>
              <a:off x="8348471" y="2070767"/>
              <a:ext cx="7236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CA8D495-1C87-4F4D-E669-F0A7BEBCE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366" y="1838307"/>
            <a:ext cx="3835460" cy="10877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F9A2ED5-1DE3-9AAD-6C5A-EF199322A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367" y="3041426"/>
            <a:ext cx="3835460" cy="117373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883464D-3E68-E5F8-16D8-B803697DC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366" y="4330499"/>
            <a:ext cx="3835460" cy="10819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F98B194-786F-5678-D6AF-288F95B9C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367" y="5527738"/>
            <a:ext cx="3835460" cy="10299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EF96B0E-904C-CD70-3FE1-6EFEB4F4A7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783" y="2037216"/>
            <a:ext cx="3538608" cy="4520485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AC3199-8713-84B5-890D-F81B4A87D6E3}"/>
              </a:ext>
            </a:extLst>
          </p:cNvPr>
          <p:cNvSpPr/>
          <p:nvPr/>
        </p:nvSpPr>
        <p:spPr>
          <a:xfrm>
            <a:off x="5238131" y="2203571"/>
            <a:ext cx="1268570" cy="4817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预习指导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8DC7541-477F-294C-C640-ACA80658E877}"/>
              </a:ext>
            </a:extLst>
          </p:cNvPr>
          <p:cNvSpPr/>
          <p:nvPr/>
        </p:nvSpPr>
        <p:spPr>
          <a:xfrm>
            <a:off x="5238131" y="3354256"/>
            <a:ext cx="1268570" cy="4817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过程辅助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7E24EA2-FB35-BB20-2153-8D8214C96215}"/>
              </a:ext>
            </a:extLst>
          </p:cNvPr>
          <p:cNvSpPr/>
          <p:nvPr/>
        </p:nvSpPr>
        <p:spPr>
          <a:xfrm>
            <a:off x="5214793" y="5871284"/>
            <a:ext cx="1268570" cy="4817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报告生成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32ED3A5-F42A-F2A5-11E1-C378F51CF630}"/>
              </a:ext>
            </a:extLst>
          </p:cNvPr>
          <p:cNvSpPr/>
          <p:nvPr/>
        </p:nvSpPr>
        <p:spPr>
          <a:xfrm>
            <a:off x="5238131" y="4612770"/>
            <a:ext cx="1268570" cy="4817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误差计算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EE2AE03-A184-7042-C7C6-049B89C92866}"/>
              </a:ext>
            </a:extLst>
          </p:cNvPr>
          <p:cNvCxnSpPr>
            <a:cxnSpLocks/>
          </p:cNvCxnSpPr>
          <p:nvPr/>
        </p:nvCxnSpPr>
        <p:spPr>
          <a:xfrm>
            <a:off x="6404748" y="2444425"/>
            <a:ext cx="8946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6D379AC-2515-8F4D-9F17-66652BD5F486}"/>
              </a:ext>
            </a:extLst>
          </p:cNvPr>
          <p:cNvCxnSpPr>
            <a:cxnSpLocks/>
          </p:cNvCxnSpPr>
          <p:nvPr/>
        </p:nvCxnSpPr>
        <p:spPr>
          <a:xfrm>
            <a:off x="6404748" y="3595110"/>
            <a:ext cx="8946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EDCFD3E8-06AB-7CC5-50FB-5AE5E8F075D7}"/>
              </a:ext>
            </a:extLst>
          </p:cNvPr>
          <p:cNvCxnSpPr>
            <a:cxnSpLocks/>
          </p:cNvCxnSpPr>
          <p:nvPr/>
        </p:nvCxnSpPr>
        <p:spPr>
          <a:xfrm>
            <a:off x="6483363" y="4871449"/>
            <a:ext cx="8946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CDF3C58-B77E-7B71-222A-75371E8D7D8D}"/>
              </a:ext>
            </a:extLst>
          </p:cNvPr>
          <p:cNvCxnSpPr>
            <a:cxnSpLocks/>
          </p:cNvCxnSpPr>
          <p:nvPr/>
        </p:nvCxnSpPr>
        <p:spPr>
          <a:xfrm>
            <a:off x="6483363" y="6112138"/>
            <a:ext cx="8946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2D967BC-AB02-5559-3B80-16EE60ECE5AF}"/>
              </a:ext>
            </a:extLst>
          </p:cNvPr>
          <p:cNvCxnSpPr>
            <a:endCxn id="18" idx="1"/>
          </p:cNvCxnSpPr>
          <p:nvPr/>
        </p:nvCxnSpPr>
        <p:spPr>
          <a:xfrm flipV="1">
            <a:off x="1648496" y="2444426"/>
            <a:ext cx="3589635" cy="2967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847F4084-AA46-D3C5-B3F0-E2643C2EF6CB}"/>
              </a:ext>
            </a:extLst>
          </p:cNvPr>
          <p:cNvCxnSpPr>
            <a:endCxn id="23" idx="1"/>
          </p:cNvCxnSpPr>
          <p:nvPr/>
        </p:nvCxnSpPr>
        <p:spPr>
          <a:xfrm flipV="1">
            <a:off x="2550017" y="3595111"/>
            <a:ext cx="2688114" cy="18172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A7E7DC0-6F59-5FDD-7E85-4698730E1A36}"/>
              </a:ext>
            </a:extLst>
          </p:cNvPr>
          <p:cNvCxnSpPr/>
          <p:nvPr/>
        </p:nvCxnSpPr>
        <p:spPr>
          <a:xfrm flipV="1">
            <a:off x="3277673" y="4797380"/>
            <a:ext cx="2093978" cy="615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7745365-AF6D-E5EC-D9F9-E9BFAB2695A7}"/>
              </a:ext>
            </a:extLst>
          </p:cNvPr>
          <p:cNvCxnSpPr>
            <a:endCxn id="25" idx="1"/>
          </p:cNvCxnSpPr>
          <p:nvPr/>
        </p:nvCxnSpPr>
        <p:spPr>
          <a:xfrm>
            <a:off x="4262907" y="5527738"/>
            <a:ext cx="951886" cy="5844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879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F71963-27A3-B30C-DAE6-2666EB82F804}"/>
              </a:ext>
            </a:extLst>
          </p:cNvPr>
          <p:cNvSpPr txBox="1"/>
          <p:nvPr/>
        </p:nvSpPr>
        <p:spPr>
          <a:xfrm>
            <a:off x="410400" y="442800"/>
            <a:ext cx="4147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YOLO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模型识别原理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60409FA-3FBE-E1AB-4907-DF17587F75A7}"/>
              </a:ext>
            </a:extLst>
          </p:cNvPr>
          <p:cNvGrpSpPr/>
          <p:nvPr/>
        </p:nvGrpSpPr>
        <p:grpSpPr>
          <a:xfrm>
            <a:off x="1454728" y="1140031"/>
            <a:ext cx="9178395" cy="3198251"/>
            <a:chOff x="890649" y="1116281"/>
            <a:chExt cx="9178395" cy="3198251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ACD600F3-A60D-41FD-0F8D-74500A390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5202" y="2114256"/>
              <a:ext cx="2181225" cy="2181225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345F6DAF-CCD2-F208-1033-0CCA627FD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70183" y="2095207"/>
              <a:ext cx="2219325" cy="2219325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ABF64F72-4E7E-3ED4-D02D-ADD225698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81880" y="2095207"/>
              <a:ext cx="2181225" cy="2181225"/>
            </a:xfrm>
            <a:prstGeom prst="rect">
              <a:avLst/>
            </a:prstGeom>
          </p:spPr>
        </p:pic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4EC108A-AD91-D6F0-48DA-4759E4ECC14C}"/>
                </a:ext>
              </a:extLst>
            </p:cNvPr>
            <p:cNvGrpSpPr/>
            <p:nvPr/>
          </p:nvGrpSpPr>
          <p:grpSpPr>
            <a:xfrm>
              <a:off x="890649" y="1116281"/>
              <a:ext cx="9178395" cy="831272"/>
              <a:chOff x="890649" y="1116281"/>
              <a:chExt cx="9178395" cy="831272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537D8293-492F-2B03-3806-204B1EAF4992}"/>
                  </a:ext>
                </a:extLst>
              </p:cNvPr>
              <p:cNvSpPr/>
              <p:nvPr/>
            </p:nvSpPr>
            <p:spPr>
              <a:xfrm>
                <a:off x="890649" y="1116281"/>
                <a:ext cx="1876302" cy="83127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zh-CN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📷 输入图像</a:t>
                </a: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1F8D6FB7-9FBE-515E-6594-1450C6BB4E90}"/>
                  </a:ext>
                </a:extLst>
              </p:cNvPr>
              <p:cNvSpPr/>
              <p:nvPr/>
            </p:nvSpPr>
            <p:spPr>
              <a:xfrm>
                <a:off x="3324680" y="1116281"/>
                <a:ext cx="1876302" cy="83127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▦ 网格划分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59B83E17-4515-82DD-372D-E2E1F4A924FF}"/>
                  </a:ext>
                </a:extLst>
              </p:cNvPr>
              <p:cNvSpPr/>
              <p:nvPr/>
            </p:nvSpPr>
            <p:spPr>
              <a:xfrm>
                <a:off x="5758711" y="1116281"/>
                <a:ext cx="1876302" cy="83127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🎯 同时预测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D4B099CC-F77A-662E-BD91-DC76CB019B48}"/>
                  </a:ext>
                </a:extLst>
              </p:cNvPr>
              <p:cNvSpPr/>
              <p:nvPr/>
            </p:nvSpPr>
            <p:spPr>
              <a:xfrm>
                <a:off x="8192742" y="1116281"/>
                <a:ext cx="1876302" cy="83127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✅ 筛选结果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B9EAFC12-B633-4EA4-F9AB-E3050941A749}"/>
                  </a:ext>
                </a:extLst>
              </p:cNvPr>
              <p:cNvCxnSpPr>
                <a:stCxn id="29" idx="3"/>
                <a:endCxn id="31" idx="1"/>
              </p:cNvCxnSpPr>
              <p:nvPr/>
            </p:nvCxnSpPr>
            <p:spPr>
              <a:xfrm>
                <a:off x="2766951" y="1531917"/>
                <a:ext cx="55772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B58D91BC-56C2-BD8A-1032-79213AB1BA3D}"/>
                  </a:ext>
                </a:extLst>
              </p:cNvPr>
              <p:cNvCxnSpPr/>
              <p:nvPr/>
            </p:nvCxnSpPr>
            <p:spPr>
              <a:xfrm>
                <a:off x="5200982" y="1531917"/>
                <a:ext cx="55772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EA4833EA-A66A-7C2B-E9F4-C836C4CC7370}"/>
                  </a:ext>
                </a:extLst>
              </p:cNvPr>
              <p:cNvCxnSpPr/>
              <p:nvPr/>
            </p:nvCxnSpPr>
            <p:spPr>
              <a:xfrm>
                <a:off x="7593629" y="1531917"/>
                <a:ext cx="55772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B9E2A0F4-9EC6-B044-CC84-24960BAA7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775850"/>
              </p:ext>
            </p:extLst>
          </p:nvPr>
        </p:nvGraphicFramePr>
        <p:xfrm>
          <a:off x="1119835" y="4786632"/>
          <a:ext cx="3206337" cy="1993949"/>
        </p:xfrm>
        <a:graphic>
          <a:graphicData uri="http://schemas.openxmlformats.org/drawingml/2006/table">
            <a:tbl>
              <a:tblPr/>
              <a:tblGrid>
                <a:gridCol w="1068779">
                  <a:extLst>
                    <a:ext uri="{9D8B030D-6E8A-4147-A177-3AD203B41FA5}">
                      <a16:colId xmlns:a16="http://schemas.microsoft.com/office/drawing/2014/main" val="1274359504"/>
                    </a:ext>
                  </a:extLst>
                </a:gridCol>
                <a:gridCol w="1068779">
                  <a:extLst>
                    <a:ext uri="{9D8B030D-6E8A-4147-A177-3AD203B41FA5}">
                      <a16:colId xmlns:a16="http://schemas.microsoft.com/office/drawing/2014/main" val="3560498773"/>
                    </a:ext>
                  </a:extLst>
                </a:gridCol>
                <a:gridCol w="1068779">
                  <a:extLst>
                    <a:ext uri="{9D8B030D-6E8A-4147-A177-3AD203B41FA5}">
                      <a16:colId xmlns:a16="http://schemas.microsoft.com/office/drawing/2014/main" val="1379065853"/>
                    </a:ext>
                  </a:extLst>
                </a:gridCol>
              </a:tblGrid>
              <a:tr h="429907"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zh-CN" sz="1200" b="1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类别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zh-CN" sz="1200" b="1" i="0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画面特征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zh-CN" sz="1200" b="1" i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实验意义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458168"/>
                  </a:ext>
                </a:extLst>
              </a:tr>
              <a:tr h="613147"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zh-CN" sz="1200" b="0" i="0" dirty="0">
                          <a:solidFill>
                            <a:srgbClr val="333333"/>
                          </a:solidFill>
                          <a:effectLst/>
                          <a:latin typeface="Helvetica Neue"/>
                        </a:rPr>
                        <a:t>零级条纹</a:t>
                      </a:r>
                      <a:r>
                        <a:rPr lang="en-US" altLang="zh-CN" sz="1200" b="0" i="0" dirty="0" err="1">
                          <a:solidFill>
                            <a:srgbClr val="333333"/>
                          </a:solidFill>
                          <a:effectLst/>
                          <a:latin typeface="Helvetica Neue"/>
                        </a:rPr>
                        <a:t>nero_fringe</a:t>
                      </a:r>
                      <a:endParaRPr lang="zh-CN" sz="1200" b="0" i="0" dirty="0">
                        <a:solidFill>
                          <a:srgbClr val="333333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zh-CN" sz="1200" b="0" i="0" dirty="0">
                          <a:solidFill>
                            <a:srgbClr val="333333"/>
                          </a:solidFill>
                          <a:effectLst/>
                          <a:latin typeface="Helvetica Neue"/>
                        </a:rPr>
                        <a:t>零光程差处的黑条纹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zh-CN" sz="1200" b="0" i="0">
                          <a:solidFill>
                            <a:srgbClr val="333333"/>
                          </a:solidFill>
                          <a:effectLst/>
                          <a:latin typeface="Helvetica Neue"/>
                        </a:rPr>
                        <a:t>实验终极目标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676287"/>
                  </a:ext>
                </a:extLst>
              </a:tr>
              <a:tr h="950895"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zh-CN" sz="1200" b="0" i="0" dirty="0">
                          <a:solidFill>
                            <a:srgbClr val="333333"/>
                          </a:solidFill>
                          <a:effectLst/>
                          <a:latin typeface="Helvetica Neue"/>
                        </a:rPr>
                        <a:t>近场彩色条纹</a:t>
                      </a:r>
                      <a:br>
                        <a:rPr lang="en-US" altLang="zh-CN" sz="1200" b="0" i="0" dirty="0">
                          <a:solidFill>
                            <a:srgbClr val="333333"/>
                          </a:solidFill>
                          <a:effectLst/>
                          <a:latin typeface="Helvetica Neue"/>
                        </a:rPr>
                      </a:br>
                      <a:r>
                        <a:rPr lang="en-US" altLang="zh-CN" sz="1200" b="0" i="0" dirty="0" err="1">
                          <a:solidFill>
                            <a:srgbClr val="333333"/>
                          </a:solidFill>
                          <a:effectLst/>
                          <a:latin typeface="Helvetica Neue"/>
                        </a:rPr>
                        <a:t>near_fringe</a:t>
                      </a:r>
                      <a:endParaRPr lang="zh-CN" sz="1200" b="0" i="0" dirty="0">
                        <a:solidFill>
                          <a:srgbClr val="333333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zh-CN" sz="1200" b="0" i="0" dirty="0">
                          <a:solidFill>
                            <a:srgbClr val="333333"/>
                          </a:solidFill>
                          <a:effectLst/>
                          <a:latin typeface="Helvetica Neue"/>
                        </a:rPr>
                        <a:t>零级附近的彩色条纹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zh-CN" sz="1200" b="0" i="0" dirty="0">
                          <a:solidFill>
                            <a:srgbClr val="333333"/>
                          </a:solidFill>
                          <a:effectLst/>
                          <a:latin typeface="Helvetica Neue"/>
                        </a:rPr>
                        <a:t>搜索方向路标</a:t>
                      </a:r>
                    </a:p>
                  </a:txBody>
                  <a:tcPr marL="70757" marR="70757" marT="32657" marB="32657" anchor="ctr">
                    <a:lnL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196689"/>
                  </a:ext>
                </a:extLst>
              </a:tr>
            </a:tbl>
          </a:graphicData>
        </a:graphic>
      </p:graphicFrame>
      <p:sp>
        <p:nvSpPr>
          <p:cNvPr id="48" name="文本框 47">
            <a:extLst>
              <a:ext uri="{FF2B5EF4-FFF2-40B4-BE49-F238E27FC236}">
                <a16:creationId xmlns:a16="http://schemas.microsoft.com/office/drawing/2014/main" id="{15EF4BCC-3F4B-F962-4C42-30E536318641}"/>
              </a:ext>
            </a:extLst>
          </p:cNvPr>
          <p:cNvSpPr txBox="1"/>
          <p:nvPr/>
        </p:nvSpPr>
        <p:spPr>
          <a:xfrm>
            <a:off x="1119834" y="4403677"/>
            <a:ext cx="1816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本项目的检测目标</a:t>
            </a:r>
            <a:r>
              <a:rPr lang="zh-CN" altLang="zh-CN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B9B57969-EF87-E096-E994-C808BA7C5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830" y="4453823"/>
            <a:ext cx="2355272" cy="2326758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3792BB7B-129F-06D8-796F-F44E4B9C8263}"/>
              </a:ext>
            </a:extLst>
          </p:cNvPr>
          <p:cNvSpPr txBox="1"/>
          <p:nvPr/>
        </p:nvSpPr>
        <p:spPr>
          <a:xfrm>
            <a:off x="6134829" y="4403677"/>
            <a:ext cx="1266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实际效果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4781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3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26691" y="1827276"/>
            <a:ext cx="7286245" cy="3749040"/>
          </a:xfrm>
          <a:prstGeom prst="rect">
            <a:avLst/>
          </a:prstGeom>
        </p:spPr>
      </p:pic>
      <p:pic>
        <p:nvPicPr>
          <p:cNvPr id="318" name="picture 3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26558" y="1442085"/>
            <a:ext cx="4846700" cy="2047366"/>
          </a:xfrm>
          <a:prstGeom prst="rect">
            <a:avLst/>
          </a:prstGeom>
        </p:spPr>
      </p:pic>
      <p:sp>
        <p:nvSpPr>
          <p:cNvPr id="320" name="textbox 320"/>
          <p:cNvSpPr/>
          <p:nvPr/>
        </p:nvSpPr>
        <p:spPr>
          <a:xfrm>
            <a:off x="1539493" y="6038341"/>
            <a:ext cx="8327390" cy="691515"/>
          </a:xfrm>
          <a:prstGeom prst="roundRect">
            <a:avLst>
              <a:gd name="adj" fmla="val 21176"/>
            </a:avLst>
          </a:prstGeom>
          <a:noFill/>
          <a:ln w="38100" cap="flat">
            <a:solidFill>
              <a:srgbClr val="CA8F45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135" indent="117475" algn="l" rtl="0" eaLnBrk="0">
              <a:lnSpc>
                <a:spcPct val="94000"/>
              </a:lnSpc>
              <a:spcBef>
                <a:spcPts val="0"/>
              </a:spcBef>
            </a:pPr>
            <a:r>
              <a:rPr sz="1800" b="1" kern="0" spc="-30" dirty="0">
                <a:solidFill>
                  <a:srgbClr val="CA8F4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“学习”要做的便就</a:t>
            </a:r>
            <a:r>
              <a:rPr sz="1800" b="1" kern="0" spc="-40" dirty="0">
                <a:solidFill>
                  <a:srgbClr val="CA8F4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是通过不断学习输入与输出之间的关系，然后去调整里面每一个神经元的敏感程度(权重) ，不断地去趋近理想的输出</a:t>
            </a:r>
            <a:r>
              <a:rPr sz="1800" b="1" kern="0" spc="-50" dirty="0">
                <a:solidFill>
                  <a:srgbClr val="CA8F4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99840" y="5181980"/>
            <a:ext cx="4138422" cy="389382"/>
          </a:xfrm>
          <a:prstGeom prst="rect">
            <a:avLst/>
          </a:prstGeom>
        </p:spPr>
      </p:pic>
      <p:sp>
        <p:nvSpPr>
          <p:cNvPr id="324" name="path 324"/>
          <p:cNvSpPr/>
          <p:nvPr/>
        </p:nvSpPr>
        <p:spPr>
          <a:xfrm>
            <a:off x="8955405" y="2233041"/>
            <a:ext cx="499109" cy="2974085"/>
          </a:xfrm>
          <a:custGeom>
            <a:avLst/>
            <a:gdLst/>
            <a:ahLst/>
            <a:cxnLst/>
            <a:rect l="0" t="0" r="0" b="0"/>
            <a:pathLst>
              <a:path w="785" h="4683">
                <a:moveTo>
                  <a:pt x="15" y="15"/>
                </a:moveTo>
                <a:cubicBezTo>
                  <a:pt x="223" y="15"/>
                  <a:pt x="392" y="43"/>
                  <a:pt x="392" y="77"/>
                </a:cubicBezTo>
                <a:lnTo>
                  <a:pt x="392" y="2278"/>
                </a:lnTo>
                <a:cubicBezTo>
                  <a:pt x="392" y="2313"/>
                  <a:pt x="562" y="2341"/>
                  <a:pt x="770" y="2341"/>
                </a:cubicBezTo>
                <a:cubicBezTo>
                  <a:pt x="562" y="2341"/>
                  <a:pt x="392" y="2369"/>
                  <a:pt x="392" y="2404"/>
                </a:cubicBezTo>
                <a:lnTo>
                  <a:pt x="392" y="4605"/>
                </a:lnTo>
                <a:cubicBezTo>
                  <a:pt x="392" y="4640"/>
                  <a:pt x="223" y="4668"/>
                  <a:pt x="15" y="4668"/>
                </a:cubicBezTo>
              </a:path>
            </a:pathLst>
          </a:custGeom>
          <a:noFill/>
          <a:ln w="19050" cap="flat">
            <a:solidFill>
              <a:srgbClr val="333F5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" name="textbox 326"/>
          <p:cNvSpPr/>
          <p:nvPr/>
        </p:nvSpPr>
        <p:spPr>
          <a:xfrm>
            <a:off x="409963" y="441750"/>
            <a:ext cx="4400296" cy="459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sz="3200" b="1" kern="0" spc="-10" dirty="0">
                <a:solidFill>
                  <a:srgbClr val="CA8F4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sz="3200" b="1" kern="0" spc="-10" dirty="0">
                <a:solidFill>
                  <a:srgbClr val="CA8F4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神经网络的训练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10464038" y="1260601"/>
            <a:ext cx="1430655" cy="813435"/>
          </a:xfrm>
          <a:prstGeom prst="roundRect">
            <a:avLst>
              <a:gd name="adj" fmla="val 20510"/>
            </a:avLst>
          </a:prstGeom>
          <a:noFill/>
          <a:ln w="38100" cap="flat">
            <a:solidFill>
              <a:srgbClr val="0F151D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150" algn="l" rtl="0" eaLnBrk="0">
              <a:lnSpc>
                <a:spcPct val="94000"/>
              </a:lnSpc>
              <a:spcBef>
                <a:spcPts val="0"/>
              </a:spcBef>
            </a:pPr>
            <a:r>
              <a:rPr sz="1700" b="1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数据、类别、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785" algn="l" rtl="0" eaLnBrk="0">
              <a:lnSpc>
                <a:spcPct val="89000"/>
              </a:lnSpc>
              <a:spcBef>
                <a:spcPts val="240"/>
              </a:spcBef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位置信息等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0" name="picture 3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181855" y="1440560"/>
            <a:ext cx="1261364" cy="873379"/>
          </a:xfrm>
          <a:prstGeom prst="rect">
            <a:avLst/>
          </a:prstGeom>
        </p:spPr>
      </p:pic>
      <p:pic>
        <p:nvPicPr>
          <p:cNvPr id="332" name="picture 3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622538" y="1663954"/>
            <a:ext cx="1794256" cy="525144"/>
          </a:xfrm>
          <a:prstGeom prst="rect">
            <a:avLst/>
          </a:prstGeom>
        </p:spPr>
      </p:pic>
      <p:sp>
        <p:nvSpPr>
          <p:cNvPr id="334" name="textbox 334"/>
          <p:cNvSpPr/>
          <p:nvPr/>
        </p:nvSpPr>
        <p:spPr>
          <a:xfrm>
            <a:off x="5373630" y="943451"/>
            <a:ext cx="3074670" cy="296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深度网络的前向和后向传播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5036540" y="5606897"/>
            <a:ext cx="697865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8" name="picture 3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21229" y="5827014"/>
            <a:ext cx="7992871" cy="76200"/>
          </a:xfrm>
          <a:prstGeom prst="rect">
            <a:avLst/>
          </a:prstGeom>
        </p:spPr>
      </p:pic>
      <p:sp>
        <p:nvSpPr>
          <p:cNvPr id="340" name="textbox 340"/>
          <p:cNvSpPr/>
          <p:nvPr/>
        </p:nvSpPr>
        <p:spPr>
          <a:xfrm>
            <a:off x="9732340" y="3992422"/>
            <a:ext cx="937260" cy="543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9000"/>
              </a:lnSpc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误差，计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9000"/>
              </a:lnSpc>
              <a:spcBef>
                <a:spcPts val="240"/>
              </a:spcBef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算损失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2" name="picture 3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17929" y="5148453"/>
            <a:ext cx="974597" cy="252222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791894" y="5158422"/>
            <a:ext cx="971423" cy="249046"/>
          </a:xfrm>
          <a:prstGeom prst="rect">
            <a:avLst/>
          </a:prstGeom>
        </p:spPr>
      </p:pic>
      <p:sp>
        <p:nvSpPr>
          <p:cNvPr id="346" name="textbox 346"/>
          <p:cNvSpPr/>
          <p:nvPr/>
        </p:nvSpPr>
        <p:spPr>
          <a:xfrm>
            <a:off x="7301839" y="1549069"/>
            <a:ext cx="936625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调整权值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8" name="picture 3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480042" y="3598545"/>
            <a:ext cx="737996" cy="241553"/>
          </a:xfrm>
          <a:prstGeom prst="rect">
            <a:avLst/>
          </a:prstGeom>
        </p:spPr>
      </p:pic>
      <p:sp>
        <p:nvSpPr>
          <p:cNvPr id="350" name="textbox 350"/>
          <p:cNvSpPr/>
          <p:nvPr/>
        </p:nvSpPr>
        <p:spPr>
          <a:xfrm>
            <a:off x="7903160" y="5518505"/>
            <a:ext cx="708025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1809572" y="5476747"/>
            <a:ext cx="707390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4" name="textbox 354"/>
          <p:cNvSpPr/>
          <p:nvPr/>
        </p:nvSpPr>
        <p:spPr>
          <a:xfrm>
            <a:off x="886084" y="3601650"/>
            <a:ext cx="479425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8025079" y="2190674"/>
            <a:ext cx="478790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8" name="picture 35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489953" y="1439417"/>
            <a:ext cx="76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A2882E8E-4AA5-1E5F-5103-3343A1AC3DAF}"/>
              </a:ext>
            </a:extLst>
          </p:cNvPr>
          <p:cNvGrpSpPr/>
          <p:nvPr/>
        </p:nvGrpSpPr>
        <p:grpSpPr>
          <a:xfrm>
            <a:off x="410400" y="2023366"/>
            <a:ext cx="5397500" cy="3937000"/>
            <a:chOff x="571500" y="2059366"/>
            <a:chExt cx="5397500" cy="3937000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3ADD90A7-2408-8FA2-106A-911C99B5E341}"/>
                </a:ext>
              </a:extLst>
            </p:cNvPr>
            <p:cNvSpPr/>
            <p:nvPr/>
          </p:nvSpPr>
          <p:spPr>
            <a:xfrm>
              <a:off x="571500" y="2059366"/>
              <a:ext cx="5397500" cy="393700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DAE4EF"/>
              </a:solidFill>
            </a:ln>
            <a:effectLst>
              <a:outerShdw blurRad="50800" dist="25400" dir="5400000" rotWithShape="0">
                <a:srgbClr val="2D4359">
                  <a:alpha val="1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8E19E66-005F-E820-179A-D492519FE704}"/>
                </a:ext>
              </a:extLst>
            </p:cNvPr>
            <p:cNvSpPr/>
            <p:nvPr/>
          </p:nvSpPr>
          <p:spPr>
            <a:xfrm>
              <a:off x="571500" y="2059366"/>
              <a:ext cx="5397500" cy="609600"/>
            </a:xfrm>
            <a:prstGeom prst="roundRect">
              <a:avLst/>
            </a:prstGeom>
            <a:solidFill>
              <a:srgbClr val="E9F0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14">
              <a:extLst>
                <a:ext uri="{FF2B5EF4-FFF2-40B4-BE49-F238E27FC236}">
                  <a16:creationId xmlns:a16="http://schemas.microsoft.com/office/drawing/2014/main" id="{896AD7FB-F9FC-1554-2D5C-F8D5BB567EEB}"/>
                </a:ext>
              </a:extLst>
            </p:cNvPr>
            <p:cNvSpPr txBox="1"/>
            <p:nvPr/>
          </p:nvSpPr>
          <p:spPr>
            <a:xfrm>
              <a:off x="812800" y="2270633"/>
              <a:ext cx="3810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b="1">
                  <a:solidFill>
                    <a:srgbClr val="2563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15">
              <a:extLst>
                <a:ext uri="{FF2B5EF4-FFF2-40B4-BE49-F238E27FC236}">
                  <a16:creationId xmlns:a16="http://schemas.microsoft.com/office/drawing/2014/main" id="{75FA9CF3-A11F-8A7B-1AC7-714A8A23C55A}"/>
                </a:ext>
              </a:extLst>
            </p:cNvPr>
            <p:cNvSpPr txBox="1"/>
            <p:nvPr/>
          </p:nvSpPr>
          <p:spPr>
            <a:xfrm>
              <a:off x="1257300" y="2219832"/>
              <a:ext cx="35560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b="1">
                  <a:solidFill>
                    <a:srgbClr val="122E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条纹识别与中心定位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2290F0BE-74EC-0371-79C0-3B5C2AFA5B94}"/>
                </a:ext>
              </a:extLst>
            </p:cNvPr>
            <p:cNvSpPr/>
            <p:nvPr/>
          </p:nvSpPr>
          <p:spPr>
            <a:xfrm>
              <a:off x="812800" y="2897566"/>
              <a:ext cx="2108200" cy="2108200"/>
            </a:xfrm>
            <a:prstGeom prst="roundRect">
              <a:avLst/>
            </a:prstGeom>
            <a:solidFill>
              <a:srgbClr val="EBF1F7"/>
            </a:solidFill>
            <a:ln>
              <a:solidFill>
                <a:srgbClr val="CFDB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6342247-50F0-DE53-5FCA-A4902C86B269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000" y="2973766"/>
              <a:ext cx="1955800" cy="1955800"/>
            </a:xfrm>
            <a:prstGeom prst="rect">
              <a:avLst/>
            </a:prstGeom>
          </p:spPr>
        </p:pic>
        <p:sp>
          <p:nvSpPr>
            <p:cNvPr id="12" name="文本框 22">
              <a:extLst>
                <a:ext uri="{FF2B5EF4-FFF2-40B4-BE49-F238E27FC236}">
                  <a16:creationId xmlns:a16="http://schemas.microsoft.com/office/drawing/2014/main" id="{117061B4-6243-5B28-2D11-34D304FC522C}"/>
                </a:ext>
              </a:extLst>
            </p:cNvPr>
            <p:cNvSpPr txBox="1"/>
            <p:nvPr/>
          </p:nvSpPr>
          <p:spPr>
            <a:xfrm>
              <a:off x="812800" y="5102733"/>
              <a:ext cx="21082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真实干涉条纹识别画面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601C0FA-DDEC-76B0-3885-A55A214A8EC5}"/>
                </a:ext>
              </a:extLst>
            </p:cNvPr>
            <p:cNvSpPr/>
            <p:nvPr/>
          </p:nvSpPr>
          <p:spPr>
            <a:xfrm>
              <a:off x="3187700" y="2872166"/>
              <a:ext cx="304800" cy="304800"/>
            </a:xfrm>
            <a:prstGeom prst="ellipse">
              <a:avLst/>
            </a:prstGeom>
            <a:solidFill>
              <a:srgbClr val="2563E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24">
              <a:extLst>
                <a:ext uri="{FF2B5EF4-FFF2-40B4-BE49-F238E27FC236}">
                  <a16:creationId xmlns:a16="http://schemas.microsoft.com/office/drawing/2014/main" id="{06424A76-DF1B-C2D6-95A2-5AB40F28D45A}"/>
                </a:ext>
              </a:extLst>
            </p:cNvPr>
            <p:cNvSpPr txBox="1"/>
            <p:nvPr/>
          </p:nvSpPr>
          <p:spPr>
            <a:xfrm>
              <a:off x="3619500" y="2892932"/>
              <a:ext cx="18034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b="1">
                  <a:solidFill>
                    <a:srgbClr val="142A4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检测区域</a:t>
              </a:r>
            </a:p>
          </p:txBody>
        </p:sp>
        <p:sp>
          <p:nvSpPr>
            <p:cNvPr id="15" name="文本框 25">
              <a:extLst>
                <a:ext uri="{FF2B5EF4-FFF2-40B4-BE49-F238E27FC236}">
                  <a16:creationId xmlns:a16="http://schemas.microsoft.com/office/drawing/2014/main" id="{B8650C48-100C-1F4B-11FE-242BB8689943}"/>
                </a:ext>
              </a:extLst>
            </p:cNvPr>
            <p:cNvSpPr txBox="1"/>
            <p:nvPr/>
          </p:nvSpPr>
          <p:spPr>
            <a:xfrm>
              <a:off x="3619500" y="3146933"/>
              <a:ext cx="18669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识别条纹类型与大致范围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7389219-993D-6538-1837-0DB2CB73BABC}"/>
                </a:ext>
              </a:extLst>
            </p:cNvPr>
            <p:cNvSpPr/>
            <p:nvPr/>
          </p:nvSpPr>
          <p:spPr>
            <a:xfrm>
              <a:off x="3187700" y="3646866"/>
              <a:ext cx="304800" cy="304800"/>
            </a:xfrm>
            <a:prstGeom prst="ellipse">
              <a:avLst/>
            </a:prstGeom>
            <a:solidFill>
              <a:srgbClr val="2563E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27">
              <a:extLst>
                <a:ext uri="{FF2B5EF4-FFF2-40B4-BE49-F238E27FC236}">
                  <a16:creationId xmlns:a16="http://schemas.microsoft.com/office/drawing/2014/main" id="{47A4A62C-9218-4A96-AC07-F9EE05AEFF4F}"/>
                </a:ext>
              </a:extLst>
            </p:cNvPr>
            <p:cNvSpPr txBox="1"/>
            <p:nvPr/>
          </p:nvSpPr>
          <p:spPr>
            <a:xfrm>
              <a:off x="3619500" y="3667632"/>
              <a:ext cx="18034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b="1">
                  <a:solidFill>
                    <a:srgbClr val="142A4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中心定位</a:t>
              </a:r>
            </a:p>
          </p:txBody>
        </p:sp>
        <p:sp>
          <p:nvSpPr>
            <p:cNvPr id="18" name="文本框 28">
              <a:extLst>
                <a:ext uri="{FF2B5EF4-FFF2-40B4-BE49-F238E27FC236}">
                  <a16:creationId xmlns:a16="http://schemas.microsoft.com/office/drawing/2014/main" id="{5C850761-646F-128A-8CF1-C0C44FA3750B}"/>
                </a:ext>
              </a:extLst>
            </p:cNvPr>
            <p:cNvSpPr txBox="1"/>
            <p:nvPr/>
          </p:nvSpPr>
          <p:spPr>
            <a:xfrm>
              <a:off x="3619500" y="3921633"/>
              <a:ext cx="18669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在目标区域内确定中心位置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C665A9A-C4C5-2C4C-0328-16DFDCEFFB2A}"/>
                </a:ext>
              </a:extLst>
            </p:cNvPr>
            <p:cNvSpPr/>
            <p:nvPr/>
          </p:nvSpPr>
          <p:spPr>
            <a:xfrm>
              <a:off x="3187700" y="4421566"/>
              <a:ext cx="304800" cy="304800"/>
            </a:xfrm>
            <a:prstGeom prst="ellipse">
              <a:avLst/>
            </a:prstGeom>
            <a:solidFill>
              <a:srgbClr val="2563E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30">
              <a:extLst>
                <a:ext uri="{FF2B5EF4-FFF2-40B4-BE49-F238E27FC236}">
                  <a16:creationId xmlns:a16="http://schemas.microsoft.com/office/drawing/2014/main" id="{87756F10-908B-156A-0C3B-43EDDAC72F46}"/>
                </a:ext>
              </a:extLst>
            </p:cNvPr>
            <p:cNvSpPr txBox="1"/>
            <p:nvPr/>
          </p:nvSpPr>
          <p:spPr>
            <a:xfrm>
              <a:off x="3619500" y="4442332"/>
              <a:ext cx="18034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b="1">
                  <a:solidFill>
                    <a:srgbClr val="142A4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稳定输出</a:t>
              </a:r>
            </a:p>
          </p:txBody>
        </p:sp>
        <p:sp>
          <p:nvSpPr>
            <p:cNvPr id="21" name="文本框 31">
              <a:extLst>
                <a:ext uri="{FF2B5EF4-FFF2-40B4-BE49-F238E27FC236}">
                  <a16:creationId xmlns:a16="http://schemas.microsoft.com/office/drawing/2014/main" id="{744F50F7-B04A-098A-04E3-260F9BBBF9E6}"/>
                </a:ext>
              </a:extLst>
            </p:cNvPr>
            <p:cNvSpPr txBox="1"/>
            <p:nvPr/>
          </p:nvSpPr>
          <p:spPr>
            <a:xfrm>
              <a:off x="3619500" y="4696333"/>
              <a:ext cx="18669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连续确认位置与置信度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504BD5AA-BC50-0AA1-373F-E73E45746151}"/>
                </a:ext>
              </a:extLst>
            </p:cNvPr>
            <p:cNvSpPr/>
            <p:nvPr/>
          </p:nvSpPr>
          <p:spPr>
            <a:xfrm>
              <a:off x="812800" y="5437566"/>
              <a:ext cx="4851400" cy="381000"/>
            </a:xfrm>
            <a:prstGeom prst="roundRect">
              <a:avLst/>
            </a:prstGeom>
            <a:solidFill>
              <a:srgbClr val="EBF2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>
                  <a:solidFill>
                    <a:srgbClr val="2563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输出：条纹类别  </a:t>
              </a:r>
              <a:r>
                <a:rPr lang="en-US" altLang="zh-CN" sz="1200" b="1">
                  <a:solidFill>
                    <a:srgbClr val="2563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 </a:t>
              </a:r>
              <a:r>
                <a:rPr lang="zh-CN" altLang="en-US" sz="1200" b="1">
                  <a:solidFill>
                    <a:srgbClr val="2563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中心位置  </a:t>
              </a:r>
              <a:r>
                <a:rPr lang="en-US" altLang="zh-CN" sz="1200" b="1">
                  <a:solidFill>
                    <a:srgbClr val="2563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 </a:t>
              </a:r>
              <a:r>
                <a:rPr lang="zh-CN" altLang="en-US" sz="1200" b="1">
                  <a:solidFill>
                    <a:srgbClr val="2563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置信度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9B875D2-A406-D627-5EFB-4CA2F05AE90E}"/>
              </a:ext>
            </a:extLst>
          </p:cNvPr>
          <p:cNvGrpSpPr/>
          <p:nvPr/>
        </p:nvGrpSpPr>
        <p:grpSpPr>
          <a:xfrm>
            <a:off x="6061900" y="2023366"/>
            <a:ext cx="5397500" cy="3937000"/>
            <a:chOff x="6223000" y="2059366"/>
            <a:chExt cx="5397500" cy="3937000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69491FC2-AA24-4F3C-50A4-74AF87BB45AD}"/>
                </a:ext>
              </a:extLst>
            </p:cNvPr>
            <p:cNvSpPr/>
            <p:nvPr/>
          </p:nvSpPr>
          <p:spPr>
            <a:xfrm>
              <a:off x="6223000" y="2059366"/>
              <a:ext cx="5397500" cy="393700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DAE4EF"/>
              </a:solidFill>
            </a:ln>
            <a:effectLst>
              <a:outerShdw blurRad="50800" dist="25400" dir="5400000" rotWithShape="0">
                <a:srgbClr val="2D4359">
                  <a:alpha val="1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F842828-3C55-78BE-D8E3-79F846DBE7A1}"/>
                </a:ext>
              </a:extLst>
            </p:cNvPr>
            <p:cNvSpPr/>
            <p:nvPr/>
          </p:nvSpPr>
          <p:spPr>
            <a:xfrm>
              <a:off x="6223000" y="2059366"/>
              <a:ext cx="5397500" cy="609600"/>
            </a:xfrm>
            <a:prstGeom prst="roundRect">
              <a:avLst/>
            </a:prstGeom>
            <a:solidFill>
              <a:srgbClr val="E5F7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17">
              <a:extLst>
                <a:ext uri="{FF2B5EF4-FFF2-40B4-BE49-F238E27FC236}">
                  <a16:creationId xmlns:a16="http://schemas.microsoft.com/office/drawing/2014/main" id="{5034883C-E73F-E473-4FC6-FC4CE78A89EE}"/>
                </a:ext>
              </a:extLst>
            </p:cNvPr>
            <p:cNvSpPr txBox="1"/>
            <p:nvPr/>
          </p:nvSpPr>
          <p:spPr>
            <a:xfrm>
              <a:off x="6464300" y="2270633"/>
              <a:ext cx="3810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b="1">
                  <a:solidFill>
                    <a:srgbClr val="0F9F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200" b="1">
                <a:solidFill>
                  <a:srgbClr val="0F9F8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18">
              <a:extLst>
                <a:ext uri="{FF2B5EF4-FFF2-40B4-BE49-F238E27FC236}">
                  <a16:creationId xmlns:a16="http://schemas.microsoft.com/office/drawing/2014/main" id="{C219E689-A4AA-7CA1-76A7-E72740AFBAA9}"/>
                </a:ext>
              </a:extLst>
            </p:cNvPr>
            <p:cNvSpPr txBox="1"/>
            <p:nvPr/>
          </p:nvSpPr>
          <p:spPr>
            <a:xfrm>
              <a:off x="6908800" y="2219832"/>
              <a:ext cx="38100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b="1">
                  <a:solidFill>
                    <a:srgbClr val="122E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微分表识别与稳定读数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7288F72C-62E8-0096-34D5-F55A1F6418FF}"/>
                </a:ext>
              </a:extLst>
            </p:cNvPr>
            <p:cNvSpPr/>
            <p:nvPr/>
          </p:nvSpPr>
          <p:spPr>
            <a:xfrm>
              <a:off x="6464300" y="2897566"/>
              <a:ext cx="2298700" cy="1714500"/>
            </a:xfrm>
            <a:prstGeom prst="roundRect">
              <a:avLst/>
            </a:prstGeom>
            <a:solidFill>
              <a:srgbClr val="EBF1F7"/>
            </a:solidFill>
            <a:ln>
              <a:solidFill>
                <a:srgbClr val="CFDB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54957340-A2B5-965F-4680-1D64B125C7E2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0500" y="2973766"/>
              <a:ext cx="2146300" cy="1498600"/>
            </a:xfrm>
            <a:prstGeom prst="rect">
              <a:avLst/>
            </a:prstGeom>
          </p:spPr>
        </p:pic>
        <p:sp>
          <p:nvSpPr>
            <p:cNvPr id="25" name="文本框 36">
              <a:extLst>
                <a:ext uri="{FF2B5EF4-FFF2-40B4-BE49-F238E27FC236}">
                  <a16:creationId xmlns:a16="http://schemas.microsoft.com/office/drawing/2014/main" id="{02F7E01A-3F27-5C33-EDDB-3499CF267919}"/>
                </a:ext>
              </a:extLst>
            </p:cNvPr>
            <p:cNvSpPr txBox="1"/>
            <p:nvPr/>
          </p:nvSpPr>
          <p:spPr>
            <a:xfrm>
              <a:off x="6464300" y="4721733"/>
              <a:ext cx="22987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真实微分表识别画面</a:t>
              </a: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5F01E531-3879-C262-144D-BC56BFD6DFE4}"/>
                </a:ext>
              </a:extLst>
            </p:cNvPr>
            <p:cNvSpPr/>
            <p:nvPr/>
          </p:nvSpPr>
          <p:spPr>
            <a:xfrm>
              <a:off x="8978900" y="2872166"/>
              <a:ext cx="304800" cy="304800"/>
            </a:xfrm>
            <a:prstGeom prst="ellipse">
              <a:avLst/>
            </a:prstGeom>
            <a:solidFill>
              <a:srgbClr val="0F9F8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38">
              <a:extLst>
                <a:ext uri="{FF2B5EF4-FFF2-40B4-BE49-F238E27FC236}">
                  <a16:creationId xmlns:a16="http://schemas.microsoft.com/office/drawing/2014/main" id="{1A955023-CF43-9825-2F36-8D38B476290A}"/>
                </a:ext>
              </a:extLst>
            </p:cNvPr>
            <p:cNvSpPr txBox="1"/>
            <p:nvPr/>
          </p:nvSpPr>
          <p:spPr>
            <a:xfrm>
              <a:off x="9410700" y="2892932"/>
              <a:ext cx="18034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b="1">
                  <a:solidFill>
                    <a:srgbClr val="142A4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锁定显示区域</a:t>
              </a:r>
            </a:p>
          </p:txBody>
        </p:sp>
        <p:sp>
          <p:nvSpPr>
            <p:cNvPr id="28" name="文本框 39">
              <a:extLst>
                <a:ext uri="{FF2B5EF4-FFF2-40B4-BE49-F238E27FC236}">
                  <a16:creationId xmlns:a16="http://schemas.microsoft.com/office/drawing/2014/main" id="{3190080F-0253-7ABB-1B1E-032AA2AD0F7A}"/>
                </a:ext>
              </a:extLst>
            </p:cNvPr>
            <p:cNvSpPr txBox="1"/>
            <p:nvPr/>
          </p:nvSpPr>
          <p:spPr>
            <a:xfrm>
              <a:off x="9410700" y="3146933"/>
              <a:ext cx="18669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从相机画面中定位仪表屏幕</a:t>
              </a: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0B186404-D91C-5E96-FEC7-0300036D1512}"/>
                </a:ext>
              </a:extLst>
            </p:cNvPr>
            <p:cNvSpPr/>
            <p:nvPr/>
          </p:nvSpPr>
          <p:spPr>
            <a:xfrm>
              <a:off x="8978900" y="3646866"/>
              <a:ext cx="304800" cy="304800"/>
            </a:xfrm>
            <a:prstGeom prst="ellipse">
              <a:avLst/>
            </a:prstGeom>
            <a:solidFill>
              <a:srgbClr val="0F9F8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41">
              <a:extLst>
                <a:ext uri="{FF2B5EF4-FFF2-40B4-BE49-F238E27FC236}">
                  <a16:creationId xmlns:a16="http://schemas.microsoft.com/office/drawing/2014/main" id="{A4F997BB-98EC-C8A8-5FE9-BD302606F516}"/>
                </a:ext>
              </a:extLst>
            </p:cNvPr>
            <p:cNvSpPr txBox="1"/>
            <p:nvPr/>
          </p:nvSpPr>
          <p:spPr>
            <a:xfrm>
              <a:off x="9410700" y="3667632"/>
              <a:ext cx="18034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b="1">
                  <a:solidFill>
                    <a:srgbClr val="142A4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识别数值</a:t>
              </a:r>
            </a:p>
          </p:txBody>
        </p:sp>
        <p:sp>
          <p:nvSpPr>
            <p:cNvPr id="31" name="文本框 42">
              <a:extLst>
                <a:ext uri="{FF2B5EF4-FFF2-40B4-BE49-F238E27FC236}">
                  <a16:creationId xmlns:a16="http://schemas.microsoft.com/office/drawing/2014/main" id="{4620949F-C188-3DF0-05AD-425041404F1D}"/>
                </a:ext>
              </a:extLst>
            </p:cNvPr>
            <p:cNvSpPr txBox="1"/>
            <p:nvPr/>
          </p:nvSpPr>
          <p:spPr>
            <a:xfrm>
              <a:off x="9410700" y="3921633"/>
              <a:ext cx="18669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把屏幕字符转换为读数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CDA03C0D-6A8B-D7D5-6626-1542F2F60828}"/>
                </a:ext>
              </a:extLst>
            </p:cNvPr>
            <p:cNvSpPr/>
            <p:nvPr/>
          </p:nvSpPr>
          <p:spPr>
            <a:xfrm>
              <a:off x="8978900" y="4421566"/>
              <a:ext cx="304800" cy="304800"/>
            </a:xfrm>
            <a:prstGeom prst="ellipse">
              <a:avLst/>
            </a:prstGeom>
            <a:solidFill>
              <a:srgbClr val="0F9F8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44">
              <a:extLst>
                <a:ext uri="{FF2B5EF4-FFF2-40B4-BE49-F238E27FC236}">
                  <a16:creationId xmlns:a16="http://schemas.microsoft.com/office/drawing/2014/main" id="{201CA9EE-813E-FCA0-10FD-B60CC4B359E9}"/>
                </a:ext>
              </a:extLst>
            </p:cNvPr>
            <p:cNvSpPr txBox="1"/>
            <p:nvPr/>
          </p:nvSpPr>
          <p:spPr>
            <a:xfrm>
              <a:off x="9410700" y="4442332"/>
              <a:ext cx="18034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b="1">
                  <a:solidFill>
                    <a:srgbClr val="142A4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多帧确认</a:t>
              </a:r>
            </a:p>
          </p:txBody>
        </p:sp>
        <p:sp>
          <p:nvSpPr>
            <p:cNvPr id="34" name="文本框 45">
              <a:extLst>
                <a:ext uri="{FF2B5EF4-FFF2-40B4-BE49-F238E27FC236}">
                  <a16:creationId xmlns:a16="http://schemas.microsoft.com/office/drawing/2014/main" id="{9A2D7F47-E622-5DD3-BC03-BB1816C0CDF6}"/>
                </a:ext>
              </a:extLst>
            </p:cNvPr>
            <p:cNvSpPr txBox="1"/>
            <p:nvPr/>
          </p:nvSpPr>
          <p:spPr>
            <a:xfrm>
              <a:off x="9410700" y="4696333"/>
              <a:ext cx="1866900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dirty="0">
                  <a:solidFill>
                    <a:srgbClr val="5D6D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过滤突变并保留稳定结果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6E90D6A9-0E36-6D05-FD37-6AB5F6144CC9}"/>
                </a:ext>
              </a:extLst>
            </p:cNvPr>
            <p:cNvSpPr/>
            <p:nvPr/>
          </p:nvSpPr>
          <p:spPr>
            <a:xfrm>
              <a:off x="6464300" y="5437566"/>
              <a:ext cx="4851400" cy="381000"/>
            </a:xfrm>
            <a:prstGeom prst="roundRect">
              <a:avLst/>
            </a:prstGeom>
            <a:solidFill>
              <a:srgbClr val="E7F8F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>
                  <a:solidFill>
                    <a:srgbClr val="0F9F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输出：稳定读数  </a:t>
              </a:r>
              <a:r>
                <a:rPr lang="en-US" altLang="zh-CN" sz="1200" b="1">
                  <a:solidFill>
                    <a:srgbClr val="0F9F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 </a:t>
              </a:r>
              <a:r>
                <a:rPr lang="zh-CN" altLang="en-US" sz="1200" b="1">
                  <a:solidFill>
                    <a:srgbClr val="0F9F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采集时间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CD81EF16-4DE1-7D8E-4BDB-621A3025B00B}"/>
              </a:ext>
            </a:extLst>
          </p:cNvPr>
          <p:cNvSpPr txBox="1"/>
          <p:nvPr/>
        </p:nvSpPr>
        <p:spPr>
          <a:xfrm>
            <a:off x="410400" y="442800"/>
            <a:ext cx="77470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zh-CN" altLang="en-US" sz="3200" b="1" dirty="0">
                <a:solidFill>
                  <a:srgbClr val="122E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从画面识别到实验数据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AF42F0C-1376-0DE9-7B1C-C290FFA41497}"/>
              </a:ext>
            </a:extLst>
          </p:cNvPr>
          <p:cNvSpPr txBox="1"/>
          <p:nvPr/>
        </p:nvSpPr>
        <p:spPr>
          <a:xfrm>
            <a:off x="410400" y="1185711"/>
            <a:ext cx="1006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YOLOv8 </a:t>
            </a:r>
            <a:r>
              <a:rPr lang="zh-CN" altLang="en-US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模型定位条纹，</a:t>
            </a:r>
            <a:r>
              <a:rPr lang="en-US" altLang="zh-CN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PP-OCRv6 </a:t>
            </a:r>
            <a:r>
              <a:rPr lang="zh-CN" altLang="en-US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模型读取微分表，让视觉结果能够辅助操作并进入记录。</a:t>
            </a:r>
          </a:p>
        </p:txBody>
      </p:sp>
    </p:spTree>
    <p:extLst>
      <p:ext uri="{BB962C8B-B14F-4D97-AF65-F5344CB8AC3E}">
        <p14:creationId xmlns:p14="http://schemas.microsoft.com/office/powerpoint/2010/main" val="927559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452</Words>
  <Application>Microsoft Office PowerPoint</Application>
  <PresentationFormat>宽屏</PresentationFormat>
  <Paragraphs>97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Helvetica Neue</vt:lpstr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智博 张</dc:creator>
  <cp:lastModifiedBy>智博 张</cp:lastModifiedBy>
  <cp:revision>15</cp:revision>
  <dcterms:created xsi:type="dcterms:W3CDTF">2026-07-21T05:31:44Z</dcterms:created>
  <dcterms:modified xsi:type="dcterms:W3CDTF">2026-07-21T11:41:47Z</dcterms:modified>
</cp:coreProperties>
</file>