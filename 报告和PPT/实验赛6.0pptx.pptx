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emf" ContentType="image/x-e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257" r:id="rId4"/>
    <p:sldId id="258" r:id="rId5"/>
    <p:sldId id="324" r:id="rId6"/>
    <p:sldId id="326" r:id="rId7"/>
    <p:sldId id="259" r:id="rId8"/>
    <p:sldId id="325" r:id="rId9"/>
    <p:sldId id="327" r:id="rId10"/>
    <p:sldId id="328" r:id="rId11"/>
    <p:sldId id="307" r:id="rId12"/>
    <p:sldId id="315" r:id="rId13"/>
    <p:sldId id="319" r:id="rId14"/>
    <p:sldId id="320" r:id="rId15"/>
    <p:sldId id="299" r:id="rId16"/>
    <p:sldId id="336" r:id="rId17"/>
    <p:sldId id="338" r:id="rId18"/>
    <p:sldId id="339" r:id="rId19"/>
    <p:sldId id="342" r:id="rId20"/>
    <p:sldId id="337" r:id="rId21"/>
    <p:sldId id="341" r:id="rId22"/>
    <p:sldId id="288" r:id="rId23"/>
    <p:sldId id="301" r:id="rId24"/>
    <p:sldId id="332" r:id="rId25"/>
    <p:sldId id="333" r:id="rId27"/>
    <p:sldId id="323" r:id="rId28"/>
    <p:sldId id="334" r:id="rId29"/>
    <p:sldId id="303" r:id="rId30"/>
    <p:sldId id="304" r:id="rId31"/>
    <p:sldId id="306" r:id="rId32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F50"/>
    <a:srgbClr val="CA8F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2FA2FE6-3F77-43D4-85AD-5231A626D551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dk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5" d="100"/>
          <a:sy n="85" d="100"/>
        </p:scale>
        <p:origin x="8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60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image" Target="../media/image14.jpeg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jpeg"/><Relationship Id="rId7" Type="http://schemas.openxmlformats.org/officeDocument/2006/relationships/image" Target="../media/image15.png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0.jpeg"/><Relationship Id="rId11" Type="http://schemas.openxmlformats.org/officeDocument/2006/relationships/image" Target="../media/image19.png"/><Relationship Id="rId10" Type="http://schemas.openxmlformats.org/officeDocument/2006/relationships/image" Target="../media/image18.jpeg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8.xml"/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8.wmf"/><Relationship Id="rId6" Type="http://schemas.openxmlformats.org/officeDocument/2006/relationships/oleObject" Target="../embeddings/oleObject1.bin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tags" Target="../tags/tag30.xml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14.jpeg"/><Relationship Id="rId1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tags" Target="../tags/tag50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image" Target="../media/image66.png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59.xml"/><Relationship Id="rId10" Type="http://schemas.openxmlformats.org/officeDocument/2006/relationships/image" Target="../media/image67.png"/><Relationship Id="rId1" Type="http://schemas.openxmlformats.org/officeDocument/2006/relationships/tags" Target="../tags/tag5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7996"/>
          </a:xfrm>
          <a:prstGeom prst="rect">
            <a:avLst/>
          </a:prstGeom>
          <a:solidFill>
            <a:srgbClr val="333F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4129478" y="2333363"/>
            <a:ext cx="7614220" cy="1916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altLang="en-US" sz="4400" b="1" kern="0" dirty="0">
                <a:solidFill>
                  <a:srgbClr val="CA8F4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智测微光：AI赋能迈克尔逊</a:t>
            </a:r>
            <a:r>
              <a:rPr lang="zh-CN" altLang="en-US" sz="4400" b="1" kern="0" dirty="0">
                <a:solidFill>
                  <a:srgbClr val="CA8F4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白光干涉</a:t>
            </a:r>
            <a:r>
              <a:rPr lang="zh-CN" altLang="en-US" sz="4400" b="1" kern="0" dirty="0">
                <a:solidFill>
                  <a:srgbClr val="CA8F4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实验</a:t>
            </a:r>
            <a:endParaRPr lang="zh-CN" altLang="en-US" sz="4400" b="1" kern="0" dirty="0">
              <a:solidFill>
                <a:srgbClr val="CA8F45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5326" y="1208242"/>
            <a:ext cx="3524151" cy="4166674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1189449" y="6467576"/>
            <a:ext cx="86994" cy="170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kern="0" spc="-2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288155" y="3739515"/>
            <a:ext cx="1259840" cy="400050"/>
          </a:xfrm>
          <a:prstGeom prst="roundRect">
            <a:avLst/>
          </a:prstGeom>
          <a:solidFill>
            <a:srgbClr val="CA8F4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347210" y="3769360"/>
            <a:ext cx="1141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汇报</a:t>
            </a:r>
            <a:r>
              <a:rPr lang="zh-CN" altLang="en-US"/>
              <a:t>小组：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710555" y="3695065"/>
            <a:ext cx="45110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智能搓线条大队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0" y="1298448"/>
            <a:ext cx="5767070" cy="4261484"/>
          </a:xfrm>
          <a:prstGeom prst="rect">
            <a:avLst/>
          </a:prstGeom>
          <a:solidFill>
            <a:srgbClr val="CA8F4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9970" algn="l" rtl="0" eaLnBrk="0">
              <a:lnSpc>
                <a:spcPct val="81000"/>
              </a:lnSpc>
            </a:pPr>
            <a:r>
              <a:rPr sz="11400" b="1" kern="0" spc="4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1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18490" algn="l" rtl="0" eaLnBrk="0">
              <a:lnSpc>
                <a:spcPct val="73000"/>
              </a:lnSpc>
              <a:spcBef>
                <a:spcPts val="40"/>
              </a:spcBef>
            </a:pPr>
            <a:r>
              <a:rPr sz="4400" b="1" kern="0" spc="-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CONTENTS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6862445" y="1547495"/>
            <a:ext cx="2934970" cy="644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lang="zh-CN" sz="2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赛题解读与研究方案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0000"/>
              </a:lnSpc>
              <a:spcBef>
                <a:spcPts val="1810"/>
              </a:spcBef>
            </a:pPr>
            <a:endParaRPr lang="en-US" altLang="zh-CN"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0000"/>
              </a:lnSpc>
              <a:spcBef>
                <a:spcPts val="1810"/>
              </a:spcBef>
            </a:pPr>
            <a:endParaRPr lang="en-US" altLang="zh-CN" sz="2500" kern="0" spc="20" dirty="0">
              <a:solidFill>
                <a:srgbClr val="333F5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0000"/>
              </a:lnSpc>
              <a:spcBef>
                <a:spcPts val="1810"/>
              </a:spcBef>
            </a:pPr>
            <a:endParaRPr lang="zh-CN"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 14"/>
          <p:cNvSpPr/>
          <p:nvPr/>
        </p:nvSpPr>
        <p:spPr>
          <a:xfrm>
            <a:off x="10344911" y="1298448"/>
            <a:ext cx="1847087" cy="4261103"/>
          </a:xfrm>
          <a:prstGeom prst="rect">
            <a:avLst/>
          </a:prstGeom>
          <a:solidFill>
            <a:srgbClr val="333F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6171494" y="3822837"/>
            <a:ext cx="568262" cy="569321"/>
            <a:chOff x="0" y="0"/>
            <a:chExt cx="568262" cy="569321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568262" cy="569321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-12700" y="-12700"/>
              <a:ext cx="593725" cy="5949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61290" algn="l" rtl="0" eaLnBrk="0">
                <a:lnSpc>
                  <a:spcPct val="79000"/>
                </a:lnSpc>
                <a:spcBef>
                  <a:spcPts val="5"/>
                </a:spcBef>
              </a:pPr>
              <a:r>
                <a:rPr sz="2100" b="1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71494" y="3083679"/>
            <a:ext cx="568262" cy="56473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6171494" y="1547488"/>
            <a:ext cx="568262" cy="564732"/>
            <a:chOff x="0" y="0"/>
            <a:chExt cx="568262" cy="564732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68262" cy="564732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-12700" y="-12700"/>
              <a:ext cx="593725" cy="590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0" algn="l" rtl="0" eaLnBrk="0">
                <a:lnSpc>
                  <a:spcPct val="79000"/>
                </a:lnSpc>
              </a:pPr>
              <a:r>
                <a:rPr sz="2100" b="1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171494" y="2282055"/>
            <a:ext cx="568262" cy="564732"/>
            <a:chOff x="0" y="0"/>
            <a:chExt cx="568262" cy="564732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68262" cy="564732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-12700" y="-12700"/>
              <a:ext cx="593725" cy="590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63195" algn="l" rtl="0" eaLnBrk="0">
                <a:lnSpc>
                  <a:spcPct val="79000"/>
                </a:lnSpc>
                <a:spcBef>
                  <a:spcPts val="0"/>
                </a:spcBef>
              </a:pPr>
              <a:r>
                <a:rPr sz="2100" b="1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 rot="21600000">
            <a:off x="6185471" y="3095942"/>
            <a:ext cx="408051" cy="408051"/>
            <a:chOff x="0" y="0"/>
            <a:chExt cx="408051" cy="408051"/>
          </a:xfrm>
        </p:grpSpPr>
        <p:pic>
          <p:nvPicPr>
            <p:cNvPr id="34" name="picture 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08051" cy="408051"/>
            </a:xfrm>
            <a:prstGeom prst="rect">
              <a:avLst/>
            </a:prstGeom>
          </p:spPr>
        </p:pic>
        <p:sp>
          <p:nvSpPr>
            <p:cNvPr id="36" name="textbox 36"/>
            <p:cNvSpPr/>
            <p:nvPr/>
          </p:nvSpPr>
          <p:spPr>
            <a:xfrm>
              <a:off x="-12700" y="-12700"/>
              <a:ext cx="433705" cy="4337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2400" algn="l" rtl="0" eaLnBrk="0">
                <a:lnSpc>
                  <a:spcPct val="79000"/>
                </a:lnSpc>
                <a:spcBef>
                  <a:spcPts val="5"/>
                </a:spcBef>
              </a:pPr>
              <a:r>
                <a:rPr lang="en-US" sz="2100" b="1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9" name="textbox 36"/>
          <p:cNvSpPr/>
          <p:nvPr/>
        </p:nvSpPr>
        <p:spPr>
          <a:xfrm>
            <a:off x="7555557" y="5506403"/>
            <a:ext cx="433705" cy="433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0" algn="l" rtl="0" eaLnBrk="0">
              <a:lnSpc>
                <a:spcPct val="79000"/>
              </a:lnSpc>
              <a:spcBef>
                <a:spcPts val="5"/>
              </a:spcBef>
            </a:pPr>
            <a:r>
              <a:rPr sz="2100" b="1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862151" y="3822781"/>
            <a:ext cx="6096000" cy="437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l" defTabSz="914400" rtl="0" eaLnBrk="0" fontAlgn="auto" latinLnBrk="0" hangingPunct="1">
              <a:lnSpc>
                <a:spcPct val="90000"/>
              </a:lnSpc>
              <a:spcBef>
                <a:spcPts val="181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0" i="0" u="none" strike="noStrike" kern="1200" cap="none" spc="0" normalizeH="0" baseline="0" dirty="0">
                <a:solidFill>
                  <a:srgbClr val="CA8F45"/>
                </a:solidFill>
                <a:latin typeface="微软雅黑" panose="020B0503020204020204" charset="-122"/>
                <a:ea typeface="微软雅黑" panose="020B0503020204020204" charset="-122"/>
              </a:rPr>
              <a:t>实验数据以及误差分析</a:t>
            </a:r>
            <a:endParaRPr kumimoji="0" lang="zh-CN" altLang="en-US" sz="2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16577" y="2311710"/>
            <a:ext cx="31056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rgbClr val="CA8F45"/>
                </a:solidFill>
                <a:latin typeface="微软雅黑" panose="020B0503020204020204" charset="-122"/>
                <a:ea typeface="微软雅黑" panose="020B0503020204020204" charset="-122"/>
              </a:rPr>
              <a:t>实验原理</a:t>
            </a:r>
            <a:endParaRPr lang="zh-CN" altLang="en-US" sz="2500" dirty="0">
              <a:solidFill>
                <a:srgbClr val="CA8F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62445" y="3115310"/>
            <a:ext cx="472186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AI辅助系统研制</a:t>
            </a:r>
            <a:endParaRPr lang="zh-CN"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3" name="group 6"/>
          <p:cNvGrpSpPr/>
          <p:nvPr/>
        </p:nvGrpSpPr>
        <p:grpSpPr>
          <a:xfrm rot="21600000">
            <a:off x="6158794" y="4620253"/>
            <a:ext cx="568262" cy="564732"/>
            <a:chOff x="0" y="0"/>
            <a:chExt cx="568262" cy="564732"/>
          </a:xfrm>
        </p:grpSpPr>
        <p:pic>
          <p:nvPicPr>
            <p:cNvPr id="15" name="pictur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68262" cy="564732"/>
            </a:xfrm>
            <a:prstGeom prst="rect">
              <a:avLst/>
            </a:prstGeom>
          </p:spPr>
        </p:pic>
        <p:sp>
          <p:nvSpPr>
            <p:cNvPr id="17" name="textbox 28"/>
            <p:cNvSpPr/>
            <p:nvPr/>
          </p:nvSpPr>
          <p:spPr>
            <a:xfrm>
              <a:off x="-12700" y="-12700"/>
              <a:ext cx="593725" cy="590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0" algn="l" rtl="0" eaLnBrk="0">
                <a:lnSpc>
                  <a:spcPct val="79000"/>
                </a:lnSpc>
              </a:pPr>
              <a:r>
                <a:rPr sz="2100" b="1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6862445" y="4607560"/>
            <a:ext cx="331597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实验创新点与总结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 38"/>
          <p:cNvSpPr/>
          <p:nvPr/>
        </p:nvSpPr>
        <p:spPr>
          <a:xfrm>
            <a:off x="0" y="1298448"/>
            <a:ext cx="4733544" cy="4261103"/>
          </a:xfrm>
          <a:prstGeom prst="rect">
            <a:avLst/>
          </a:prstGeom>
          <a:solidFill>
            <a:srgbClr val="333F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" name="rect 40"/>
          <p:cNvSpPr/>
          <p:nvPr/>
        </p:nvSpPr>
        <p:spPr>
          <a:xfrm>
            <a:off x="10344911" y="1298448"/>
            <a:ext cx="1847087" cy="4261103"/>
          </a:xfrm>
          <a:prstGeom prst="rect">
            <a:avLst/>
          </a:prstGeom>
          <a:solidFill>
            <a:srgbClr val="CA8F4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3797808" y="2493264"/>
            <a:ext cx="2043958" cy="2058437"/>
            <a:chOff x="0" y="0"/>
            <a:chExt cx="2043958" cy="205843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2043958" cy="2058437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-12700" y="-12700"/>
              <a:ext cx="2069464" cy="2122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31825" algn="l" rtl="0" eaLnBrk="0">
                <a:lnSpc>
                  <a:spcPct val="78000"/>
                </a:lnSpc>
                <a:spcBef>
                  <a:spcPts val="0"/>
                </a:spcBef>
              </a:pPr>
              <a:r>
                <a:rPr sz="4800" kern="0" spc="-7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sz="4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49250" algn="l" rtl="0" eaLnBrk="0">
                <a:lnSpc>
                  <a:spcPct val="74000"/>
                </a:lnSpc>
                <a:spcBef>
                  <a:spcPts val="570"/>
                </a:spcBef>
              </a:pPr>
              <a:r>
                <a:rPr sz="2000" kern="0" spc="-2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CHAPTER</a:t>
              </a:r>
              <a:endParaRPr sz="2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6" name="textbox 46"/>
          <p:cNvSpPr/>
          <p:nvPr/>
        </p:nvSpPr>
        <p:spPr>
          <a:xfrm>
            <a:off x="6182995" y="3076575"/>
            <a:ext cx="3582670" cy="675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altLang="en-US" sz="4800" kern="0" spc="-2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赛题解读与研究方案</a:t>
            </a:r>
            <a:endParaRPr lang="zh-CN" altLang="en-US" sz="4800" kern="0" spc="-20" dirty="0">
              <a:solidFill>
                <a:srgbClr val="333F5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平行四边形 13"/>
          <p:cNvSpPr/>
          <p:nvPr>
            <p:custDataLst>
              <p:tags r:id="rId1"/>
            </p:custDataLst>
          </p:nvPr>
        </p:nvSpPr>
        <p:spPr>
          <a:xfrm>
            <a:off x="1127125" y="1374775"/>
            <a:ext cx="3925570" cy="5249545"/>
          </a:xfrm>
          <a:prstGeom prst="parallelogram">
            <a:avLst>
              <a:gd name="adj" fmla="val 309"/>
            </a:avLst>
          </a:prstGeom>
          <a:noFill/>
          <a:ln w="12700" cap="flat" cmpd="sng" algn="ctr">
            <a:solidFill>
              <a:srgbClr val="333F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5" name="平行四边形 14"/>
          <p:cNvSpPr/>
          <p:nvPr>
            <p:custDataLst>
              <p:tags r:id="rId2"/>
            </p:custDataLst>
          </p:nvPr>
        </p:nvSpPr>
        <p:spPr>
          <a:xfrm>
            <a:off x="752475" y="1100455"/>
            <a:ext cx="3978910" cy="5213985"/>
          </a:xfrm>
          <a:prstGeom prst="parallelogram">
            <a:avLst>
              <a:gd name="adj" fmla="val 280"/>
            </a:avLst>
          </a:prstGeom>
          <a:solidFill>
            <a:srgbClr val="CA8F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6" name="文本框 13"/>
          <p:cNvSpPr txBox="1"/>
          <p:nvPr>
            <p:custDataLst>
              <p:tags r:id="rId3"/>
            </p:custDataLst>
          </p:nvPr>
        </p:nvSpPr>
        <p:spPr>
          <a:xfrm>
            <a:off x="1294765" y="1305560"/>
            <a:ext cx="2555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命题六：</a:t>
            </a:r>
            <a:r>
              <a:rPr lang="en-US" altLang="zh-CN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AI+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物理实验</a:t>
            </a:r>
            <a:endParaRPr lang="zh-CN" altLang="en-US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14"/>
          <p:cNvSpPr txBox="1"/>
          <p:nvPr>
            <p:custDataLst>
              <p:tags r:id="rId4"/>
            </p:custDataLst>
          </p:nvPr>
        </p:nvSpPr>
        <p:spPr>
          <a:xfrm>
            <a:off x="1029970" y="1751965"/>
            <a:ext cx="3538855" cy="3557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目的：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物理实验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结合，实现物理现象的观察、物理参数的测量。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要求：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1) 设计实验方案(含原理);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2) 制作一个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实验装置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，实现物理  现象的观察、物理参数的测量等；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3) 利用</a:t>
            </a: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，完成测量过程、 数据处理或结果分析等；</a:t>
            </a:r>
            <a:endParaRPr lang="en-US" altLang="zh-CN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4) 讨论测量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精度和不确定度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endParaRPr lang="zh-CN" altLang="en-US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endParaRPr lang="zh-CN" altLang="en-US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赛题解读与研究方案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平行四边形 11"/>
          <p:cNvSpPr/>
          <p:nvPr>
            <p:custDataLst>
              <p:tags r:id="rId5"/>
            </p:custDataLst>
          </p:nvPr>
        </p:nvSpPr>
        <p:spPr>
          <a:xfrm>
            <a:off x="7093585" y="1374775"/>
            <a:ext cx="3925570" cy="5249545"/>
          </a:xfrm>
          <a:prstGeom prst="parallelogram">
            <a:avLst>
              <a:gd name="adj" fmla="val 309"/>
            </a:avLst>
          </a:prstGeom>
          <a:noFill/>
          <a:ln w="12700" cap="flat" cmpd="sng" algn="ctr">
            <a:solidFill>
              <a:srgbClr val="333F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3" name="平行四边形 12"/>
          <p:cNvSpPr/>
          <p:nvPr>
            <p:custDataLst>
              <p:tags r:id="rId6"/>
            </p:custDataLst>
          </p:nvPr>
        </p:nvSpPr>
        <p:spPr>
          <a:xfrm>
            <a:off x="6718935" y="1100455"/>
            <a:ext cx="3978910" cy="5213985"/>
          </a:xfrm>
          <a:prstGeom prst="parallelogram">
            <a:avLst>
              <a:gd name="adj" fmla="val 280"/>
            </a:avLst>
          </a:prstGeom>
          <a:solidFill>
            <a:srgbClr val="CA8F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7" name="文本框 13"/>
          <p:cNvSpPr txBox="1"/>
          <p:nvPr>
            <p:custDataLst>
              <p:tags r:id="rId7"/>
            </p:custDataLst>
          </p:nvPr>
        </p:nvSpPr>
        <p:spPr>
          <a:xfrm>
            <a:off x="7423150" y="1305560"/>
            <a:ext cx="2555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设计目标</a:t>
            </a:r>
            <a:endParaRPr lang="zh-CN" altLang="en-US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4"/>
          <p:cNvSpPr txBox="1"/>
          <p:nvPr>
            <p:custDataLst>
              <p:tags r:id="rId8"/>
            </p:custDataLst>
          </p:nvPr>
        </p:nvSpPr>
        <p:spPr>
          <a:xfrm>
            <a:off x="6931025" y="1100455"/>
            <a:ext cx="3795395" cy="3557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  <a:defRPr/>
            </a:pPr>
            <a:endParaRPr lang="en-US" altLang="zh-CN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一、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基于特定物理原理，准确表征所研究的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物理现象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关键物理参数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二、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实现人工智能技术的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深度融</a:t>
            </a:r>
            <a:endParaRPr lang="zh-CN" altLang="en-US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合与有机协同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，避免技术简单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堆砌。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所研制装置适用于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高校物理</a:t>
            </a:r>
            <a:endParaRPr lang="zh-CN" altLang="en-US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实验教学场景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，满足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教学应用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需求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。     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9">
            <a:clrChange>
              <a:clrFrom>
                <a:srgbClr val="FEFEFC">
                  <a:alpha val="100000"/>
                </a:srgbClr>
              </a:clrFrom>
              <a:clrTo>
                <a:srgbClr val="FEFE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05705" y="2822575"/>
            <a:ext cx="1651000" cy="1212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>
          <a:xfrm>
            <a:off x="2867025" y="1165860"/>
            <a:ext cx="5474335" cy="1209675"/>
          </a:xfrm>
          <a:prstGeom prst="roundRect">
            <a:avLst/>
          </a:prstGeom>
          <a:solidFill>
            <a:srgbClr val="333F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67767" y="2152777"/>
            <a:ext cx="2431542" cy="4403978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331315" y="4170324"/>
            <a:ext cx="2092325" cy="2054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01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foundation</a:t>
            </a:r>
            <a:endParaRPr sz="1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5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ct val="98000"/>
              </a:lnSpc>
              <a:spcBef>
                <a:spcPts val="0"/>
              </a:spcBef>
            </a:pP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迈克耳孙干涉仪是美国物理学家迈克</a:t>
            </a: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耳孙于</a:t>
            </a:r>
            <a:r>
              <a:rPr sz="2000" b="1" kern="0" spc="1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1883 年设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计的分振幅双光束</a:t>
            </a:r>
            <a:r>
              <a:rPr sz="2000" b="1" kern="0" spc="-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干干涉器。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8678044" y="1551222"/>
            <a:ext cx="3204845" cy="824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200" b="1" kern="0" spc="-10" dirty="0">
                <a:solidFill>
                  <a:srgbClr val="F38B0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迈克耳孙干涉仪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750" algn="l" rtl="0" eaLnBrk="0">
              <a:lnSpc>
                <a:spcPct val="83000"/>
              </a:lnSpc>
              <a:spcBef>
                <a:spcPts val="485"/>
              </a:spcBef>
            </a:pPr>
            <a:r>
              <a:rPr sz="2400" kern="0" spc="-20" dirty="0">
                <a:solidFill>
                  <a:srgbClr val="F38B0D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Michelson</a:t>
            </a:r>
            <a:r>
              <a:rPr sz="2400" kern="0" spc="130" dirty="0">
                <a:solidFill>
                  <a:srgbClr val="F38B0D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400" kern="0" spc="-20" dirty="0">
                <a:solidFill>
                  <a:srgbClr val="F38B0D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inte</a:t>
            </a:r>
            <a:r>
              <a:rPr sz="2400" kern="0" spc="-30" dirty="0">
                <a:solidFill>
                  <a:srgbClr val="F38B0D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rferometer</a:t>
            </a:r>
            <a:endParaRPr sz="2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赛题解读与研究方案</a:t>
            </a:r>
            <a:r>
              <a:rPr lang="en-US" alt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/  </a:t>
            </a:r>
            <a:r>
              <a:rPr lang="en-US" altLang="zh-CN" sz="4570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01.</a:t>
            </a:r>
            <a:r>
              <a:rPr 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物理实验</a:t>
            </a:r>
            <a:r>
              <a:rPr 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选择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235" y="2023110"/>
            <a:ext cx="5309235" cy="43129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955290" y="1705610"/>
            <a:ext cx="50907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72415" algn="l" rtl="0" eaLnBrk="0">
              <a:lnSpc>
                <a:spcPct val="89000"/>
              </a:lnSpc>
              <a:spcBef>
                <a:spcPts val="1065"/>
              </a:spcBef>
            </a:pPr>
            <a:r>
              <a:rPr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主要应用于长度</a:t>
            </a:r>
            <a:r>
              <a:rPr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的精密测量与校</a:t>
            </a:r>
            <a:r>
              <a:rPr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准，光谱学与波长分析，引力波</a:t>
            </a:r>
            <a:r>
              <a:rPr b="1" kern="0" spc="-1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探测等。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84500" y="1254760"/>
            <a:ext cx="3251835" cy="4997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31445" algn="l" rtl="0" eaLnBrk="0">
              <a:lnSpc>
                <a:spcPct val="83000"/>
              </a:lnSpc>
              <a:spcBef>
                <a:spcPts val="5"/>
              </a:spcBef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02</a:t>
            </a:r>
            <a:r>
              <a:rPr b="1" kern="0" spc="-1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application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8360410" y="3050540"/>
            <a:ext cx="3526790" cy="3285490"/>
          </a:xfrm>
          <a:prstGeom prst="roundRect">
            <a:avLst/>
          </a:prstGeom>
          <a:noFill/>
          <a:ln w="28575">
            <a:solidFill>
              <a:srgbClr val="CA8F45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571865" y="3299460"/>
            <a:ext cx="338010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000" b="1" kern="0" spc="-2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迈克尔逊实验是经典的大学物理实验，包括点光源非定域干涉、白光等厚干涉</a:t>
            </a:r>
            <a:r>
              <a:rPr lang="zh-CN" sz="2000" b="1" kern="0" spc="-2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等。</a:t>
            </a:r>
            <a:endParaRPr lang="zh-CN" sz="2000" b="1" kern="0" spc="-2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2000" b="1" kern="0" spc="-2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而在</a:t>
            </a:r>
            <a:r>
              <a:rPr lang="zh-CN" sz="2000" b="1" kern="0" spc="-20" dirty="0">
                <a:solidFill>
                  <a:schemeClr val="tx1">
                    <a:alpha val="100000"/>
                  </a:scheme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白光等厚干涉</a:t>
            </a:r>
            <a:r>
              <a:rPr lang="zh-CN" sz="2000" b="1" kern="0" spc="-2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的实验中存在学生上手难度普遍较大等</a:t>
            </a:r>
            <a:r>
              <a:rPr lang="zh-CN" sz="2000" b="1" kern="0" spc="-20" dirty="0">
                <a:solidFill>
                  <a:schemeClr val="tx1">
                    <a:alpha val="100000"/>
                  </a:scheme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诸多问题</a:t>
            </a:r>
            <a:r>
              <a:rPr lang="zh-CN" sz="2000" b="1" kern="0" spc="-2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，实际教学中常作为拓展内容出现。</a:t>
            </a:r>
            <a:endParaRPr lang="zh-CN" altLang="en-US" sz="2000" b="1" kern="0" spc="-2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 kern="0" spc="-2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亟待系统性地优化与革新。</a:t>
            </a:r>
            <a:endParaRPr lang="zh-CN" altLang="en-US" sz="2000" b="1" kern="0" spc="-2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4"/>
          <p:cNvSpPr/>
          <p:nvPr/>
        </p:nvSpPr>
        <p:spPr>
          <a:xfrm>
            <a:off x="6143625" y="3505187"/>
            <a:ext cx="5581015" cy="1551939"/>
          </a:xfrm>
          <a:prstGeom prst="rect">
            <a:avLst/>
          </a:prstGeom>
          <a:solidFill>
            <a:srgbClr val="CA8F4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lang="zh-CN" altLang="en-US"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0" algn="l" rtl="0" eaLnBrk="0">
              <a:lnSpc>
                <a:spcPct val="96000"/>
              </a:lnSpc>
              <a:spcBef>
                <a:spcPts val="5"/>
              </a:spcBef>
            </a:pPr>
            <a:r>
              <a:rPr lang="zh-CN" altLang="en-US" sz="2000" b="1" kern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缺点：难</a:t>
            </a:r>
            <a:endParaRPr lang="en-US" altLang="zh-CN" sz="2000" b="1" kern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4150" algn="l" rtl="0" eaLnBrk="0">
              <a:lnSpc>
                <a:spcPct val="96000"/>
              </a:lnSpc>
              <a:spcBef>
                <a:spcPts val="5"/>
              </a:spcBef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4150" algn="l" rtl="0" eaLnBrk="0">
              <a:lnSpc>
                <a:spcPct val="96000"/>
              </a:lnSpc>
              <a:spcBef>
                <a:spcPts val="5"/>
              </a:spcBef>
            </a:pPr>
            <a:r>
              <a:rPr lang="zh-CN" altLang="en-US" sz="15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白光是复色光，相干长度在微米量级，只有当动镜</a:t>
            </a:r>
            <a:r>
              <a:rPr lang="en-US" altLang="zh-CN" sz="15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</a:t>
            </a:r>
            <a:r>
              <a:rPr lang="zh-CN" altLang="en-US" sz="15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和虚镜</a:t>
            </a:r>
            <a:r>
              <a:rPr lang="en-US" altLang="zh-CN" sz="15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M2‘</a:t>
            </a:r>
            <a:r>
              <a:rPr lang="zh-CN" altLang="en-US" sz="15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之间的距离</a:t>
            </a:r>
            <a:r>
              <a:rPr lang="en-US" altLang="zh-CN" sz="15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15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在等光程位置，即动镜</a:t>
            </a:r>
            <a:r>
              <a:rPr lang="en-US" altLang="zh-CN" sz="15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</a:t>
            </a:r>
            <a:r>
              <a:rPr lang="zh-CN" altLang="en-US" sz="15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和虚镜</a:t>
            </a:r>
            <a:r>
              <a:rPr lang="en-US" altLang="zh-CN" sz="15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M2’</a:t>
            </a:r>
            <a:r>
              <a:rPr lang="zh-CN" altLang="en-US" sz="15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的相交线附近几个微米之内时，才能观察到白光干涉彩色条纹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467360" y="3509632"/>
            <a:ext cx="5579745" cy="1547494"/>
          </a:xfrm>
          <a:prstGeom prst="rect">
            <a:avLst/>
          </a:prstGeom>
          <a:solidFill>
            <a:srgbClr val="333F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lang="zh-CN" altLang="en-US"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0040" algn="l" rtl="0" eaLnBrk="0">
              <a:lnSpc>
                <a:spcPct val="89000"/>
              </a:lnSpc>
            </a:pPr>
            <a:r>
              <a:rPr lang="zh-CN" altLang="en-US" sz="2000" b="1" kern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白光干涉：好用！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0360" algn="l" rtl="0" eaLnBrk="0">
              <a:lnSpc>
                <a:spcPct val="94000"/>
              </a:lnSpc>
              <a:spcBef>
                <a:spcPts val="1550"/>
              </a:spcBef>
            </a:pPr>
            <a:r>
              <a:rPr lang="zh-CN" altLang="en-US" sz="15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白光干涉具有高分辨率、强抗干扰能力、精度高的优点，在微小位移测量等领域应用广泛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583565" y="5301485"/>
            <a:ext cx="11024869" cy="716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zh-CN" altLang="en-US"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540" algn="l" rtl="0" eaLnBrk="0">
              <a:lnSpc>
                <a:spcPct val="94000"/>
              </a:lnSpc>
            </a:pPr>
            <a:r>
              <a:rPr lang="en-US" altLang="zh-CN" sz="2400" b="1" kern="0" spc="-1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2400" b="1" kern="0" spc="-1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相干长度小，等光程点外光强衰弱快</a:t>
            </a:r>
            <a:r>
              <a:rPr lang="zh-CN" altLang="en-US" sz="24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，使实验中观察到彩色干涉条纹难度大，对实验人员的</a:t>
            </a:r>
            <a:r>
              <a:rPr lang="zh-CN" altLang="en-US" sz="2400" b="1" kern="0" spc="-1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调节精度，专注能力和操作手法</a:t>
            </a:r>
            <a:r>
              <a:rPr lang="zh-CN" altLang="en-US" sz="24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有很高的要求。为此引入</a:t>
            </a:r>
            <a:r>
              <a:rPr lang="en-US" altLang="zh-CN" sz="24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辅助，以达成</a:t>
            </a:r>
            <a:r>
              <a:rPr lang="zh-CN" altLang="en-US" sz="2400" b="1" kern="0" spc="-1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快速准确获取干涉条纹</a:t>
            </a:r>
            <a:r>
              <a:rPr lang="zh-CN" altLang="en-US" sz="24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的目的。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1180473" y="6677126"/>
            <a:ext cx="95885" cy="170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endParaRPr sz="1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788" y="978873"/>
            <a:ext cx="2912872" cy="20723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68001" y="3073282"/>
            <a:ext cx="1928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单色光干涉光强</a:t>
            </a:r>
            <a:endParaRPr lang="zh-CN" altLang="en-US" sz="1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677" y="962276"/>
            <a:ext cx="2874300" cy="208891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708" y="973779"/>
            <a:ext cx="2874300" cy="2095284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2931794" y="306906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000000"/>
                </a:solidFill>
              </a:rPr>
              <a:t>不同单色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光干涉光强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592089" y="286373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各种波长的单色光干涉光强叠加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3" name="平行四边形 2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赛题解读与研究方案</a:t>
            </a:r>
            <a:r>
              <a:rPr lang="en-US" alt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/  </a:t>
            </a:r>
            <a:r>
              <a:rPr lang="en-US" altLang="zh-CN" sz="4570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01.</a:t>
            </a:r>
            <a:r>
              <a:rPr lang="zh-CN" sz="3200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白光干涉的特点</a:t>
            </a:r>
            <a:endParaRPr lang="zh-CN" altLang="en-US" sz="4570" dirty="0">
              <a:solidFill>
                <a:srgbClr val="333F50"/>
              </a:solidFill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矩形 12"/>
          <p:cNvSpPr/>
          <p:nvPr/>
        </p:nvSpPr>
        <p:spPr>
          <a:xfrm>
            <a:off x="329565" y="1379220"/>
            <a:ext cx="11473180" cy="5353050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箭头: 五边形 19"/>
          <p:cNvSpPr/>
          <p:nvPr>
            <p:custDataLst>
              <p:tags r:id="rId1"/>
            </p:custDataLst>
          </p:nvPr>
        </p:nvSpPr>
        <p:spPr>
          <a:xfrm>
            <a:off x="4623880" y="973738"/>
            <a:ext cx="3296285" cy="808355"/>
          </a:xfrm>
          <a:prstGeom prst="homePlate">
            <a:avLst/>
          </a:prstGeom>
          <a:solidFill>
            <a:srgbClr val="CA8F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760" y="193675"/>
            <a:ext cx="7905750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赛题解读与研究方案</a:t>
            </a:r>
            <a:r>
              <a:rPr lang="en-US" alt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/  02.</a:t>
            </a:r>
            <a:r>
              <a:rPr 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痛点分析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7885875" y="1067718"/>
            <a:ext cx="3706929" cy="714375"/>
            <a:chOff x="7569607" y="2038350"/>
            <a:chExt cx="3706929" cy="714375"/>
          </a:xfrm>
        </p:grpSpPr>
        <p:sp>
          <p:nvSpPr>
            <p:cNvPr id="15" name="箭头: 五边形 14"/>
            <p:cNvSpPr/>
            <p:nvPr>
              <p:custDataLst>
                <p:tags r:id="rId3"/>
              </p:custDataLst>
            </p:nvPr>
          </p:nvSpPr>
          <p:spPr>
            <a:xfrm>
              <a:off x="8057086" y="2038350"/>
              <a:ext cx="3219450" cy="714375"/>
            </a:xfrm>
            <a:prstGeom prst="homePlate">
              <a:avLst/>
            </a:prstGeom>
            <a:solidFill>
              <a:schemeClr val="accent1">
                <a:lumMod val="10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4"/>
              </p:custDataLst>
            </p:nvPr>
          </p:nvSpPr>
          <p:spPr>
            <a:xfrm>
              <a:off x="7569607" y="2133927"/>
              <a:ext cx="370692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 Light 8" panose="020B0502040204020203" pitchFamily="34" charset="0"/>
                </a:rPr>
                <a:t>请在此输入标题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</a:endParaRPr>
            </a:p>
          </p:txBody>
        </p:sp>
      </p:grpSp>
      <p:sp>
        <p:nvSpPr>
          <p:cNvPr id="25" name="矩形 24"/>
          <p:cNvSpPr/>
          <p:nvPr>
            <p:custDataLst>
              <p:tags r:id="rId5"/>
            </p:custDataLst>
          </p:nvPr>
        </p:nvSpPr>
        <p:spPr>
          <a:xfrm>
            <a:off x="4341495" y="1163320"/>
            <a:ext cx="37071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</a:rPr>
              <a:t>问题二：实验枯燥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</a:rPr>
              <a:t>单一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Segoe UI Light 8" panose="020B0502040204020203" pitchFamily="34" charset="0"/>
            </a:endParaRPr>
          </a:p>
        </p:txBody>
      </p:sp>
      <p:grpSp>
        <p:nvGrpSpPr>
          <p:cNvPr id="18" name="组合 17"/>
          <p:cNvGrpSpPr/>
          <p:nvPr>
            <p:custDataLst>
              <p:tags r:id="rId6"/>
            </p:custDataLst>
          </p:nvPr>
        </p:nvGrpSpPr>
        <p:grpSpPr>
          <a:xfrm>
            <a:off x="561785" y="973738"/>
            <a:ext cx="3706929" cy="5693410"/>
            <a:chOff x="7802017" y="1944370"/>
            <a:chExt cx="3706929" cy="5693410"/>
          </a:xfrm>
        </p:grpSpPr>
        <p:sp>
          <p:nvSpPr>
            <p:cNvPr id="19" name="矩形 18"/>
            <p:cNvSpPr/>
            <p:nvPr>
              <p:custDataLst>
                <p:tags r:id="rId7"/>
              </p:custDataLst>
            </p:nvPr>
          </p:nvSpPr>
          <p:spPr>
            <a:xfrm>
              <a:off x="7947432" y="3354070"/>
              <a:ext cx="3489960" cy="4283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342900" lvl="0" indent="-342900">
                <a:lnSpc>
                  <a:spcPct val="130000"/>
                </a:lnSpc>
                <a:spcBef>
                  <a:spcPts val="600"/>
                </a:spcBef>
                <a:buFont typeface="+mj-ea"/>
                <a:buAutoNum type="circleNumDbPlain"/>
              </a:pPr>
              <a:r>
                <a:rPr lang="zh-CN" altLang="en-US" b="1" kern="0" dirty="0">
                  <a:solidFill>
                    <a:srgbClr val="333F50"/>
                  </a:solidFill>
                  <a:latin typeface="微软雅黑" panose="020B0503020204020204" charset="-122"/>
                  <a:ea typeface="微软雅黑" panose="020B0503020204020204" charset="-122"/>
                </a:rPr>
                <a:t>存在操作疑问，</a:t>
              </a:r>
              <a:r>
                <a:rPr lang="zh-CN" altLang="en-US" b="1" kern="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动镜的速度与移动方向</a:t>
              </a:r>
              <a:r>
                <a:rPr lang="zh-CN" altLang="en-US" b="1" kern="0" dirty="0">
                  <a:solidFill>
                    <a:srgbClr val="333F50"/>
                  </a:solidFill>
                  <a:latin typeface="微软雅黑" panose="020B0503020204020204" charset="-122"/>
                  <a:ea typeface="微软雅黑" panose="020B0503020204020204" charset="-122"/>
                </a:rPr>
                <a:t>不明确</a:t>
              </a:r>
              <a:endPara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342900" lvl="0" indent="-342900">
                <a:lnSpc>
                  <a:spcPct val="130000"/>
                </a:lnSpc>
                <a:spcBef>
                  <a:spcPts val="600"/>
                </a:spcBef>
                <a:buFont typeface="+mj-ea"/>
                <a:buAutoNum type="circleNumDbPlain"/>
              </a:pPr>
              <a:r>
                <a:rPr lang="zh-CN" altLang="en-US" b="1" kern="0" dirty="0">
                  <a:solidFill>
                    <a:srgbClr val="333F50"/>
                  </a:solidFill>
                  <a:latin typeface="微软雅黑" panose="020B0503020204020204" charset="-122"/>
                  <a:ea typeface="微软雅黑" panose="020B0503020204020204" charset="-122"/>
                </a:rPr>
                <a:t>对</a:t>
              </a:r>
              <a:r>
                <a:rPr lang="zh-CN" altLang="en-US" b="1" kern="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核心原理理解</a:t>
              </a:r>
              <a:r>
                <a:rPr lang="zh-CN" altLang="en-US" b="1" kern="0" dirty="0">
                  <a:solidFill>
                    <a:srgbClr val="333F50"/>
                  </a:solidFill>
                  <a:latin typeface="微软雅黑" panose="020B0503020204020204" charset="-122"/>
                  <a:ea typeface="微软雅黑" panose="020B0503020204020204" charset="-122"/>
                </a:rPr>
                <a:t>不充分，如中心条纹为什么是黑色？</a:t>
              </a:r>
              <a:endPara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342900" lvl="0" indent="-342900">
                <a:lnSpc>
                  <a:spcPct val="130000"/>
                </a:lnSpc>
                <a:spcBef>
                  <a:spcPts val="600"/>
                </a:spcBef>
                <a:buFont typeface="+mj-ea"/>
                <a:buAutoNum type="circleNumDbPlain"/>
              </a:pPr>
              <a:endPara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342900" lvl="0" indent="-342900">
                <a:lnSpc>
                  <a:spcPct val="130000"/>
                </a:lnSpc>
                <a:spcBef>
                  <a:spcPts val="600"/>
                </a:spcBef>
                <a:buFont typeface="+mj-ea"/>
                <a:buAutoNum type="circleNumDbPlain"/>
              </a:pPr>
              <a:endPara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342900" lvl="0" indent="-342900">
                <a:lnSpc>
                  <a:spcPct val="130000"/>
                </a:lnSpc>
                <a:spcBef>
                  <a:spcPts val="600"/>
                </a:spcBef>
                <a:buFont typeface="+mj-ea"/>
                <a:buAutoNum type="circleNumDbPlain"/>
              </a:pPr>
              <a:endPara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indent="0">
                <a:lnSpc>
                  <a:spcPct val="130000"/>
                </a:lnSpc>
                <a:spcBef>
                  <a:spcPts val="600"/>
                </a:spcBef>
                <a:buFont typeface="+mj-ea"/>
                <a:buNone/>
              </a:pPr>
              <a:endPara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342900" lvl="0" indent="-342900">
                <a:lnSpc>
                  <a:spcPct val="130000"/>
                </a:lnSpc>
                <a:spcBef>
                  <a:spcPts val="600"/>
                </a:spcBef>
                <a:buFont typeface="+mj-ea"/>
                <a:buAutoNum type="circleNumDbPlain"/>
              </a:pPr>
              <a:r>
                <a:rPr lang="zh-CN" altLang="en-US" b="1" kern="0" dirty="0">
                  <a:solidFill>
                    <a:srgbClr val="333F50"/>
                  </a:solidFill>
                  <a:latin typeface="微软雅黑" panose="020B0503020204020204" charset="-122"/>
                  <a:ea typeface="微软雅黑" panose="020B0503020204020204" charset="-122"/>
                </a:rPr>
                <a:t>缺少</a:t>
              </a:r>
              <a:r>
                <a:rPr lang="zh-CN" altLang="en-US" b="1" kern="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可靠答疑</a:t>
              </a:r>
              <a:r>
                <a:rPr lang="zh-CN" altLang="en-US" b="1" kern="0" dirty="0">
                  <a:solidFill>
                    <a:srgbClr val="333F50"/>
                  </a:solidFill>
                  <a:latin typeface="微软雅黑" panose="020B0503020204020204" charset="-122"/>
                  <a:ea typeface="微软雅黑" panose="020B0503020204020204" charset="-122"/>
                </a:rPr>
                <a:t>途径和资源</a:t>
              </a:r>
              <a:endPara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箭头: 五边形 19"/>
            <p:cNvSpPr/>
            <p:nvPr>
              <p:custDataLst>
                <p:tags r:id="rId8"/>
              </p:custDataLst>
            </p:nvPr>
          </p:nvSpPr>
          <p:spPr>
            <a:xfrm>
              <a:off x="8057287" y="1944370"/>
              <a:ext cx="3296285" cy="808355"/>
            </a:xfrm>
            <a:prstGeom prst="homePlate">
              <a:avLst/>
            </a:prstGeom>
            <a:solidFill>
              <a:srgbClr val="CA8F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9"/>
              </p:custDataLst>
            </p:nvPr>
          </p:nvSpPr>
          <p:spPr>
            <a:xfrm>
              <a:off x="7802017" y="2133927"/>
              <a:ext cx="3706929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 Light 8" panose="020B0502040204020203" pitchFamily="34" charset="0"/>
                </a:rPr>
                <a:t>问题一：教学答疑资源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 Light 8" panose="020B0502040204020203" pitchFamily="34" charset="0"/>
                </a:rPr>
                <a:t>紧缺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</a:endParaRPr>
            </a:p>
          </p:txBody>
        </p:sp>
      </p:grpSp>
      <p:sp>
        <p:nvSpPr>
          <p:cNvPr id="12" name="箭头: 五边形 19"/>
          <p:cNvSpPr/>
          <p:nvPr>
            <p:custDataLst>
              <p:tags r:id="rId10"/>
            </p:custDataLst>
          </p:nvPr>
        </p:nvSpPr>
        <p:spPr>
          <a:xfrm>
            <a:off x="8376095" y="973738"/>
            <a:ext cx="3296285" cy="808355"/>
          </a:xfrm>
          <a:prstGeom prst="homePlate">
            <a:avLst/>
          </a:prstGeom>
          <a:solidFill>
            <a:srgbClr val="CA8F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7" name="矩形 16"/>
          <p:cNvSpPr/>
          <p:nvPr>
            <p:custDataLst>
              <p:tags r:id="rId11"/>
            </p:custDataLst>
          </p:nvPr>
        </p:nvSpPr>
        <p:spPr>
          <a:xfrm>
            <a:off x="8120825" y="1163295"/>
            <a:ext cx="370692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</a:rPr>
              <a:t>问题三：装置自动化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</a:rPr>
              <a:t>程度低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Segoe UI Light 8" panose="020B0502040204020203" pitchFamily="34" charset="0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40080" y="1862455"/>
            <a:ext cx="3629660" cy="4804410"/>
          </a:xfrm>
          <a:prstGeom prst="roundRect">
            <a:avLst/>
          </a:prstGeom>
          <a:noFill/>
          <a:ln w="12700">
            <a:solidFill>
              <a:srgbClr val="333F50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4451350" y="1862455"/>
            <a:ext cx="3629660" cy="4804410"/>
          </a:xfrm>
          <a:prstGeom prst="roundRect">
            <a:avLst/>
          </a:prstGeom>
          <a:noFill/>
          <a:ln w="12700">
            <a:solidFill>
              <a:srgbClr val="CA8F45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8262620" y="1862455"/>
            <a:ext cx="3629660" cy="4804410"/>
          </a:xfrm>
          <a:prstGeom prst="roundRect">
            <a:avLst/>
          </a:prstGeom>
          <a:noFill/>
          <a:ln w="12700">
            <a:solidFill>
              <a:srgbClr val="333F50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069975" y="1909445"/>
            <a:ext cx="1621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实验预习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图片 29" descr="图1_第1页_非接触法自动测量薄膜厚度_彭真真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685" y="3960495"/>
            <a:ext cx="3109595" cy="185420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4792345" y="1918970"/>
            <a:ext cx="24625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实验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操作中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>
            <p:custDataLst>
              <p:tags r:id="rId13"/>
            </p:custDataLst>
          </p:nvPr>
        </p:nvSpPr>
        <p:spPr>
          <a:xfrm>
            <a:off x="4548315" y="2383438"/>
            <a:ext cx="3489960" cy="42837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lvl="0" indent="-342900">
              <a:lnSpc>
                <a:spcPct val="13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寻找条纹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3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长时间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观察不到条纹，易失去耐心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3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手调千分尺</a:t>
            </a:r>
            <a:r>
              <a:rPr lang="zh-CN" altLang="en-US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误差较大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lnSpc>
                <a:spcPct val="13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实验指导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3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</a:t>
            </a:r>
            <a:r>
              <a:rPr lang="zh-CN" altLang="en-US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激光预调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不理解，不知道何时应该换成白光源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>
              <a:lnSpc>
                <a:spcPct val="13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教师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实际指导压力较大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lnSpc>
                <a:spcPct val="130000"/>
              </a:lnSpc>
              <a:spcBef>
                <a:spcPts val="600"/>
              </a:spcBef>
              <a:buFont typeface="+mj-ea"/>
              <a:buAutoNum type="circleNumDbPlain"/>
            </a:pP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lnSpc>
                <a:spcPct val="130000"/>
              </a:lnSpc>
              <a:spcBef>
                <a:spcPts val="600"/>
              </a:spcBef>
              <a:buFont typeface="+mj-ea"/>
              <a:buAutoNum type="circleNumDbPlain"/>
            </a:pPr>
            <a:endParaRPr lang="zh-CN" altLang="en-US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lnSpc>
                <a:spcPct val="130000"/>
              </a:lnSpc>
              <a:spcBef>
                <a:spcPts val="600"/>
              </a:spcBef>
              <a:buFont typeface="+mj-ea"/>
              <a:buAutoNum type="circleNumDbPlain"/>
            </a:pPr>
            <a:endParaRPr lang="zh-CN" altLang="en-US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indent="0">
              <a:lnSpc>
                <a:spcPct val="130000"/>
              </a:lnSpc>
              <a:spcBef>
                <a:spcPts val="600"/>
              </a:spcBef>
              <a:buFont typeface="+mj-ea"/>
              <a:buNone/>
            </a:pPr>
            <a:endParaRPr lang="zh-CN" altLang="en-US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indent="0">
              <a:lnSpc>
                <a:spcPct val="130000"/>
              </a:lnSpc>
              <a:spcBef>
                <a:spcPts val="600"/>
              </a:spcBef>
              <a:buFont typeface="+mj-ea"/>
              <a:buNone/>
            </a:pPr>
            <a:endParaRPr lang="zh-CN" altLang="en-US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669020" y="1915795"/>
            <a:ext cx="24625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实验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复习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>
            <p:custDataLst>
              <p:tags r:id="rId14"/>
            </p:custDataLst>
          </p:nvPr>
        </p:nvSpPr>
        <p:spPr>
          <a:xfrm>
            <a:off x="8317040" y="2383438"/>
            <a:ext cx="3489960" cy="42837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lvl="0" indent="-342900">
              <a:lnSpc>
                <a:spcPct val="13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手调数据得不到检验校准，误差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较大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lnSpc>
                <a:spcPct val="13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实验报告攥写困难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lnSpc>
                <a:spcPct val="13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数据复杂度高计算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困难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lnSpc>
                <a:spcPct val="13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拓展实验：测量薄膜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厚度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3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手调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误差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较大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3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测量时间久，多次测量耗费大量</a:t>
            </a:r>
            <a:r>
              <a:rPr lang="zh-CN" altLang="en-US" b="1" kern="0" dirty="0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endParaRPr lang="zh-CN" altLang="en-US" b="1" kern="0" dirty="0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760" y="193675"/>
            <a:ext cx="7905750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赛题解读与研究方案</a:t>
            </a:r>
            <a:r>
              <a:rPr lang="en-US" alt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/  03.</a:t>
            </a:r>
            <a:r>
              <a:rPr lang="zh-CN" altLang="en-US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研究</a:t>
            </a:r>
            <a:r>
              <a:rPr lang="zh-CN" altLang="en-US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方案</a:t>
            </a:r>
            <a:endParaRPr lang="zh-CN" altLang="en-US" dirty="0">
              <a:solidFill>
                <a:srgbClr val="333F50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31" name="矩形 30"/>
          <p:cNvSpPr/>
          <p:nvPr>
            <p:custDataLst>
              <p:tags r:id="rId1"/>
            </p:custDataLst>
          </p:nvPr>
        </p:nvSpPr>
        <p:spPr>
          <a:xfrm>
            <a:off x="697230" y="1205865"/>
            <a:ext cx="3328035" cy="530606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CA8F45"/>
                </a:gs>
                <a:gs pos="83000">
                  <a:srgbClr val="CA8F45"/>
                </a:gs>
                <a:gs pos="100000">
                  <a:srgbClr val="CA8F45"/>
                </a:gs>
              </a:gsLst>
              <a:lin ang="162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4431665" y="1205865"/>
            <a:ext cx="3328035" cy="530606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333F50"/>
                </a:gs>
                <a:gs pos="83000">
                  <a:srgbClr val="333F50"/>
                </a:gs>
                <a:gs pos="100000">
                  <a:srgbClr val="333F50"/>
                </a:gs>
              </a:gsLst>
              <a:lin ang="162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8166100" y="1265555"/>
            <a:ext cx="3328035" cy="530606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CA8F45"/>
                </a:gs>
                <a:gs pos="83000">
                  <a:srgbClr val="CA8F45"/>
                </a:gs>
                <a:gs pos="100000">
                  <a:srgbClr val="CA8F45"/>
                </a:gs>
              </a:gsLst>
              <a:lin ang="162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367665" y="1394460"/>
            <a:ext cx="558165" cy="1373505"/>
          </a:xfrm>
          <a:prstGeom prst="roundRect">
            <a:avLst/>
          </a:prstGeom>
          <a:solidFill>
            <a:srgbClr val="CA8F45"/>
          </a:solidFill>
          <a:ln>
            <a:solidFill>
              <a:srgbClr val="CA8F4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51790" y="1394460"/>
            <a:ext cx="551815" cy="15697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研究方案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1127760" y="1265555"/>
            <a:ext cx="2555875" cy="651510"/>
          </a:xfrm>
          <a:prstGeom prst="rect">
            <a:avLst/>
          </a:prstGeom>
          <a:solidFill>
            <a:srgbClr val="333F50"/>
          </a:solidFill>
          <a:ln>
            <a:solidFill>
              <a:srgbClr val="333F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27760" y="1205230"/>
            <a:ext cx="2557145" cy="712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</a:rPr>
              <a:t>问题一</a:t>
            </a:r>
            <a:r>
              <a:rPr lang="zh-CN" altLang="en-US" sz="2000" b="1">
                <a:solidFill>
                  <a:schemeClr val="bg1"/>
                </a:solidFill>
              </a:rPr>
              <a:t>：</a:t>
            </a:r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  <a:sym typeface="+mn-ea"/>
              </a:rPr>
              <a:t>教学答疑资源紧缺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09795" y="1394460"/>
            <a:ext cx="2557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</a:rPr>
              <a:t>问题一</a:t>
            </a:r>
            <a:r>
              <a:rPr lang="zh-CN" altLang="en-US" b="1">
                <a:solidFill>
                  <a:schemeClr val="bg1"/>
                </a:solidFill>
              </a:rPr>
              <a:t>：</a:t>
            </a:r>
            <a:r>
              <a:rPr lang="zh-CN" altLang="en-US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  <a:sym typeface="+mn-ea"/>
              </a:rPr>
              <a:t>教学答疑资源紧缺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4709160" y="1265555"/>
            <a:ext cx="2760980" cy="651510"/>
          </a:xfrm>
          <a:prstGeom prst="rect">
            <a:avLst/>
          </a:prstGeom>
          <a:solidFill>
            <a:srgbClr val="333F50"/>
          </a:solidFill>
          <a:ln>
            <a:solidFill>
              <a:srgbClr val="333F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705985" y="1265555"/>
            <a:ext cx="2847975" cy="568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</a:rPr>
              <a:t>问题二</a:t>
            </a:r>
            <a:r>
              <a:rPr lang="zh-CN" altLang="en-US" sz="2000" b="1">
                <a:solidFill>
                  <a:schemeClr val="bg1"/>
                </a:solidFill>
              </a:rPr>
              <a:t>：</a:t>
            </a:r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  <a:sym typeface="+mn-ea"/>
              </a:rPr>
              <a:t>实验枯燥单一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06460" y="1470025"/>
            <a:ext cx="2557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</a:rPr>
              <a:t>问题一</a:t>
            </a:r>
            <a:r>
              <a:rPr lang="zh-CN" altLang="en-US" b="1">
                <a:solidFill>
                  <a:schemeClr val="bg1"/>
                </a:solidFill>
              </a:rPr>
              <a:t>：</a:t>
            </a:r>
            <a:r>
              <a:rPr lang="zh-CN" altLang="en-US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  <a:sym typeface="+mn-ea"/>
              </a:rPr>
              <a:t>教学答疑资源紧缺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8630920" y="1341120"/>
            <a:ext cx="2555875" cy="651510"/>
          </a:xfrm>
          <a:prstGeom prst="rect">
            <a:avLst/>
          </a:prstGeom>
          <a:solidFill>
            <a:srgbClr val="333F50"/>
          </a:solidFill>
          <a:ln>
            <a:solidFill>
              <a:srgbClr val="333F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613775" y="1341120"/>
            <a:ext cx="25571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</a:rPr>
              <a:t>问题三</a:t>
            </a:r>
            <a:r>
              <a:rPr lang="zh-CN" altLang="en-US" sz="2000" b="1">
                <a:solidFill>
                  <a:schemeClr val="bg1"/>
                </a:solidFill>
              </a:rPr>
              <a:t>：</a:t>
            </a:r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 8" panose="020B0502040204020203" pitchFamily="34" charset="0"/>
                <a:sym typeface="+mn-ea"/>
              </a:rPr>
              <a:t>装置自动化程度低</a:t>
            </a:r>
            <a:endParaRPr lang="zh-CN" altLang="en-US" sz="2000">
              <a:solidFill>
                <a:schemeClr val="bg1"/>
              </a:solidFill>
            </a:endParaRPr>
          </a:p>
        </p:txBody>
      </p:sp>
      <p:pic>
        <p:nvPicPr>
          <p:cNvPr id="20" name="图片 19"/>
          <p:cNvPicPr/>
          <p:nvPr/>
        </p:nvPicPr>
        <p:blipFill>
          <a:blip r:embed="rId7"/>
          <a:srcRect l="40104" t="27277" r="30229" b="35102"/>
          <a:stretch>
            <a:fillRect/>
          </a:stretch>
        </p:blipFill>
        <p:spPr>
          <a:xfrm>
            <a:off x="4870450" y="2376170"/>
            <a:ext cx="2449830" cy="187071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>
            <a:clrChange>
              <a:clrFrom>
                <a:srgbClr val="FEFDFB">
                  <a:alpha val="100000"/>
                </a:srgbClr>
              </a:clrFrom>
              <a:clrTo>
                <a:srgbClr val="FEFDFB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36440" y="5327650"/>
            <a:ext cx="3430270" cy="134112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861560" y="5614670"/>
            <a:ext cx="2608580" cy="767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 AI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中心条纹识别模型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，辅助寻找条纹中心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/>
          <p:nvPr/>
        </p:nvPicPr>
        <p:blipFill>
          <a:blip r:embed="rId9"/>
          <a:stretch>
            <a:fillRect/>
          </a:stretch>
        </p:blipFill>
        <p:spPr>
          <a:xfrm>
            <a:off x="1177290" y="2047875"/>
            <a:ext cx="2439035" cy="291719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>
            <a:clrChange>
              <a:clrFrom>
                <a:srgbClr val="FCFDFF">
                  <a:alpha val="100000"/>
                </a:srgbClr>
              </a:clrFrom>
              <a:clrTo>
                <a:srgbClr val="FCFD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4365" y="5340350"/>
            <a:ext cx="3390900" cy="135699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076325" y="5585460"/>
            <a:ext cx="2608580" cy="767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学生端智能体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辅助实验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，缓解高校教师指导资源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紧缺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0735" y="3602355"/>
            <a:ext cx="1570355" cy="179832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0">
            <a:clrChange>
              <a:clrFrom>
                <a:srgbClr val="FCFDFF">
                  <a:alpha val="100000"/>
                </a:srgbClr>
              </a:clrFrom>
              <a:clrTo>
                <a:srgbClr val="FCFD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35950" y="5340350"/>
            <a:ext cx="3390900" cy="135699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8575040" y="5585460"/>
            <a:ext cx="2757805" cy="767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电机驱动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千分尺调节，视觉系统实时回传位置，实现图像与位置的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实时统一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/>
          <p:nvPr/>
        </p:nvPicPr>
        <p:blipFill>
          <a:blip r:embed="rId12"/>
          <a:srcRect l="28789" t="18957" r="23703" b="6653"/>
          <a:stretch>
            <a:fillRect/>
          </a:stretch>
        </p:blipFill>
        <p:spPr>
          <a:xfrm rot="16200000" flipV="1">
            <a:off x="8913495" y="1824990"/>
            <a:ext cx="923290" cy="203009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0565765" y="2381250"/>
            <a:ext cx="728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改良前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565765" y="4046855"/>
            <a:ext cx="728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改良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后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赛题解读与研究方案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占位符 5"/>
          <p:cNvSpPr txBox="1"/>
          <p:nvPr/>
        </p:nvSpPr>
        <p:spPr>
          <a:xfrm>
            <a:off x="1127760" y="193675"/>
            <a:ext cx="7905750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赛题解读与研究方案</a:t>
            </a:r>
            <a:r>
              <a:rPr lang="en-US" altLang="zh-CN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/  03.</a:t>
            </a:r>
            <a:r>
              <a:rPr lang="zh-CN" altLang="en-US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研究</a:t>
            </a:r>
            <a:r>
              <a:rPr lang="zh-CN" altLang="en-US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方案</a:t>
            </a:r>
            <a:endParaRPr lang="zh-CN" altLang="en-US" dirty="0">
              <a:solidFill>
                <a:srgbClr val="333F50"/>
              </a:solidFill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10278"/>
          <a:stretch>
            <a:fillRect/>
          </a:stretch>
        </p:blipFill>
        <p:spPr>
          <a:xfrm>
            <a:off x="392430" y="1064895"/>
            <a:ext cx="5714365" cy="384556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2"/>
          <a:srcRect l="18213" t="43692" b="5831"/>
          <a:stretch>
            <a:fillRect/>
          </a:stretch>
        </p:blipFill>
        <p:spPr>
          <a:xfrm>
            <a:off x="3103880" y="4910455"/>
            <a:ext cx="3589020" cy="17938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b="40090"/>
          <a:stretch>
            <a:fillRect/>
          </a:stretch>
        </p:blipFill>
        <p:spPr>
          <a:xfrm>
            <a:off x="-137160" y="4059555"/>
            <a:ext cx="3309620" cy="264477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 rot="5400000">
            <a:off x="4509770" y="2661920"/>
            <a:ext cx="3845560" cy="6515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142355" y="1059815"/>
            <a:ext cx="613410" cy="38188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ctr"/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实验装置图（俯视）</a:t>
            </a: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4855" y="2968625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847340" y="2449195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980565" y="4413885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93770" y="389763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033895" y="1705610"/>
            <a:ext cx="48228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①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————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白炽灯光源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033895" y="2477770"/>
            <a:ext cx="48228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② ————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迈克尔逊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干涉仪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33895" y="3249930"/>
            <a:ext cx="48228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Calibri" panose="020F0502020204030204" charset="0"/>
                <a:ea typeface="微软雅黑" panose="020B0503020204020204" charset="-122"/>
              </a:rPr>
              <a:t>③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———— CCD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相机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33895" y="4022090"/>
            <a:ext cx="48228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④</a:t>
            </a:r>
            <a:r>
              <a:rPr lang="en-US" altLang="zh-CN" sz="2400">
                <a:latin typeface="Calibri" panose="020F0502020204030204" charset="0"/>
                <a:ea typeface="微软雅黑" panose="020B0503020204020204" charset="-122"/>
              </a:rPr>
              <a:t>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————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动镜辅助调节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模块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33895" y="4794250"/>
            <a:ext cx="48228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⑤</a:t>
            </a:r>
            <a:r>
              <a:rPr lang="en-US" altLang="zh-CN" sz="2400">
                <a:latin typeface="Calibri" panose="020F0502020204030204" charset="0"/>
                <a:ea typeface="微软雅黑" panose="020B0503020204020204" charset="-122"/>
              </a:rPr>
              <a:t>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————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升降台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033895" y="5566410"/>
            <a:ext cx="48228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⑥</a:t>
            </a:r>
            <a:r>
              <a:rPr lang="en-US" altLang="zh-CN" sz="2400">
                <a:latin typeface="Calibri" panose="020F0502020204030204" charset="0"/>
                <a:ea typeface="微软雅黑" panose="020B0503020204020204" charset="-122"/>
              </a:rPr>
              <a:t>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————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计算机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处理终端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624965" y="6026785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⑥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411220" y="3839845"/>
            <a:ext cx="3044190" cy="236855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461635" y="319913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lang="zh-CN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 38"/>
          <p:cNvSpPr/>
          <p:nvPr/>
        </p:nvSpPr>
        <p:spPr>
          <a:xfrm>
            <a:off x="0" y="1298448"/>
            <a:ext cx="4733544" cy="4261103"/>
          </a:xfrm>
          <a:prstGeom prst="rect">
            <a:avLst/>
          </a:prstGeom>
          <a:solidFill>
            <a:srgbClr val="333F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" name="rect 40"/>
          <p:cNvSpPr/>
          <p:nvPr/>
        </p:nvSpPr>
        <p:spPr>
          <a:xfrm>
            <a:off x="10344911" y="1298448"/>
            <a:ext cx="1847087" cy="4261103"/>
          </a:xfrm>
          <a:prstGeom prst="rect">
            <a:avLst/>
          </a:prstGeom>
          <a:solidFill>
            <a:srgbClr val="CA8F4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3797808" y="2493264"/>
            <a:ext cx="2043958" cy="2058437"/>
            <a:chOff x="0" y="0"/>
            <a:chExt cx="2043958" cy="205843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2043958" cy="2058437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-12700" y="-12700"/>
              <a:ext cx="2069464" cy="2122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31825" algn="l" rtl="0" eaLnBrk="0">
                <a:lnSpc>
                  <a:spcPct val="78000"/>
                </a:lnSpc>
                <a:spcBef>
                  <a:spcPts val="0"/>
                </a:spcBef>
              </a:pPr>
              <a:r>
                <a:rPr sz="4800" kern="0" spc="-7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lang="en-US" sz="4800" kern="0" spc="-7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sz="4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49250" algn="l" rtl="0" eaLnBrk="0">
                <a:lnSpc>
                  <a:spcPct val="74000"/>
                </a:lnSpc>
                <a:spcBef>
                  <a:spcPts val="570"/>
                </a:spcBef>
              </a:pPr>
              <a:r>
                <a:rPr sz="2000" kern="0" spc="-2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CHAPTER</a:t>
              </a:r>
              <a:endParaRPr sz="2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6" name="textbox 46"/>
          <p:cNvSpPr/>
          <p:nvPr/>
        </p:nvSpPr>
        <p:spPr>
          <a:xfrm>
            <a:off x="6182994" y="3076752"/>
            <a:ext cx="3090659" cy="675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altLang="en-US" sz="4800" dirty="0">
                <a:solidFill>
                  <a:srgbClr val="CA8F4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实验原理</a:t>
            </a:r>
            <a:endParaRPr lang="zh-CN" altLang="en-US" sz="4800" kern="0" spc="-20" dirty="0">
              <a:solidFill>
                <a:srgbClr val="7F7F7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0" name="矩形 29"/>
          <p:cNvSpPr/>
          <p:nvPr/>
        </p:nvSpPr>
        <p:spPr>
          <a:xfrm>
            <a:off x="322580" y="5625465"/>
            <a:ext cx="11343005" cy="1086485"/>
          </a:xfrm>
          <a:prstGeom prst="rect">
            <a:avLst/>
          </a:prstGeom>
          <a:solidFill>
            <a:srgbClr val="333F50"/>
          </a:solidFill>
          <a:ln>
            <a:solidFill>
              <a:srgbClr val="333F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8920" y="1077595"/>
            <a:ext cx="3799205" cy="3759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 ——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平面镜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’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之间夹角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分光板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补偿板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定平面镜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动平面镜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’ —— M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动镜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所成虚像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——M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’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间空气层厚度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 —— M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en-US" altLang="zh-CN" sz="16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’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相交点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759710" y="1021080"/>
            <a:ext cx="3785870" cy="2836545"/>
            <a:chOff x="3682" y="2021"/>
            <a:chExt cx="7600" cy="5457"/>
          </a:xfrm>
        </p:grpSpPr>
        <p:sp>
          <p:nvSpPr>
            <p:cNvPr id="8" name="矩形 7"/>
            <p:cNvSpPr/>
            <p:nvPr/>
          </p:nvSpPr>
          <p:spPr>
            <a:xfrm>
              <a:off x="4711" y="6534"/>
              <a:ext cx="5541" cy="944"/>
            </a:xfrm>
            <a:prstGeom prst="rect">
              <a:avLst/>
            </a:prstGeom>
            <a:solidFill>
              <a:srgbClr val="333F50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880" y="6532"/>
              <a:ext cx="5203" cy="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白光定域干涉示意图</a:t>
              </a:r>
              <a:endPara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6" name="图片 5" descr="图1_第1页_非接触法自动测量薄膜厚度_彭真真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682" y="2130"/>
              <a:ext cx="7600" cy="4343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4712" y="2021"/>
              <a:ext cx="5540" cy="4488"/>
            </a:xfrm>
            <a:prstGeom prst="rect">
              <a:avLst/>
            </a:prstGeom>
            <a:noFill/>
            <a:ln w="28575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108585" y="3902710"/>
            <a:ext cx="3082925" cy="133540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sx="101000" sy="101000" algn="tl" rotWithShape="0">
              <a:srgbClr val="333F5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08585" y="3366770"/>
            <a:ext cx="3082925" cy="535940"/>
          </a:xfrm>
          <a:prstGeom prst="rect">
            <a:avLst/>
          </a:prstGeom>
          <a:solidFill>
            <a:srgbClr val="333F50"/>
          </a:solidFill>
          <a:ln>
            <a:solidFill>
              <a:srgbClr val="333F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53695" y="3435350"/>
            <a:ext cx="2592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等厚干涉示意图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6102985" y="775970"/>
                <a:ext cx="5831840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      </a:t>
                </a:r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'</m:t>
                    </m:r>
                  </m:oMath>
                </a14:m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之间有一个很小的角度 α时，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'</m:t>
                    </m:r>
                  </m:oMath>
                </a14:m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间为一楔形空气薄层，如图所示。设某光线经两个面反射，得光线(1)和(2)。它们在镜面附近相交，产生定域干涉。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985" y="775970"/>
                <a:ext cx="5831840" cy="11988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" y="3906520"/>
            <a:ext cx="3093495" cy="1310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6113145" y="1974850"/>
                <a:ext cx="5822315" cy="3110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       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当 α很小时，如前所述，由一条入射光线反射出的光线(1)和(2)的光程差，可近似地表示为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𝜹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𝟐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𝒅</m:t>
                    </m:r>
                    <m:func>
                      <m:func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其中 </a:t>
                </a:r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d 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是观察点附近的空气层厚度，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为入射角。由于两个反射面都是平面，</a:t>
                </a:r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d 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相同的点在同一条直线上，看到的应是直条纹。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endParaRPr lang="zh-CN" altLang="en-US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     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与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'</m:t>
                    </m:r>
                  </m:oMath>
                </a14:m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相交</a:t>
                </a:r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M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处，</a:t>
                </a:r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d=0，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再考虑到分束镜表面反射时的半波损失，应为暗条纹，称中央条纹。当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角较小时，有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US" altLang="zh-CN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≈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, 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𝜹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≈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𝒅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45" y="1974850"/>
                <a:ext cx="5822315" cy="31108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815" y="4095115"/>
            <a:ext cx="1797050" cy="9334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677545" y="5428615"/>
            <a:ext cx="11058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17245" y="5833110"/>
            <a:ext cx="10445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d=0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附近，可用白光光源观察到干涉条纹。这些条纹是由不同波长的光干涉结果叠加而成的。除中央条纹外，其他条纹都是左右对称的彩色条纹。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2" name="对象 3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21155" y="5377180"/>
          <a:ext cx="26162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6" imgW="114300" imgH="215900" progId="Equation.KSEE3">
                  <p:embed/>
                </p:oleObj>
              </mc:Choice>
              <mc:Fallback>
                <p:oleObj name="" r:id="rId6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21155" y="5377180"/>
                        <a:ext cx="26162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圆角矩形 32"/>
          <p:cNvSpPr/>
          <p:nvPr/>
        </p:nvSpPr>
        <p:spPr>
          <a:xfrm>
            <a:off x="817245" y="5415915"/>
            <a:ext cx="1623060" cy="381000"/>
          </a:xfrm>
          <a:prstGeom prst="roundRect">
            <a:avLst/>
          </a:prstGeom>
          <a:solidFill>
            <a:srgbClr val="CA8F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16610" y="542417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333F50"/>
                </a:solidFill>
                <a:latin typeface="微软雅黑" panose="020B0503020204020204" charset="-122"/>
                <a:ea typeface="微软雅黑" panose="020B0503020204020204" charset="-122"/>
              </a:rPr>
              <a:t>白光等厚干涉</a:t>
            </a:r>
            <a:endParaRPr lang="zh-CN" altLang="en-US" b="1">
              <a:solidFill>
                <a:srgbClr val="333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5" name="平行四边形 1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实验原理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 01.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白光等厚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干涉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-264904" y="3634943"/>
            <a:ext cx="3960495" cy="1037590"/>
            <a:chOff x="4328" y="6747"/>
            <a:chExt cx="6237" cy="1634"/>
          </a:xfrm>
        </p:grpSpPr>
        <p:sp>
          <p:nvSpPr>
            <p:cNvPr id="7" name="矩形 6"/>
            <p:cNvSpPr/>
            <p:nvPr/>
          </p:nvSpPr>
          <p:spPr>
            <a:xfrm>
              <a:off x="5508" y="7452"/>
              <a:ext cx="5057" cy="929"/>
            </a:xfrm>
            <a:prstGeom prst="rect">
              <a:avLst/>
            </a:prstGeom>
            <a:solidFill>
              <a:srgbClr val="333F50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插入介质片后的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干涉示意图</a:t>
              </a:r>
              <a:endPara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zh-CN" altLang="en-US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328" y="6747"/>
              <a:ext cx="520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白光照明等厚干涉示意图</a:t>
              </a:r>
              <a:endPara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4429760" y="1019810"/>
            <a:ext cx="16510" cy="5593080"/>
          </a:xfrm>
          <a:prstGeom prst="line">
            <a:avLst/>
          </a:prstGeom>
          <a:ln w="28575">
            <a:solidFill>
              <a:schemeClr val="bg2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084" y="902286"/>
            <a:ext cx="3211507" cy="31868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5143609" y="1019539"/>
                <a:ext cx="48990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插入前：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zh-CN" b="1" dirty="0"/>
                  <a:t>=2h+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endParaRPr lang="zh-CN" altLang="en-US" b="1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609" y="1019539"/>
                <a:ext cx="4899004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" t="-99" r="2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5143609" y="1538161"/>
                <a:ext cx="622821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/>
                  <a:t>插入后：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endParaRPr lang="zh-CN" altLang="en-US" b="1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609" y="1538161"/>
                <a:ext cx="6228214" cy="368300"/>
              </a:xfrm>
              <a:prstGeom prst="rect">
                <a:avLst/>
              </a:prstGeom>
              <a:blipFill rotWithShape="1">
                <a:blip r:embed="rId3"/>
                <a:stretch>
                  <a:fillRect l="-2" t="-52" r="4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5143609" y="2056783"/>
                <a:ext cx="4792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光程差变化：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𝜹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endParaRPr lang="zh-CN" altLang="en-US" b="1" dirty="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609" y="2056783"/>
                <a:ext cx="479238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" t="-5" r="3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143609" y="2575405"/>
                <a:ext cx="48824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介质的厚度：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1" i="1" dirty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𝛅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′)/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b="1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609" y="2575405"/>
                <a:ext cx="4882494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" t="-130" r="2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609" y="3033869"/>
            <a:ext cx="2993838" cy="2198195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5164246" y="5213898"/>
            <a:ext cx="2973201" cy="585993"/>
          </a:xfrm>
          <a:prstGeom prst="rect">
            <a:avLst/>
          </a:prstGeom>
          <a:solidFill>
            <a:srgbClr val="333F50"/>
          </a:solidFill>
          <a:ln>
            <a:solidFill>
              <a:srgbClr val="333F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干涉中心条纹检测示意图</a:t>
            </a:r>
            <a:endParaRPr lang="zh-CN" altLang="en-US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8209553" y="2996233"/>
            <a:ext cx="32821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插入介质后光程差变化，条纹位置移动，启动电机重新调整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+mn-ea"/>
              </a:rPr>
              <a:t>的距离，当中心条纹重新回到视域中央，由</a:t>
            </a:r>
            <a:r>
              <a:rPr lang="en-US" altLang="zh-CN" dirty="0">
                <a:latin typeface="+mn-ea"/>
              </a:rPr>
              <a:t>ai</a:t>
            </a:r>
            <a:r>
              <a:rPr lang="zh-CN" altLang="en-US" dirty="0">
                <a:latin typeface="+mn-ea"/>
              </a:rPr>
              <a:t>检测并停止电机转动，由程序读取电机移动距离，即为介质片插入引起的光程差变化，由此计算出介质厚度。</a:t>
            </a:r>
            <a:endParaRPr lang="zh-CN" altLang="en-US" dirty="0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7103" y="4672533"/>
            <a:ext cx="3178488" cy="34100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——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白炽灯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——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毛玻璃片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—— CCD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相机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 —— M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所成虚像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 —— a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的等效光线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n——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介质片的折射率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e——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介质片的厚度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5" name="平行四边形 1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平行四边形 2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5"/>
          <p:cNvSpPr txBox="1"/>
          <p:nvPr/>
        </p:nvSpPr>
        <p:spPr>
          <a:xfrm>
            <a:off x="576580" y="289560"/>
            <a:ext cx="8214995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2760" marR="0" lvl="0" indent="0" algn="l" defTabSz="914400" rtl="0" eaLnBrk="0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实验原理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 02.</a:t>
            </a:r>
            <a:r>
              <a:rPr lang="zh-CN" altLang="en-US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已知折射率的介质片厚度测量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551558" y="1062265"/>
            <a:ext cx="6097136" cy="528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2760" marR="0" lvl="0" indent="0" algn="l" defTabSz="914400" rtl="0" eaLnBrk="0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2164" y="4994787"/>
            <a:ext cx="3211195" cy="589915"/>
          </a:xfrm>
          <a:prstGeom prst="rect">
            <a:avLst/>
          </a:prstGeom>
          <a:solidFill>
            <a:srgbClr val="333F50"/>
          </a:solidFill>
          <a:ln>
            <a:solidFill>
              <a:srgbClr val="333F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插入介质片后的干涉示意图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2643" y="5819652"/>
            <a:ext cx="3178488" cy="34100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l-GR" altLang="zh-CN" b="0" i="0" dirty="0">
                <a:solidFill>
                  <a:srgbClr val="000000"/>
                </a:solidFill>
                <a:effectLst/>
                <a:latin typeface="Helvetica Neue"/>
              </a:rPr>
              <a:t>θ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介质片旋转角度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427855" y="1264920"/>
            <a:ext cx="16510" cy="5593080"/>
          </a:xfrm>
          <a:prstGeom prst="line">
            <a:avLst/>
          </a:prstGeom>
          <a:ln w="28575">
            <a:solidFill>
              <a:schemeClr val="bg2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389" y="1844646"/>
            <a:ext cx="3202425" cy="315014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206" y="1123286"/>
            <a:ext cx="4744112" cy="23053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519197" y="3477815"/>
                <a:ext cx="42147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斯涅耳定律：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𝑛𝑠𝑖𝑛𝑖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197" y="3477815"/>
                <a:ext cx="4214718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0" t="-150" r="15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519197" y="3957908"/>
                <a:ext cx="3584933" cy="463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光程差变化：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𝑐𝑜𝑠𝑖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197" y="3957908"/>
                <a:ext cx="3584933" cy="463012"/>
              </a:xfrm>
              <a:prstGeom prst="rect">
                <a:avLst/>
              </a:prstGeom>
              <a:blipFill rotWithShape="1">
                <a:blip r:embed="rId4"/>
                <a:stretch>
                  <a:fillRect l="-11" t="-127" r="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5519197" y="4494010"/>
                <a:ext cx="38211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三角恒等关系</a:t>
                </a:r>
                <a:r>
                  <a:rPr lang="en-US" altLang="zh-CN" dirty="0"/>
                  <a:t>: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𝑠𝑖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𝑐𝑜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197" y="4494010"/>
                <a:ext cx="382110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1" t="-31" r="2" b="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5519197" y="4994875"/>
                <a:ext cx="47441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旋转角较小时的近似</a:t>
                </a:r>
                <a:r>
                  <a:rPr lang="en-US" altLang="zh-CN" dirty="0"/>
                  <a:t>: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197" y="4994875"/>
                <a:ext cx="474411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9" t="-162" r="9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5519197" y="5365848"/>
                <a:ext cx="3821102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旋转角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Helvetica Neue"/>
                  </a:rPr>
                  <a:t>θ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Helvetica Neue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−(</m:t>
                        </m:r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zh-CN" alt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𝛿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197" y="5365848"/>
                <a:ext cx="3821102" cy="656013"/>
              </a:xfrm>
              <a:prstGeom prst="rect">
                <a:avLst/>
              </a:prstGeom>
              <a:blipFill rotWithShape="1">
                <a:blip r:embed="rId7"/>
                <a:stretch>
                  <a:fillRect l="-11" t="-15" r="2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9" name="直接连接符 8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5"/>
          <p:cNvSpPr txBox="1"/>
          <p:nvPr/>
        </p:nvSpPr>
        <p:spPr>
          <a:xfrm>
            <a:off x="576580" y="289560"/>
            <a:ext cx="8214995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2760" marR="0" lvl="0" indent="0" algn="l" defTabSz="914400" rtl="0" eaLnBrk="0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实验原理</a:t>
            </a:r>
            <a:r>
              <a:rPr kumimoji="0" lang="en-US" altLang="zh-CN" sz="29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 03.</a:t>
            </a:r>
            <a:r>
              <a:rPr lang="zh-CN" altLang="en-US" sz="290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介质片旋转角度测量</a:t>
            </a:r>
            <a:endParaRPr kumimoji="0" lang="zh-CN" altLang="en-US" sz="29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 1032"/>
          <p:cNvSpPr/>
          <p:nvPr/>
        </p:nvSpPr>
        <p:spPr>
          <a:xfrm>
            <a:off x="0" y="1298448"/>
            <a:ext cx="4733544" cy="4261103"/>
          </a:xfrm>
          <a:prstGeom prst="rect">
            <a:avLst/>
          </a:prstGeom>
          <a:solidFill>
            <a:srgbClr val="333F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34" name="rect 1034"/>
          <p:cNvSpPr/>
          <p:nvPr/>
        </p:nvSpPr>
        <p:spPr>
          <a:xfrm>
            <a:off x="10344911" y="1298448"/>
            <a:ext cx="1847087" cy="4261103"/>
          </a:xfrm>
          <a:prstGeom prst="rect">
            <a:avLst/>
          </a:prstGeom>
          <a:solidFill>
            <a:srgbClr val="CA8F4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92" name="group 92"/>
          <p:cNvGrpSpPr/>
          <p:nvPr/>
        </p:nvGrpSpPr>
        <p:grpSpPr>
          <a:xfrm rot="21600000">
            <a:off x="3797808" y="2493264"/>
            <a:ext cx="2043958" cy="2058437"/>
            <a:chOff x="0" y="0"/>
            <a:chExt cx="2043958" cy="2058437"/>
          </a:xfrm>
        </p:grpSpPr>
        <p:pic>
          <p:nvPicPr>
            <p:cNvPr id="1036" name="picture 103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2043958" cy="2058437"/>
            </a:xfrm>
            <a:prstGeom prst="rect">
              <a:avLst/>
            </a:prstGeom>
          </p:spPr>
        </p:pic>
        <p:sp>
          <p:nvSpPr>
            <p:cNvPr id="1038" name="textbox 1038"/>
            <p:cNvSpPr/>
            <p:nvPr/>
          </p:nvSpPr>
          <p:spPr>
            <a:xfrm>
              <a:off x="-12700" y="-12700"/>
              <a:ext cx="2069464" cy="2122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31825" algn="l" rtl="0" eaLnBrk="0">
                <a:lnSpc>
                  <a:spcPct val="78000"/>
                </a:lnSpc>
                <a:spcBef>
                  <a:spcPts val="0"/>
                </a:spcBef>
              </a:pPr>
              <a:r>
                <a:rPr sz="4800" kern="0" spc="-7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lang="en-US" sz="4800" kern="0" spc="-7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sz="4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49250" algn="l" rtl="0" eaLnBrk="0">
                <a:lnSpc>
                  <a:spcPct val="74000"/>
                </a:lnSpc>
                <a:spcBef>
                  <a:spcPts val="570"/>
                </a:spcBef>
              </a:pPr>
              <a:r>
                <a:rPr sz="2000" kern="0" spc="-2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CHAPTER</a:t>
              </a:r>
              <a:endParaRPr sz="2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40" name="textbox 1040"/>
          <p:cNvSpPr/>
          <p:nvPr/>
        </p:nvSpPr>
        <p:spPr>
          <a:xfrm>
            <a:off x="6038215" y="2807335"/>
            <a:ext cx="5153025" cy="621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2700" algn="l" rtl="0" eaLnBrk="0">
              <a:lnSpc>
                <a:spcPct val="89000"/>
              </a:lnSpc>
              <a:buClrTx/>
              <a:buSzTx/>
              <a:buFontTx/>
            </a:pPr>
            <a:r>
              <a:rPr lang="zh-CN" altLang="en-US" sz="4800" dirty="0">
                <a:solidFill>
                  <a:srgbClr val="CA8F4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基于AI的辅助</a:t>
            </a:r>
            <a:endParaRPr lang="zh-CN" altLang="en-US" sz="4800" dirty="0">
              <a:solidFill>
                <a:srgbClr val="CA8F45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2700" algn="l" rtl="0" eaLnBrk="0">
              <a:lnSpc>
                <a:spcPct val="89000"/>
              </a:lnSpc>
              <a:buClrTx/>
              <a:buSzTx/>
              <a:buFontTx/>
            </a:pPr>
            <a:r>
              <a:rPr lang="zh-CN" altLang="en-US" sz="4800" dirty="0">
                <a:solidFill>
                  <a:srgbClr val="CA8F4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系统设计</a:t>
            </a:r>
            <a:endParaRPr lang="zh-CN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2" name="textbox 1042"/>
          <p:cNvSpPr/>
          <p:nvPr/>
        </p:nvSpPr>
        <p:spPr>
          <a:xfrm>
            <a:off x="11107321" y="6467576"/>
            <a:ext cx="168910" cy="170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kern="0" spc="-1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44</a:t>
            </a:r>
            <a:endParaRPr sz="1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92430" y="982345"/>
            <a:ext cx="107289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AI如何辅助迈克尔逊干涉实验？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877824"/>
            <a:ext cx="1219200" cy="48768"/>
          </a:xfrm>
          <a:prstGeom prst="rect">
            <a:avLst/>
          </a:prstGeom>
          <a:solidFill>
            <a:srgbClr val="333F50"/>
          </a:solidFill>
        </p:spPr>
      </p:sp>
      <p:sp>
        <p:nvSpPr>
          <p:cNvPr id="4" name="Text 2"/>
          <p:cNvSpPr/>
          <p:nvPr/>
        </p:nvSpPr>
        <p:spPr>
          <a:xfrm>
            <a:off x="7332345" y="1140079"/>
            <a:ext cx="1072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8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三大 AI 模块协同，辅助</a:t>
            </a:r>
            <a:r>
              <a:rPr lang="zh-CN" altLang="en-US" sz="18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白光</a:t>
            </a:r>
            <a:r>
              <a:rPr lang="en-US" sz="18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光学干涉实验</a:t>
            </a:r>
            <a:endParaRPr lang="en-US" sz="1865" dirty="0"/>
          </a:p>
        </p:txBody>
      </p:sp>
      <p:grpSp>
        <p:nvGrpSpPr>
          <p:cNvPr id="28" name="组合 27"/>
          <p:cNvGrpSpPr/>
          <p:nvPr>
            <p:custDataLst>
              <p:tags r:id="rId1"/>
            </p:custDataLst>
          </p:nvPr>
        </p:nvGrpSpPr>
        <p:grpSpPr>
          <a:xfrm>
            <a:off x="4327200" y="1645920"/>
            <a:ext cx="3560064" cy="3779520"/>
            <a:chOff x="548640" y="1645920"/>
            <a:chExt cx="3560064" cy="3779520"/>
          </a:xfrm>
        </p:grpSpPr>
        <p:sp>
          <p:nvSpPr>
            <p:cNvPr id="5" name="Shape 3"/>
            <p:cNvSpPr/>
            <p:nvPr>
              <p:custDataLst>
                <p:tags r:id="rId2"/>
              </p:custDataLst>
            </p:nvPr>
          </p:nvSpPr>
          <p:spPr>
            <a:xfrm>
              <a:off x="548640" y="1645920"/>
              <a:ext cx="3560064" cy="3779520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6" name="Shape 4"/>
            <p:cNvSpPr/>
            <p:nvPr>
              <p:custDataLst>
                <p:tags r:id="rId3"/>
              </p:custDataLst>
            </p:nvPr>
          </p:nvSpPr>
          <p:spPr>
            <a:xfrm>
              <a:off x="548640" y="1645920"/>
              <a:ext cx="3560064" cy="73152"/>
            </a:xfrm>
            <a:prstGeom prst="rect">
              <a:avLst/>
            </a:prstGeom>
            <a:solidFill>
              <a:srgbClr val="333F50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7" name="Shape 5"/>
            <p:cNvSpPr/>
            <p:nvPr>
              <p:custDataLst>
                <p:tags r:id="rId4"/>
              </p:custDataLst>
            </p:nvPr>
          </p:nvSpPr>
          <p:spPr>
            <a:xfrm>
              <a:off x="707136" y="1804416"/>
              <a:ext cx="536448" cy="536448"/>
            </a:xfrm>
            <a:prstGeom prst="ellipse">
              <a:avLst/>
            </a:prstGeom>
            <a:solidFill>
              <a:srgbClr val="EFF6FF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707136" y="1804416"/>
              <a:ext cx="536448" cy="5364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5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👁</a:t>
              </a:r>
              <a:endParaRPr lang="en-US" sz="2135" dirty="0"/>
            </a:p>
          </p:txBody>
        </p:sp>
        <p:sp>
          <p:nvSpPr>
            <p:cNvPr id="9" name="Text 7"/>
            <p:cNvSpPr/>
            <p:nvPr>
              <p:custDataLst>
                <p:tags r:id="rId5"/>
              </p:custDataLst>
            </p:nvPr>
          </p:nvSpPr>
          <p:spPr>
            <a:xfrm>
              <a:off x="1341120" y="1828800"/>
              <a:ext cx="2523744" cy="4876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2265" b="1" dirty="0">
                  <a:solidFill>
                    <a:srgbClr val="0F172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条纹视觉识别</a:t>
              </a:r>
              <a:endParaRPr lang="en-US" sz="2265" dirty="0"/>
            </a:p>
          </p:txBody>
        </p:sp>
        <p:sp>
          <p:nvSpPr>
            <p:cNvPr id="10" name="Shape 8"/>
            <p:cNvSpPr/>
            <p:nvPr>
              <p:custDataLst>
                <p:tags r:id="rId6"/>
              </p:custDataLst>
            </p:nvPr>
          </p:nvSpPr>
          <p:spPr>
            <a:xfrm>
              <a:off x="914400" y="2499360"/>
              <a:ext cx="2828544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1" name="Text 9"/>
            <p:cNvSpPr/>
            <p:nvPr>
              <p:custDataLst>
                <p:tags r:id="rId7"/>
              </p:custDataLst>
            </p:nvPr>
          </p:nvSpPr>
          <p:spPr>
            <a:xfrm>
              <a:off x="890016" y="2645664"/>
              <a:ext cx="2926080" cy="256032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457200" indent="-457200">
                <a:spcAft>
                  <a:spcPts val="1335"/>
                </a:spcAft>
                <a:buSzPct val="100000"/>
                <a:buChar char="•"/>
              </a:pPr>
              <a:r>
                <a:rPr lang="en-US" sz="1735" dirty="0" err="1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实时识别干涉条纹类别与状态</a:t>
              </a:r>
              <a:r>
                <a:rPr lang="zh-CN" altLang="en-US" sz="1735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（</a:t>
              </a:r>
              <a:r>
                <a:rPr lang="en-US" altLang="zh-CN" sz="1735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YOLO</a:t>
              </a:r>
              <a:r>
                <a:rPr lang="zh-CN" altLang="en-US" sz="1735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）</a:t>
              </a:r>
              <a:endParaRPr lang="en-US" sz="1735" dirty="0"/>
            </a:p>
            <a:p>
              <a:pPr marL="457200" indent="-457200">
                <a:spcAft>
                  <a:spcPts val="1335"/>
                </a:spcAft>
                <a:buSzPct val="100000"/>
                <a:buChar char="•"/>
              </a:pPr>
              <a:r>
                <a:rPr lang="en-US" sz="1735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精确定位中心条纹区域</a:t>
              </a:r>
              <a:endParaRPr lang="en-US" sz="1735" dirty="0"/>
            </a:p>
            <a:p>
              <a:pPr marL="457200" indent="-457200">
                <a:spcAft>
                  <a:spcPts val="1335"/>
                </a:spcAft>
                <a:buSzPct val="100000"/>
                <a:buChar char="•"/>
              </a:pPr>
              <a:r>
                <a:rPr lang="en-US" sz="1735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输出位置与置信度，减少判断差异</a:t>
              </a:r>
              <a:endParaRPr lang="en-US" sz="1735" dirty="0"/>
            </a:p>
          </p:txBody>
        </p:sp>
      </p:grpSp>
      <p:grpSp>
        <p:nvGrpSpPr>
          <p:cNvPr id="29" name="组合 28"/>
          <p:cNvGrpSpPr/>
          <p:nvPr>
            <p:custDataLst>
              <p:tags r:id="rId8"/>
            </p:custDataLst>
          </p:nvPr>
        </p:nvGrpSpPr>
        <p:grpSpPr>
          <a:xfrm>
            <a:off x="546735" y="1664335"/>
            <a:ext cx="3559810" cy="3698875"/>
            <a:chOff x="4328160" y="1645920"/>
            <a:chExt cx="3560064" cy="3779520"/>
          </a:xfrm>
        </p:grpSpPr>
        <p:sp>
          <p:nvSpPr>
            <p:cNvPr id="12" name="Shape 10"/>
            <p:cNvSpPr/>
            <p:nvPr>
              <p:custDataLst>
                <p:tags r:id="rId9"/>
              </p:custDataLst>
            </p:nvPr>
          </p:nvSpPr>
          <p:spPr>
            <a:xfrm>
              <a:off x="4328160" y="1645920"/>
              <a:ext cx="3560064" cy="3779520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3" name="Shape 11"/>
            <p:cNvSpPr/>
            <p:nvPr>
              <p:custDataLst>
                <p:tags r:id="rId10"/>
              </p:custDataLst>
            </p:nvPr>
          </p:nvSpPr>
          <p:spPr>
            <a:xfrm>
              <a:off x="4328160" y="1645920"/>
              <a:ext cx="3560064" cy="73152"/>
            </a:xfrm>
            <a:prstGeom prst="rect">
              <a:avLst/>
            </a:prstGeom>
            <a:solidFill>
              <a:srgbClr val="CA8F45"/>
            </a:solidFill>
          </p:spPr>
        </p:sp>
        <p:sp>
          <p:nvSpPr>
            <p:cNvPr id="14" name="Shape 12"/>
            <p:cNvSpPr/>
            <p:nvPr>
              <p:custDataLst>
                <p:tags r:id="rId11"/>
              </p:custDataLst>
            </p:nvPr>
          </p:nvSpPr>
          <p:spPr>
            <a:xfrm>
              <a:off x="4486656" y="1804416"/>
              <a:ext cx="536448" cy="536448"/>
            </a:xfrm>
            <a:prstGeom prst="ellipse">
              <a:avLst/>
            </a:prstGeom>
            <a:solidFill>
              <a:srgbClr val="F0FDFA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4486656" y="1804416"/>
              <a:ext cx="536448" cy="5364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5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🧠</a:t>
              </a:r>
              <a:endParaRPr lang="en-US" sz="2135" dirty="0"/>
            </a:p>
          </p:txBody>
        </p:sp>
        <p:sp>
          <p:nvSpPr>
            <p:cNvPr id="16" name="Text 14"/>
            <p:cNvSpPr/>
            <p:nvPr>
              <p:custDataLst>
                <p:tags r:id="rId12"/>
              </p:custDataLst>
            </p:nvPr>
          </p:nvSpPr>
          <p:spPr>
            <a:xfrm>
              <a:off x="5120640" y="1828800"/>
              <a:ext cx="2523744" cy="4876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2265" b="1" dirty="0">
                  <a:solidFill>
                    <a:srgbClr val="0F172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AI 实验助手</a:t>
              </a:r>
              <a:endParaRPr lang="en-US" sz="2265" dirty="0"/>
            </a:p>
          </p:txBody>
        </p:sp>
        <p:sp>
          <p:nvSpPr>
            <p:cNvPr id="17" name="Shape 15"/>
            <p:cNvSpPr/>
            <p:nvPr>
              <p:custDataLst>
                <p:tags r:id="rId13"/>
              </p:custDataLst>
            </p:nvPr>
          </p:nvSpPr>
          <p:spPr>
            <a:xfrm>
              <a:off x="4693920" y="2499360"/>
              <a:ext cx="2828544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8" name="Text 16"/>
            <p:cNvSpPr/>
            <p:nvPr>
              <p:custDataLst>
                <p:tags r:id="rId14"/>
              </p:custDataLst>
            </p:nvPr>
          </p:nvSpPr>
          <p:spPr>
            <a:xfrm>
              <a:off x="4669536" y="2645664"/>
              <a:ext cx="2926080" cy="256032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457200" indent="-457200">
                <a:spcAft>
                  <a:spcPts val="1335"/>
                </a:spcAft>
                <a:buSzPct val="100000"/>
                <a:buChar char="•"/>
              </a:pPr>
              <a:r>
                <a:rPr lang="en-US" sz="1735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大模型 + 本地知识库 RAG 驱动</a:t>
              </a:r>
              <a:endParaRPr lang="en-US" sz="1735" dirty="0"/>
            </a:p>
            <a:p>
              <a:pPr marL="457200" indent="-457200">
                <a:spcAft>
                  <a:spcPts val="1335"/>
                </a:spcAft>
                <a:buSzPct val="100000"/>
                <a:buChar char="•"/>
              </a:pPr>
              <a:r>
                <a:rPr lang="en-US" sz="1735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汇总设备状态，判断实验进度</a:t>
              </a:r>
              <a:endParaRPr lang="en-US" sz="1735" dirty="0"/>
            </a:p>
            <a:p>
              <a:pPr marL="457200" indent="-457200">
                <a:spcAft>
                  <a:spcPts val="1335"/>
                </a:spcAft>
                <a:buSzPct val="100000"/>
                <a:buChar char="•"/>
              </a:pPr>
              <a:r>
                <a:rPr lang="en-US" sz="1735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预习指导 · 过程辅助 · 误差计算 · 报告</a:t>
              </a:r>
              <a:endParaRPr lang="en-US" sz="1735" dirty="0"/>
            </a:p>
          </p:txBody>
        </p:sp>
      </p:grpSp>
      <p:grpSp>
        <p:nvGrpSpPr>
          <p:cNvPr id="30" name="组合 29"/>
          <p:cNvGrpSpPr/>
          <p:nvPr>
            <p:custDataLst>
              <p:tags r:id="rId15"/>
            </p:custDataLst>
          </p:nvPr>
        </p:nvGrpSpPr>
        <p:grpSpPr>
          <a:xfrm>
            <a:off x="8107680" y="1645920"/>
            <a:ext cx="3560064" cy="3779520"/>
            <a:chOff x="8107680" y="1645920"/>
            <a:chExt cx="3560064" cy="3779520"/>
          </a:xfrm>
        </p:grpSpPr>
        <p:sp>
          <p:nvSpPr>
            <p:cNvPr id="19" name="Shape 17"/>
            <p:cNvSpPr/>
            <p:nvPr>
              <p:custDataLst>
                <p:tags r:id="rId16"/>
              </p:custDataLst>
            </p:nvPr>
          </p:nvSpPr>
          <p:spPr>
            <a:xfrm>
              <a:off x="8107680" y="1645920"/>
              <a:ext cx="3560064" cy="3779520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0" name="Shape 18"/>
            <p:cNvSpPr/>
            <p:nvPr>
              <p:custDataLst>
                <p:tags r:id="rId17"/>
              </p:custDataLst>
            </p:nvPr>
          </p:nvSpPr>
          <p:spPr>
            <a:xfrm>
              <a:off x="8107680" y="1645920"/>
              <a:ext cx="3560064" cy="73152"/>
            </a:xfrm>
            <a:prstGeom prst="rect">
              <a:avLst/>
            </a:prstGeom>
            <a:solidFill>
              <a:srgbClr val="CA8F4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1" name="Shape 19"/>
            <p:cNvSpPr/>
            <p:nvPr>
              <p:custDataLst>
                <p:tags r:id="rId18"/>
              </p:custDataLst>
            </p:nvPr>
          </p:nvSpPr>
          <p:spPr>
            <a:xfrm>
              <a:off x="8266176" y="1804416"/>
              <a:ext cx="536448" cy="536448"/>
            </a:xfrm>
            <a:prstGeom prst="ellipse">
              <a:avLst/>
            </a:prstGeom>
            <a:solidFill>
              <a:srgbClr val="F5F3FF"/>
            </a:solidFill>
          </p:spPr>
        </p:sp>
        <p:sp>
          <p:nvSpPr>
            <p:cNvPr id="22" name="Text 20"/>
            <p:cNvSpPr/>
            <p:nvPr/>
          </p:nvSpPr>
          <p:spPr>
            <a:xfrm>
              <a:off x="8266176" y="1804416"/>
              <a:ext cx="536448" cy="5364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5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📷</a:t>
              </a:r>
              <a:endParaRPr lang="en-US" sz="2135" dirty="0"/>
            </a:p>
          </p:txBody>
        </p:sp>
        <p:sp>
          <p:nvSpPr>
            <p:cNvPr id="23" name="Text 21"/>
            <p:cNvSpPr/>
            <p:nvPr>
              <p:custDataLst>
                <p:tags r:id="rId19"/>
              </p:custDataLst>
            </p:nvPr>
          </p:nvSpPr>
          <p:spPr>
            <a:xfrm>
              <a:off x="8900160" y="1828800"/>
              <a:ext cx="2523744" cy="4876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2265" b="1" dirty="0" err="1">
                  <a:solidFill>
                    <a:srgbClr val="0F172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数显读数识别</a:t>
              </a:r>
              <a:endParaRPr lang="en-US" sz="2265" dirty="0"/>
            </a:p>
          </p:txBody>
        </p:sp>
        <p:sp>
          <p:nvSpPr>
            <p:cNvPr id="24" name="Shape 22"/>
            <p:cNvSpPr/>
            <p:nvPr>
              <p:custDataLst>
                <p:tags r:id="rId20"/>
              </p:custDataLst>
            </p:nvPr>
          </p:nvSpPr>
          <p:spPr>
            <a:xfrm>
              <a:off x="8473440" y="2499360"/>
              <a:ext cx="2828544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5" name="Text 23"/>
            <p:cNvSpPr/>
            <p:nvPr>
              <p:custDataLst>
                <p:tags r:id="rId21"/>
              </p:custDataLst>
            </p:nvPr>
          </p:nvSpPr>
          <p:spPr>
            <a:xfrm>
              <a:off x="8449056" y="2645664"/>
              <a:ext cx="2926080" cy="256032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457200" indent="-457200">
                <a:spcAft>
                  <a:spcPts val="1335"/>
                </a:spcAft>
                <a:buSzPct val="100000"/>
                <a:buChar char="•"/>
              </a:pPr>
              <a:r>
                <a:rPr lang="en-US" sz="1735" dirty="0" err="1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自动识别数显千分尺读数</a:t>
              </a:r>
              <a:r>
                <a:rPr lang="en-US" sz="1735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(OCR)</a:t>
              </a:r>
              <a:endParaRPr lang="en-US" sz="1735" dirty="0"/>
            </a:p>
            <a:p>
              <a:pPr marL="457200" indent="-457200">
                <a:spcAft>
                  <a:spcPts val="1335"/>
                </a:spcAft>
                <a:buSzPct val="100000"/>
                <a:buChar char="•"/>
              </a:pPr>
              <a:r>
                <a:rPr lang="en-US" sz="1735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屏幕定位 · 数字识别 · 多帧稳定输出</a:t>
              </a:r>
              <a:endParaRPr lang="en-US" sz="1735" dirty="0"/>
            </a:p>
            <a:p>
              <a:pPr marL="457200" indent="-457200">
                <a:spcAft>
                  <a:spcPts val="1335"/>
                </a:spcAft>
                <a:buSzPct val="100000"/>
                <a:buChar char="•"/>
              </a:pPr>
              <a:r>
                <a:rPr lang="en-US" sz="1735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过滤突变，减少读数与抄录误差</a:t>
              </a:r>
              <a:endParaRPr lang="en-US" sz="1735" dirty="0"/>
            </a:p>
          </p:txBody>
        </p:sp>
      </p:grpSp>
      <p:sp>
        <p:nvSpPr>
          <p:cNvPr id="26" name="Shape 24"/>
          <p:cNvSpPr/>
          <p:nvPr/>
        </p:nvSpPr>
        <p:spPr>
          <a:xfrm>
            <a:off x="609600" y="5730240"/>
            <a:ext cx="10972800" cy="877824"/>
          </a:xfrm>
          <a:prstGeom prst="rect">
            <a:avLst/>
          </a:prstGeom>
          <a:solidFill>
            <a:srgbClr val="1E293B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75360" y="5730240"/>
            <a:ext cx="1024128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 err="1">
                <a:solidFill>
                  <a:srgbClr val="CA8F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大模型</a:t>
            </a:r>
            <a:r>
              <a:rPr lang="en-US" sz="2000" b="1" dirty="0">
                <a:solidFill>
                  <a:srgbClr val="CA8F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+ 本地知识库 (RAG)</a:t>
            </a:r>
            <a:r>
              <a:rPr lang="en-US" sz="1735" dirty="0">
                <a:solidFill>
                  <a:srgbClr val="F1F5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 →  读取设备状态与实验数据  →  AI 实验助手智能答复与指引</a:t>
            </a:r>
            <a:endParaRPr lang="en-US" sz="20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32" name="平行四边形 31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平行四边形 32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4" name="直接连接符 33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5"/>
          <p:cNvSpPr txBox="1"/>
          <p:nvPr/>
        </p:nvSpPr>
        <p:spPr>
          <a:xfrm>
            <a:off x="610235" y="289560"/>
            <a:ext cx="8181340" cy="5880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2760" marR="0" lvl="0" indent="0" algn="l" defTabSz="914400" rtl="0" eaLnBrk="0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的辅助系统设计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1" name="组合 30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32" name="平行四边形 31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平行四边形 32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4" name="直接连接符 33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5"/>
          <p:cNvSpPr txBox="1"/>
          <p:nvPr/>
        </p:nvSpPr>
        <p:spPr>
          <a:xfrm>
            <a:off x="576580" y="289560"/>
            <a:ext cx="8214995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2760" marR="0" lvl="0" indent="0" algn="l" defTabSz="914400" rtl="0" eaLnBrk="0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的辅助系统设计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01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智能体开发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0400" y="896825"/>
            <a:ext cx="453637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实验智能体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76580" y="2253615"/>
            <a:ext cx="10196195" cy="4525645"/>
            <a:chOff x="908" y="3244"/>
            <a:chExt cx="16178" cy="743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6" y="3244"/>
              <a:ext cx="6040" cy="17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6" y="5139"/>
              <a:ext cx="6040" cy="184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6" y="7169"/>
              <a:ext cx="6040" cy="1704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6" y="9054"/>
              <a:ext cx="6040" cy="1622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8" y="3557"/>
              <a:ext cx="5573" cy="7119"/>
            </a:xfrm>
            <a:prstGeom prst="rect">
              <a:avLst/>
            </a:prstGeom>
          </p:spPr>
        </p:pic>
        <p:sp>
          <p:nvSpPr>
            <p:cNvPr id="18" name="矩形: 圆角 17"/>
            <p:cNvSpPr/>
            <p:nvPr/>
          </p:nvSpPr>
          <p:spPr>
            <a:xfrm>
              <a:off x="7800" y="3739"/>
              <a:ext cx="1998" cy="759"/>
            </a:xfrm>
            <a:prstGeom prst="roundRect">
              <a:avLst/>
            </a:prstGeom>
            <a:solidFill>
              <a:srgbClr val="CA8F45"/>
            </a:solidFill>
            <a:ln>
              <a:solidFill>
                <a:srgbClr val="CA8F4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预习指导</a:t>
              </a:r>
              <a:endParaRPr lang="zh-CN" altLang="en-US" dirty="0"/>
            </a:p>
          </p:txBody>
        </p:sp>
        <p:sp>
          <p:nvSpPr>
            <p:cNvPr id="23" name="矩形: 圆角 22"/>
            <p:cNvSpPr/>
            <p:nvPr/>
          </p:nvSpPr>
          <p:spPr>
            <a:xfrm>
              <a:off x="7800" y="5631"/>
              <a:ext cx="1998" cy="759"/>
            </a:xfrm>
            <a:prstGeom prst="roundRect">
              <a:avLst/>
            </a:prstGeom>
            <a:solidFill>
              <a:srgbClr val="333F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过程辅助</a:t>
              </a:r>
              <a:endParaRPr lang="zh-CN" altLang="en-US" dirty="0"/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7763" y="9595"/>
              <a:ext cx="1998" cy="759"/>
            </a:xfrm>
            <a:prstGeom prst="roundRect">
              <a:avLst/>
            </a:prstGeom>
            <a:solidFill>
              <a:srgbClr val="333F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报告生成</a:t>
              </a:r>
              <a:endParaRPr lang="zh-CN" altLang="en-US" dirty="0"/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7800" y="7613"/>
              <a:ext cx="1998" cy="759"/>
            </a:xfrm>
            <a:prstGeom prst="roundRect">
              <a:avLst/>
            </a:prstGeom>
            <a:solidFill>
              <a:srgbClr val="CA8F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误差计算</a:t>
              </a:r>
              <a:endParaRPr lang="zh-CN" altLang="en-US" dirty="0"/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9637" y="6011"/>
              <a:ext cx="140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9761" y="8021"/>
              <a:ext cx="140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9761" y="9974"/>
              <a:ext cx="140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endCxn id="18" idx="1"/>
            </p:cNvCxnSpPr>
            <p:nvPr/>
          </p:nvCxnSpPr>
          <p:spPr>
            <a:xfrm flipV="1">
              <a:off x="2147" y="4119"/>
              <a:ext cx="5653" cy="46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endCxn id="23" idx="1"/>
            </p:cNvCxnSpPr>
            <p:nvPr/>
          </p:nvCxnSpPr>
          <p:spPr>
            <a:xfrm flipV="1">
              <a:off x="3567" y="6011"/>
              <a:ext cx="4233" cy="28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V="1">
              <a:off x="4713" y="7904"/>
              <a:ext cx="3298" cy="9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>
              <a:endCxn id="25" idx="1"/>
            </p:cNvCxnSpPr>
            <p:nvPr/>
          </p:nvCxnSpPr>
          <p:spPr>
            <a:xfrm>
              <a:off x="6264" y="9054"/>
              <a:ext cx="1499" cy="9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2662358" y="1550815"/>
            <a:ext cx="7617854" cy="507019"/>
            <a:chOff x="1468977" y="1745673"/>
            <a:chExt cx="9847614" cy="634148"/>
          </a:xfrm>
        </p:grpSpPr>
        <p:sp>
          <p:nvSpPr>
            <p:cNvPr id="14" name="矩形: 圆角 98"/>
            <p:cNvSpPr/>
            <p:nvPr/>
          </p:nvSpPr>
          <p:spPr>
            <a:xfrm>
              <a:off x="8879752" y="1745673"/>
              <a:ext cx="1592479" cy="61790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: 圆角 96"/>
            <p:cNvSpPr/>
            <p:nvPr/>
          </p:nvSpPr>
          <p:spPr>
            <a:xfrm>
              <a:off x="5659188" y="1745673"/>
              <a:ext cx="2689283" cy="6181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矩形: 圆角 94"/>
            <p:cNvSpPr/>
            <p:nvPr/>
          </p:nvSpPr>
          <p:spPr>
            <a:xfrm>
              <a:off x="3337560" y="1761713"/>
              <a:ext cx="1916086" cy="6181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468977" y="1761713"/>
              <a:ext cx="1463040" cy="618108"/>
              <a:chOff x="1468977" y="1761713"/>
              <a:chExt cx="1463040" cy="618108"/>
            </a:xfrm>
          </p:grpSpPr>
          <p:sp>
            <p:nvSpPr>
              <p:cNvPr id="20" name="矩形: 圆角 91"/>
              <p:cNvSpPr/>
              <p:nvPr/>
            </p:nvSpPr>
            <p:spPr>
              <a:xfrm>
                <a:off x="1468977" y="1761713"/>
                <a:ext cx="1463040" cy="61810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650076" y="1886101"/>
                <a:ext cx="1246909" cy="384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charset="-122"/>
                    <a:ea typeface="微软雅黑" panose="020B0503020204020204" charset="-122"/>
                  </a:rPr>
                  <a:t>学生提问</a:t>
                </a:r>
                <a:endParaRPr lang="zh-CN" altLang="en-US" sz="14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3375564" y="1878293"/>
              <a:ext cx="1878083" cy="38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检索本地知识库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659189" y="1886101"/>
              <a:ext cx="2881548" cy="38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读取设备状态和实验进度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072154" y="1886101"/>
              <a:ext cx="2244437" cy="383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智能体回复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28" name="直接箭头连接符 27"/>
            <p:cNvCxnSpPr>
              <a:stCxn id="22" idx="3"/>
              <a:endCxn id="24" idx="1"/>
            </p:cNvCxnSpPr>
            <p:nvPr/>
          </p:nvCxnSpPr>
          <p:spPr>
            <a:xfrm>
              <a:off x="5253646" y="2070767"/>
              <a:ext cx="405543" cy="78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>
              <a:off x="2932017" y="2070767"/>
              <a:ext cx="4055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>
              <a:off x="8348471" y="2070767"/>
              <a:ext cx="7236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472940" y="1508959"/>
            <a:ext cx="1947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RAG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工作流程：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71975" y="1816934"/>
            <a:ext cx="194755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（本地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知识库）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>
          <a:xfrm>
            <a:off x="5318760" y="3490595"/>
            <a:ext cx="6483985" cy="3168015"/>
          </a:xfrm>
          <a:prstGeom prst="roundRect">
            <a:avLst/>
          </a:prstGeom>
          <a:noFill/>
          <a:ln w="28575"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08990" y="1586230"/>
            <a:ext cx="3573145" cy="178879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29970" y="1459230"/>
            <a:ext cx="3207385" cy="178244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32" name="平行四边形 31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平行四边形 32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4" name="直接连接符 33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5"/>
          <p:cNvSpPr txBox="1"/>
          <p:nvPr/>
        </p:nvSpPr>
        <p:spPr>
          <a:xfrm>
            <a:off x="576580" y="289560"/>
            <a:ext cx="8214995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2760" marR="0" lvl="0" indent="0" algn="l" defTabSz="914400" rtl="0" eaLnBrk="0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的辅助系统设计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01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智能体开发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53200" y="3328670"/>
            <a:ext cx="3075305" cy="395605"/>
          </a:xfrm>
          <a:prstGeom prst="rect">
            <a:avLst/>
          </a:prstGeom>
          <a:solidFill>
            <a:schemeClr val="accent1"/>
          </a:solidFill>
          <a:ln>
            <a:solidFill>
              <a:srgbClr val="333F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38925" y="3343910"/>
            <a:ext cx="2842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智能体设计框架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8665" y="1075055"/>
            <a:ext cx="3632835" cy="612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29970" y="1687830"/>
            <a:ext cx="3211195" cy="158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流程型智能体是按照预先设定的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静态流程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执行任务的智能系统，整体行为受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流程框架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约束，框架确定任务执行顺序、分支判定条件和数据流转路径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5200" y="1148715"/>
            <a:ext cx="3181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 i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流程型</a:t>
            </a:r>
            <a:r>
              <a:rPr lang="zh-CN" altLang="en-US" sz="2800" i="1"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lang="zh-CN" altLang="en-US" sz="2800" i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187"/>
          <a:stretch>
            <a:fillRect/>
          </a:stretch>
        </p:blipFill>
        <p:spPr>
          <a:xfrm>
            <a:off x="5318760" y="3660140"/>
            <a:ext cx="6724650" cy="345376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4980170" y="1225114"/>
            <a:ext cx="1947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RAG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工作流程：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79205" y="1533089"/>
            <a:ext cx="194755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（本地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知识库）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095" y="974725"/>
            <a:ext cx="5967730" cy="205613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3974465"/>
            <a:ext cx="4804410" cy="2429510"/>
          </a:xfrm>
          <a:prstGeom prst="rect">
            <a:avLst/>
          </a:prstGeom>
        </p:spPr>
      </p:pic>
      <p:sp>
        <p:nvSpPr>
          <p:cNvPr id="326" name="textbox 326"/>
          <p:cNvSpPr/>
          <p:nvPr/>
        </p:nvSpPr>
        <p:spPr>
          <a:xfrm>
            <a:off x="685165" y="3712210"/>
            <a:ext cx="1525270" cy="474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2000" b="1" kern="0" spc="-10" dirty="0">
                <a:solidFill>
                  <a:srgbClr val="CA8F4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</a:t>
            </a:r>
            <a:r>
              <a:rPr sz="2000" b="1" kern="0" spc="-10" dirty="0">
                <a:solidFill>
                  <a:srgbClr val="CA8F4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神经网络的训练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31445" y="3540760"/>
            <a:ext cx="5085080" cy="3044190"/>
          </a:xfrm>
          <a:prstGeom prst="roundRect">
            <a:avLst/>
          </a:prstGeom>
          <a:noFill/>
          <a:ln w="28575"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90" y="1015416"/>
            <a:ext cx="3491906" cy="5655744"/>
            <a:chOff x="-80" y="1057"/>
            <a:chExt cx="5580" cy="9140"/>
          </a:xfrm>
        </p:grpSpPr>
        <p:sp>
          <p:nvSpPr>
            <p:cNvPr id="14" name="矩形: 圆角 13"/>
            <p:cNvSpPr/>
            <p:nvPr/>
          </p:nvSpPr>
          <p:spPr>
            <a:xfrm>
              <a:off x="681" y="1057"/>
              <a:ext cx="4057" cy="9140"/>
            </a:xfrm>
            <a:prstGeom prst="roundRect">
              <a:avLst/>
            </a:prstGeom>
            <a:noFill/>
            <a:ln w="12700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372" y="4523"/>
              <a:ext cx="208" cy="5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973" y="5012"/>
              <a:ext cx="1940" cy="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50" dirty="0">
                  <a:latin typeface="微软雅黑" panose="020B0503020204020204" charset="-122"/>
                  <a:ea typeface="微软雅黑" panose="020B0503020204020204" charset="-122"/>
                </a:rPr>
                <a:t>工业相机</a:t>
              </a:r>
              <a:endParaRPr lang="zh-CN" altLang="en-US" sz="95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1"/>
            <a:srcRect l="6549" t="27870" r="5717" b="10648"/>
            <a:stretch>
              <a:fillRect/>
            </a:stretch>
          </p:blipFill>
          <p:spPr>
            <a:xfrm>
              <a:off x="996" y="5400"/>
              <a:ext cx="3407" cy="2681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840" y="8353"/>
              <a:ext cx="3720" cy="1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镜头参数：</a:t>
              </a:r>
              <a:endParaRPr lang="en-US" altLang="zh-CN" sz="12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感光度：</a:t>
              </a: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</a:rPr>
                <a:t>1/2.8inch</a:t>
              </a:r>
              <a:endParaRPr lang="en-US" altLang="zh-CN" sz="12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有效像素：</a:t>
              </a: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</a:rPr>
                <a:t>2592</a:t>
              </a: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（</a:t>
              </a: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</a:rPr>
                <a:t>H</a:t>
              </a: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</a:rPr>
                <a:t>*1944(V)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-80" y="1346"/>
              <a:ext cx="5580" cy="3438"/>
              <a:chOff x="3682" y="2021"/>
              <a:chExt cx="7600" cy="4488"/>
            </a:xfrm>
          </p:grpSpPr>
          <p:pic>
            <p:nvPicPr>
              <p:cNvPr id="8" name="图片 7" descr="图1_第1页_非接触法自动测量薄膜厚度_彭真真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3682" y="2130"/>
                <a:ext cx="7600" cy="4343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4712" y="2021"/>
                <a:ext cx="5540" cy="4488"/>
              </a:xfrm>
              <a:prstGeom prst="rect">
                <a:avLst/>
              </a:prstGeom>
              <a:noFill/>
              <a:ln w="28575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4" name="矩形: 圆角 3"/>
          <p:cNvSpPr/>
          <p:nvPr/>
        </p:nvSpPr>
        <p:spPr>
          <a:xfrm>
            <a:off x="4982845" y="942975"/>
            <a:ext cx="1350645" cy="4514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视觉方案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直接箭头连接符 19"/>
          <p:cNvCxnSpPr>
            <a:stCxn id="4" idx="2"/>
          </p:cNvCxnSpPr>
          <p:nvPr/>
        </p:nvCxnSpPr>
        <p:spPr>
          <a:xfrm flipH="1">
            <a:off x="5658485" y="1394460"/>
            <a:ext cx="0" cy="3733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4864735" y="1767840"/>
            <a:ext cx="1587500" cy="530860"/>
          </a:xfrm>
          <a:prstGeom prst="rect">
            <a:avLst/>
          </a:prstGeom>
          <a:solidFill>
            <a:srgbClr val="FF99FF"/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工业相机拍摄干涉条纹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632575" y="2517140"/>
            <a:ext cx="1660525" cy="5308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微分表视觉读数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864735" y="2517140"/>
            <a:ext cx="1587500" cy="5308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中心条纹定位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119120" y="2505075"/>
            <a:ext cx="1587500" cy="5308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干涉条纹识别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连接符: 肘形 26"/>
          <p:cNvCxnSpPr>
            <a:stCxn id="22" idx="2"/>
            <a:endCxn id="25" idx="0"/>
          </p:cNvCxnSpPr>
          <p:nvPr/>
        </p:nvCxnSpPr>
        <p:spPr>
          <a:xfrm rot="5400000">
            <a:off x="4682490" y="1529080"/>
            <a:ext cx="206375" cy="1745615"/>
          </a:xfrm>
          <a:prstGeom prst="bentConnector3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/>
          <p:cNvCxnSpPr>
            <a:stCxn id="22" idx="2"/>
            <a:endCxn id="23" idx="0"/>
          </p:cNvCxnSpPr>
          <p:nvPr/>
        </p:nvCxnSpPr>
        <p:spPr>
          <a:xfrm rot="16200000" flipH="1">
            <a:off x="6451600" y="1505585"/>
            <a:ext cx="218440" cy="1804670"/>
          </a:xfrm>
          <a:prstGeom prst="bentConnector3">
            <a:avLst>
              <a:gd name="adj1" fmla="val 47423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2" idx="2"/>
            <a:endCxn id="24" idx="0"/>
          </p:cNvCxnSpPr>
          <p:nvPr/>
        </p:nvCxnSpPr>
        <p:spPr>
          <a:xfrm>
            <a:off x="5658485" y="2298700"/>
            <a:ext cx="0" cy="21844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119120" y="3277235"/>
            <a:ext cx="1587500" cy="5308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画面矫正与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ROI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框选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864735" y="3277235"/>
            <a:ext cx="1587500" cy="5308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识别中心条纹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632575" y="3279775"/>
            <a:ext cx="1660525" cy="5308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采集微分表画面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119120" y="4077970"/>
            <a:ext cx="1587500" cy="423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识别近场条纹和中心条纹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864735" y="4077970"/>
            <a:ext cx="1587500" cy="4305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计算中心位置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632575" y="4060825"/>
            <a:ext cx="1660525" cy="4483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识别并确认读数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126740" y="4794250"/>
            <a:ext cx="1587500" cy="423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显示识别结果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876165" y="4794250"/>
            <a:ext cx="1587500" cy="423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自动寻找并对准中心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632575" y="4794250"/>
            <a:ext cx="1660525" cy="423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记录读数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箭头连接符 43"/>
          <p:cNvCxnSpPr>
            <a:stCxn id="25" idx="2"/>
            <a:endCxn id="34" idx="0"/>
          </p:cNvCxnSpPr>
          <p:nvPr/>
        </p:nvCxnSpPr>
        <p:spPr>
          <a:xfrm>
            <a:off x="3912870" y="3035300"/>
            <a:ext cx="0" cy="2419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endCxn id="37" idx="0"/>
          </p:cNvCxnSpPr>
          <p:nvPr/>
        </p:nvCxnSpPr>
        <p:spPr>
          <a:xfrm>
            <a:off x="3912870" y="3808095"/>
            <a:ext cx="0" cy="2705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24" idx="2"/>
            <a:endCxn id="35" idx="0"/>
          </p:cNvCxnSpPr>
          <p:nvPr/>
        </p:nvCxnSpPr>
        <p:spPr>
          <a:xfrm>
            <a:off x="5658485" y="3047365"/>
            <a:ext cx="0" cy="22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23" idx="2"/>
            <a:endCxn id="36" idx="0"/>
          </p:cNvCxnSpPr>
          <p:nvPr/>
        </p:nvCxnSpPr>
        <p:spPr>
          <a:xfrm flipH="1">
            <a:off x="7463155" y="3047365"/>
            <a:ext cx="0" cy="2324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35" idx="2"/>
            <a:endCxn id="38" idx="0"/>
          </p:cNvCxnSpPr>
          <p:nvPr/>
        </p:nvCxnSpPr>
        <p:spPr>
          <a:xfrm>
            <a:off x="5658485" y="3808095"/>
            <a:ext cx="0" cy="2705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36" idx="2"/>
            <a:endCxn id="39" idx="0"/>
          </p:cNvCxnSpPr>
          <p:nvPr/>
        </p:nvCxnSpPr>
        <p:spPr>
          <a:xfrm>
            <a:off x="7463155" y="3810635"/>
            <a:ext cx="0" cy="2501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37" idx="2"/>
          </p:cNvCxnSpPr>
          <p:nvPr/>
        </p:nvCxnSpPr>
        <p:spPr>
          <a:xfrm>
            <a:off x="3912870" y="4501515"/>
            <a:ext cx="0" cy="2927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>
            <a:off x="5669915" y="4509135"/>
            <a:ext cx="0" cy="2857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7463155" y="4501515"/>
            <a:ext cx="0" cy="2749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5680075" y="5219065"/>
            <a:ext cx="0" cy="2622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886325" y="5414645"/>
            <a:ext cx="1587500" cy="530860"/>
          </a:xfrm>
          <a:prstGeom prst="rect">
            <a:avLst/>
          </a:prstGeom>
          <a:solidFill>
            <a:srgbClr val="FF99FF"/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停车并记录位置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矩形: 圆角 85"/>
          <p:cNvSpPr/>
          <p:nvPr/>
        </p:nvSpPr>
        <p:spPr>
          <a:xfrm>
            <a:off x="4295775" y="6142355"/>
            <a:ext cx="2896235" cy="4514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汇总实验状态与进度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实验助手给出操作指导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8" name="直接箭头连接符 87"/>
          <p:cNvCxnSpPr/>
          <p:nvPr/>
        </p:nvCxnSpPr>
        <p:spPr>
          <a:xfrm>
            <a:off x="5691505" y="5956300"/>
            <a:ext cx="0" cy="1847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/>
          <p:cNvCxnSpPr>
            <a:stCxn id="40" idx="2"/>
            <a:endCxn id="86" idx="1"/>
          </p:cNvCxnSpPr>
          <p:nvPr/>
        </p:nvCxnSpPr>
        <p:spPr>
          <a:xfrm rot="16200000" flipH="1">
            <a:off x="3533140" y="5605145"/>
            <a:ext cx="1149985" cy="375285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/>
          <p:cNvCxnSpPr>
            <a:stCxn id="42" idx="2"/>
            <a:endCxn id="86" idx="3"/>
          </p:cNvCxnSpPr>
          <p:nvPr/>
        </p:nvCxnSpPr>
        <p:spPr>
          <a:xfrm rot="5400000">
            <a:off x="6752590" y="5657215"/>
            <a:ext cx="1149985" cy="271780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flipH="1">
            <a:off x="8439785" y="1113790"/>
            <a:ext cx="635" cy="555752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图片 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02" y="4477204"/>
            <a:ext cx="1890273" cy="1890273"/>
          </a:xfrm>
          <a:prstGeom prst="rect">
            <a:avLst/>
          </a:prstGeom>
        </p:spPr>
      </p:pic>
      <p:sp>
        <p:nvSpPr>
          <p:cNvPr id="98" name="矩形: 圆角 97"/>
          <p:cNvSpPr/>
          <p:nvPr/>
        </p:nvSpPr>
        <p:spPr>
          <a:xfrm>
            <a:off x="9255307" y="1194641"/>
            <a:ext cx="1868604" cy="36933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9419566" y="1194643"/>
            <a:ext cx="161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干涉条纹识别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652063" y="2020971"/>
            <a:ext cx="1459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检测区域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中心定位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稳定输出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9330793" y="3944331"/>
            <a:ext cx="1890273" cy="400934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9547929" y="3949122"/>
            <a:ext cx="16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微分表读数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007" y="1666542"/>
            <a:ext cx="1986551" cy="1835433"/>
          </a:xfrm>
          <a:prstGeom prst="rect">
            <a:avLst/>
          </a:prstGeom>
        </p:spPr>
      </p:pic>
      <p:sp>
        <p:nvSpPr>
          <p:cNvPr id="104" name="文本框 103"/>
          <p:cNvSpPr txBox="1"/>
          <p:nvPr/>
        </p:nvSpPr>
        <p:spPr>
          <a:xfrm>
            <a:off x="10652063" y="4592010"/>
            <a:ext cx="13113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锁定显示区域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识别数值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多帧确认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8554720" y="3811270"/>
            <a:ext cx="3511550" cy="2837815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: 圆角 105"/>
          <p:cNvSpPr/>
          <p:nvPr/>
        </p:nvSpPr>
        <p:spPr>
          <a:xfrm>
            <a:off x="8599805" y="1015365"/>
            <a:ext cx="3511550" cy="268478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7" name="平行四边形 6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平行四边形 32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0" name="直接连接符 9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5"/>
          <p:cNvSpPr txBox="1"/>
          <p:nvPr/>
        </p:nvSpPr>
        <p:spPr>
          <a:xfrm>
            <a:off x="576580" y="289560"/>
            <a:ext cx="8214995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2760" marR="0" lvl="0" indent="0" algn="l" defTabSz="914400" rtl="0" eaLnBrk="0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的辅助系统设计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视觉方案设计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1" name="组合 30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32" name="平行四边形 31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平行四边形 32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4" name="直接连接符 33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5"/>
          <p:cNvSpPr txBox="1"/>
          <p:nvPr/>
        </p:nvSpPr>
        <p:spPr>
          <a:xfrm>
            <a:off x="576580" y="289560"/>
            <a:ext cx="8214995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2760" marR="0" lvl="0" indent="0" algn="l" defTabSz="914400" rtl="0" eaLnBrk="0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的辅助系统设计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视觉方案设计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60" y="1647825"/>
            <a:ext cx="5918835" cy="4889500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317500" y="1098550"/>
            <a:ext cx="6297930" cy="5567680"/>
          </a:xfrm>
          <a:prstGeom prst="roundRect">
            <a:avLst/>
          </a:prstGeom>
          <a:noFill/>
          <a:ln w="19050"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233805" y="1199515"/>
            <a:ext cx="4217035" cy="3492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42060" y="1191895"/>
            <a:ext cx="4201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识别白光干涉中心条纹全流程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866890" y="1098550"/>
            <a:ext cx="4938395" cy="5567680"/>
          </a:xfrm>
          <a:prstGeom prst="roundRect">
            <a:avLst/>
          </a:prstGeom>
          <a:noFill/>
          <a:ln w="19050"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7009797" y="3498055"/>
                <a:ext cx="195694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条纹位置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b="1" dirty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score</m:t>
                    </m:r>
                    <m:d>
                      <m:dPr>
                        <m:begChr m:val="["/>
                        <m:endChr m:val="]"/>
                        <m:ctrlPr>
                          <a:rPr lang="zh-CN" alt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b="1" dirty="0"/>
                  <a:t>确定算法</a:t>
                </a:r>
                <a:r>
                  <a:rPr lang="zh-CN" altLang="en-US" dirty="0"/>
                  <a:t>：</a:t>
                </a:r>
                <a:endParaRPr lang="zh-CN" altLang="en-US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797" y="3498055"/>
                <a:ext cx="1956940" cy="645160"/>
              </a:xfrm>
              <a:prstGeom prst="rect">
                <a:avLst/>
              </a:prstGeom>
              <a:blipFill rotWithShape="1">
                <a:blip r:embed="rId2"/>
                <a:stretch>
                  <a:fillRect l="-2" t="-74" r="27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940" y="3498215"/>
            <a:ext cx="2419985" cy="22517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460" y="4084955"/>
            <a:ext cx="3092450" cy="23939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rcRect r="8812" b="6842"/>
          <a:stretch>
            <a:fillRect/>
          </a:stretch>
        </p:blipFill>
        <p:spPr>
          <a:xfrm>
            <a:off x="7306945" y="1490980"/>
            <a:ext cx="1511300" cy="168592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8818245" y="1613535"/>
            <a:ext cx="3045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红色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虚线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标记中央条纹位置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818245" y="2307590"/>
            <a:ext cx="3045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蓝色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虚线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标记视场中央位置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243707" y="447729"/>
            <a:ext cx="3624724" cy="6294454"/>
            <a:chOff x="384" y="423"/>
            <a:chExt cx="5731" cy="1019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5" y="423"/>
              <a:ext cx="5400" cy="5115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 flipH="1" flipV="1">
              <a:off x="720" y="1341"/>
              <a:ext cx="1362" cy="436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>
              <a:off x="992" y="3377"/>
              <a:ext cx="1111" cy="776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H="1" flipV="1">
              <a:off x="3079" y="2780"/>
              <a:ext cx="1878" cy="722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 flipV="1">
              <a:off x="1077" y="4497"/>
              <a:ext cx="2155" cy="573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3" name="椭圆 22"/>
            <p:cNvSpPr/>
            <p:nvPr/>
          </p:nvSpPr>
          <p:spPr>
            <a:xfrm>
              <a:off x="648" y="4188"/>
              <a:ext cx="343" cy="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24" name="椭圆 23"/>
            <p:cNvSpPr/>
            <p:nvPr/>
          </p:nvSpPr>
          <p:spPr>
            <a:xfrm>
              <a:off x="410" y="1152"/>
              <a:ext cx="343" cy="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6" name="椭圆 25"/>
            <p:cNvSpPr/>
            <p:nvPr/>
          </p:nvSpPr>
          <p:spPr>
            <a:xfrm>
              <a:off x="4973" y="3407"/>
              <a:ext cx="343" cy="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28" name="椭圆 27"/>
            <p:cNvSpPr/>
            <p:nvPr/>
          </p:nvSpPr>
          <p:spPr>
            <a:xfrm>
              <a:off x="1186" y="8078"/>
              <a:ext cx="343" cy="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cxnSp>
          <p:nvCxnSpPr>
            <p:cNvPr id="29" name="直接连接符 28"/>
            <p:cNvCxnSpPr/>
            <p:nvPr/>
          </p:nvCxnSpPr>
          <p:spPr>
            <a:xfrm flipH="1">
              <a:off x="1608" y="8298"/>
              <a:ext cx="1624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/>
          </p:nvCxnSpPr>
          <p:spPr>
            <a:xfrm flipH="1">
              <a:off x="1616" y="8813"/>
              <a:ext cx="1624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" name="直接连接符 2"/>
            <p:cNvCxnSpPr/>
            <p:nvPr/>
          </p:nvCxnSpPr>
          <p:spPr>
            <a:xfrm flipH="1">
              <a:off x="1608" y="9323"/>
              <a:ext cx="1624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8" name="椭圆 37"/>
            <p:cNvSpPr/>
            <p:nvPr/>
          </p:nvSpPr>
          <p:spPr>
            <a:xfrm>
              <a:off x="1183" y="8570"/>
              <a:ext cx="343" cy="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39" name="椭圆 38"/>
            <p:cNvSpPr/>
            <p:nvPr/>
          </p:nvSpPr>
          <p:spPr>
            <a:xfrm>
              <a:off x="1183" y="9063"/>
              <a:ext cx="343" cy="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237" y="8100"/>
              <a:ext cx="2150" cy="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工业相机</a:t>
              </a:r>
              <a:endParaRPr lang="zh-CN" altLang="en-US" sz="16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232" y="8589"/>
              <a:ext cx="2744" cy="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升降式辅助台</a:t>
              </a:r>
              <a:endParaRPr lang="zh-CN" altLang="en-US" sz="1600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191" y="9096"/>
              <a:ext cx="2460" cy="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数显千分尺</a:t>
              </a:r>
              <a:endParaRPr lang="zh-CN" altLang="en-US" sz="1600" dirty="0"/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1" y="5685"/>
              <a:ext cx="4835" cy="2006"/>
            </a:xfrm>
            <a:prstGeom prst="rect">
              <a:avLst/>
            </a:prstGeom>
          </p:spPr>
        </p:pic>
        <p:cxnSp>
          <p:nvCxnSpPr>
            <p:cNvPr id="46" name="直接连接符 45"/>
            <p:cNvCxnSpPr/>
            <p:nvPr/>
          </p:nvCxnSpPr>
          <p:spPr>
            <a:xfrm flipH="1" flipV="1">
              <a:off x="738" y="6238"/>
              <a:ext cx="2345" cy="13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48" name="椭圆 47"/>
            <p:cNvSpPr/>
            <p:nvPr/>
          </p:nvSpPr>
          <p:spPr>
            <a:xfrm>
              <a:off x="384" y="6097"/>
              <a:ext cx="343" cy="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49" name="椭圆 48"/>
            <p:cNvSpPr/>
            <p:nvPr/>
          </p:nvSpPr>
          <p:spPr>
            <a:xfrm>
              <a:off x="1186" y="9629"/>
              <a:ext cx="343" cy="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50" name="直接连接符 49"/>
            <p:cNvCxnSpPr/>
            <p:nvPr/>
          </p:nvCxnSpPr>
          <p:spPr>
            <a:xfrm flipH="1">
              <a:off x="1591" y="9824"/>
              <a:ext cx="1624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3191" y="10072"/>
              <a:ext cx="2636" cy="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51</a:t>
              </a:r>
              <a:r>
                <a:rPr lang="zh-CN" altLang="en-US" sz="1600" dirty="0"/>
                <a:t>单片机开发板</a:t>
              </a:r>
              <a:endParaRPr lang="zh-CN" altLang="en-US" sz="1600" dirty="0"/>
            </a:p>
          </p:txBody>
        </p:sp>
        <p:sp>
          <p:nvSpPr>
            <p:cNvPr id="62" name="椭圆 61"/>
            <p:cNvSpPr/>
            <p:nvPr/>
          </p:nvSpPr>
          <p:spPr>
            <a:xfrm>
              <a:off x="5355" y="4154"/>
              <a:ext cx="343" cy="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63" name="直接连接符 62"/>
            <p:cNvCxnSpPr/>
            <p:nvPr/>
          </p:nvCxnSpPr>
          <p:spPr>
            <a:xfrm flipH="1" flipV="1">
              <a:off x="3268" y="3904"/>
              <a:ext cx="1968" cy="32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1591" y="10299"/>
              <a:ext cx="1624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66" name="椭圆 65"/>
            <p:cNvSpPr/>
            <p:nvPr/>
          </p:nvSpPr>
          <p:spPr>
            <a:xfrm>
              <a:off x="1183" y="10196"/>
              <a:ext cx="343" cy="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169" y="9603"/>
              <a:ext cx="2199" cy="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步进电机</a:t>
              </a:r>
              <a:endParaRPr lang="zh-CN" altLang="en-US" sz="160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173855" y="1015365"/>
            <a:ext cx="2740025" cy="5773420"/>
            <a:chOff x="6523" y="191"/>
            <a:chExt cx="4365" cy="10500"/>
          </a:xfrm>
        </p:grpSpPr>
        <p:sp>
          <p:nvSpPr>
            <p:cNvPr id="53" name="矩形: 圆角 52"/>
            <p:cNvSpPr/>
            <p:nvPr/>
          </p:nvSpPr>
          <p:spPr>
            <a:xfrm>
              <a:off x="6523" y="191"/>
              <a:ext cx="4365" cy="105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: 圆角 57"/>
            <p:cNvSpPr/>
            <p:nvPr/>
          </p:nvSpPr>
          <p:spPr>
            <a:xfrm>
              <a:off x="7638" y="598"/>
              <a:ext cx="2133" cy="80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/>
                <a:t>开始</a:t>
              </a:r>
              <a:endParaRPr lang="zh-CN" altLang="en-US" sz="1600" b="1" dirty="0"/>
            </a:p>
          </p:txBody>
        </p:sp>
        <p:cxnSp>
          <p:nvCxnSpPr>
            <p:cNvPr id="60" name="直接箭头连接符 59"/>
            <p:cNvCxnSpPr>
              <a:stCxn id="58" idx="2"/>
            </p:cNvCxnSpPr>
            <p:nvPr/>
          </p:nvCxnSpPr>
          <p:spPr>
            <a:xfrm flipH="1">
              <a:off x="8704" y="1399"/>
              <a:ext cx="0" cy="82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矩形 60"/>
            <p:cNvSpPr/>
            <p:nvPr/>
          </p:nvSpPr>
          <p:spPr>
            <a:xfrm>
              <a:off x="7456" y="2242"/>
              <a:ext cx="2507" cy="9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/>
                <a:t>工业相机拍摄千分尺读数</a:t>
              </a:r>
              <a:endParaRPr lang="zh-CN" altLang="en-US" sz="1600" b="1" dirty="0"/>
            </a:p>
          </p:txBody>
        </p:sp>
        <p:cxnSp>
          <p:nvCxnSpPr>
            <p:cNvPr id="75" name="直接箭头连接符 74"/>
            <p:cNvCxnSpPr>
              <a:stCxn id="61" idx="2"/>
              <a:endCxn id="76" idx="0"/>
            </p:cNvCxnSpPr>
            <p:nvPr/>
          </p:nvCxnSpPr>
          <p:spPr>
            <a:xfrm>
              <a:off x="8710" y="3183"/>
              <a:ext cx="0" cy="107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矩形 75"/>
            <p:cNvSpPr/>
            <p:nvPr/>
          </p:nvSpPr>
          <p:spPr>
            <a:xfrm>
              <a:off x="7456" y="4257"/>
              <a:ext cx="2507" cy="9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/>
                <a:t>再次计数，测得位移</a:t>
              </a:r>
              <a:endParaRPr lang="zh-CN" altLang="en-US" sz="1600" b="1" dirty="0"/>
            </a:p>
          </p:txBody>
        </p:sp>
        <p:cxnSp>
          <p:nvCxnSpPr>
            <p:cNvPr id="77" name="直接箭头连接符 76"/>
            <p:cNvCxnSpPr/>
            <p:nvPr/>
          </p:nvCxnSpPr>
          <p:spPr>
            <a:xfrm>
              <a:off x="8715" y="5199"/>
              <a:ext cx="2" cy="4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流程图: 决策 79"/>
            <p:cNvSpPr/>
            <p:nvPr/>
          </p:nvSpPr>
          <p:spPr>
            <a:xfrm>
              <a:off x="7553" y="5706"/>
              <a:ext cx="2284" cy="1530"/>
            </a:xfrm>
            <a:prstGeom prst="flowChartDecision">
              <a:avLst/>
            </a:prstGeom>
            <a:solidFill>
              <a:srgbClr val="FF99FF"/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N</a:t>
              </a:r>
              <a:r>
                <a:rPr lang="zh-CN" altLang="en-US" sz="16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≥</a:t>
              </a:r>
              <a:r>
                <a:rPr lang="en-US" altLang="zh-CN" sz="16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15</a:t>
              </a:r>
              <a:endParaRPr lang="zh-CN" altLang="en-US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  <a:p>
              <a:pPr algn="ctr"/>
              <a:endParaRPr lang="zh-CN" altLang="en-US" sz="1600" b="1" dirty="0"/>
            </a:p>
          </p:txBody>
        </p:sp>
        <p:cxnSp>
          <p:nvCxnSpPr>
            <p:cNvPr id="81" name="直接箭头连接符 80"/>
            <p:cNvCxnSpPr/>
            <p:nvPr/>
          </p:nvCxnSpPr>
          <p:spPr>
            <a:xfrm>
              <a:off x="8716" y="7172"/>
              <a:ext cx="0" cy="57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矩形: 圆角 81"/>
            <p:cNvSpPr/>
            <p:nvPr/>
          </p:nvSpPr>
          <p:spPr>
            <a:xfrm>
              <a:off x="7539" y="9520"/>
              <a:ext cx="2412" cy="90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/>
                <a:t>屏幕显示读数</a:t>
              </a:r>
              <a:endParaRPr lang="zh-CN" altLang="en-US" sz="1600" b="1" dirty="0"/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8852" y="3324"/>
              <a:ext cx="1465" cy="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/>
                <a:t>旋转至电机停止</a:t>
              </a:r>
              <a:endParaRPr lang="zh-CN" altLang="en-US" sz="1400" b="1" dirty="0"/>
            </a:p>
          </p:txBody>
        </p:sp>
        <p:cxnSp>
          <p:nvCxnSpPr>
            <p:cNvPr id="90" name="连接符: 肘形 89"/>
            <p:cNvCxnSpPr>
              <a:stCxn id="82" idx="1"/>
              <a:endCxn id="58" idx="1"/>
            </p:cNvCxnSpPr>
            <p:nvPr/>
          </p:nvCxnSpPr>
          <p:spPr>
            <a:xfrm rot="10800000" flipH="1">
              <a:off x="7539" y="999"/>
              <a:ext cx="99" cy="8974"/>
            </a:xfrm>
            <a:prstGeom prst="bentConnector3">
              <a:avLst>
                <a:gd name="adj1" fmla="val -364193"/>
              </a:avLst>
            </a:prstGeom>
            <a:ln w="190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文本框 90"/>
            <p:cNvSpPr txBox="1"/>
            <p:nvPr/>
          </p:nvSpPr>
          <p:spPr>
            <a:xfrm>
              <a:off x="6681" y="4259"/>
              <a:ext cx="105" cy="1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重复</a:t>
              </a:r>
              <a:r>
                <a:rPr lang="en-US" altLang="zh-CN" sz="1600" b="1" dirty="0"/>
                <a:t>N</a:t>
              </a:r>
              <a:r>
                <a:rPr lang="zh-CN" altLang="en-US" sz="1600" b="1" dirty="0"/>
                <a:t>次</a:t>
              </a:r>
              <a:endParaRPr lang="zh-CN" altLang="en-US" sz="1600" b="1" dirty="0"/>
            </a:p>
          </p:txBody>
        </p:sp>
        <p:sp>
          <p:nvSpPr>
            <p:cNvPr id="92" name="矩形 91"/>
            <p:cNvSpPr/>
            <p:nvPr/>
          </p:nvSpPr>
          <p:spPr>
            <a:xfrm>
              <a:off x="7492" y="7760"/>
              <a:ext cx="2507" cy="9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/>
                <a:t>计算误差和不确定度</a:t>
              </a:r>
              <a:endParaRPr lang="zh-CN" altLang="en-US" sz="1600" b="1" dirty="0"/>
            </a:p>
          </p:txBody>
        </p:sp>
        <p:cxnSp>
          <p:nvCxnSpPr>
            <p:cNvPr id="95" name="直接箭头连接符 94"/>
            <p:cNvCxnSpPr>
              <a:stCxn id="92" idx="2"/>
              <a:endCxn id="82" idx="0"/>
            </p:cNvCxnSpPr>
            <p:nvPr/>
          </p:nvCxnSpPr>
          <p:spPr>
            <a:xfrm>
              <a:off x="8745" y="8702"/>
              <a:ext cx="0" cy="8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7204075" y="1015365"/>
            <a:ext cx="4837430" cy="3629660"/>
            <a:chOff x="11017" y="191"/>
            <a:chExt cx="7946" cy="712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7" y="598"/>
              <a:ext cx="3546" cy="2383"/>
            </a:xfrm>
            <a:prstGeom prst="rect">
              <a:avLst/>
            </a:prstGeom>
          </p:spPr>
        </p:pic>
        <p:sp>
          <p:nvSpPr>
            <p:cNvPr id="36" name="矩形 35"/>
            <p:cNvSpPr/>
            <p:nvPr/>
          </p:nvSpPr>
          <p:spPr>
            <a:xfrm>
              <a:off x="11067" y="191"/>
              <a:ext cx="3552" cy="3447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14841" y="191"/>
              <a:ext cx="4112" cy="3447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10" y="349"/>
              <a:ext cx="3721" cy="2813"/>
            </a:xfrm>
            <a:prstGeom prst="rect">
              <a:avLst/>
            </a:prstGeom>
          </p:spPr>
        </p:pic>
        <p:sp>
          <p:nvSpPr>
            <p:cNvPr id="44" name="文本框 43"/>
            <p:cNvSpPr txBox="1"/>
            <p:nvPr/>
          </p:nvSpPr>
          <p:spPr>
            <a:xfrm>
              <a:off x="11366" y="2981"/>
              <a:ext cx="3707" cy="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工业相机镜头结构图</a:t>
              </a:r>
              <a:endParaRPr lang="zh-CN" altLang="en-US" sz="1400" dirty="0"/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5"/>
            <a:srcRect l="-146" t="8156" r="32968" b="59785"/>
            <a:stretch>
              <a:fillRect/>
            </a:stretch>
          </p:blipFill>
          <p:spPr>
            <a:xfrm>
              <a:off x="11366" y="3933"/>
              <a:ext cx="7233" cy="2912"/>
            </a:xfrm>
            <a:prstGeom prst="rect">
              <a:avLst/>
            </a:prstGeom>
          </p:spPr>
        </p:pic>
        <p:sp>
          <p:nvSpPr>
            <p:cNvPr id="55" name="矩形 54"/>
            <p:cNvSpPr/>
            <p:nvPr/>
          </p:nvSpPr>
          <p:spPr>
            <a:xfrm>
              <a:off x="11077" y="3749"/>
              <a:ext cx="7885" cy="3566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3423" y="6616"/>
              <a:ext cx="4485" cy="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数显千分尺示意图</a:t>
              </a:r>
              <a:endParaRPr lang="zh-CN" altLang="en-US" sz="1600" dirty="0"/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4697" y="4778827"/>
            <a:ext cx="2180395" cy="2009959"/>
          </a:xfrm>
          <a:prstGeom prst="rect">
            <a:avLst/>
          </a:prstGeom>
        </p:spPr>
      </p:pic>
      <p:sp>
        <p:nvSpPr>
          <p:cNvPr id="15" name="矩形: 圆角 5"/>
          <p:cNvSpPr/>
          <p:nvPr/>
        </p:nvSpPr>
        <p:spPr>
          <a:xfrm>
            <a:off x="10012730" y="4869167"/>
            <a:ext cx="1679676" cy="1536224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58"/>
          <p:cNvSpPr/>
          <p:nvPr/>
        </p:nvSpPr>
        <p:spPr>
          <a:xfrm>
            <a:off x="11006255" y="5002913"/>
            <a:ext cx="574590" cy="12687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屏幕画面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0128403" y="5037113"/>
            <a:ext cx="821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千分尺表盘及读数</a:t>
            </a:r>
            <a:endParaRPr lang="zh-CN" altLang="en-US" dirty="0"/>
          </a:p>
        </p:txBody>
      </p:sp>
      <p:sp>
        <p:nvSpPr>
          <p:cNvPr id="17" name="箭头: 右 2"/>
          <p:cNvSpPr/>
          <p:nvPr/>
        </p:nvSpPr>
        <p:spPr>
          <a:xfrm rot="21000000">
            <a:off x="6455410" y="6036310"/>
            <a:ext cx="949325" cy="445135"/>
          </a:xfrm>
          <a:prstGeom prst="rightArrow">
            <a:avLst>
              <a:gd name="adj1" fmla="val 50000"/>
              <a:gd name="adj2" fmla="val 673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平行四边形 19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5"/>
          <p:cNvSpPr txBox="1"/>
          <p:nvPr/>
        </p:nvSpPr>
        <p:spPr>
          <a:xfrm>
            <a:off x="576580" y="289560"/>
            <a:ext cx="8214995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2760" marR="0" lvl="0" indent="0" algn="l" defTabSz="914400" rtl="0" eaLnBrk="0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的辅助系统设计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动镜辅助调节系统设计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textbox 754"/>
          <p:cNvSpPr/>
          <p:nvPr/>
        </p:nvSpPr>
        <p:spPr>
          <a:xfrm>
            <a:off x="123825" y="1055370"/>
            <a:ext cx="8904605" cy="5548630"/>
          </a:xfrm>
          <a:prstGeom prst="roundRect">
            <a:avLst>
              <a:gd name="adj" fmla="val 17287"/>
            </a:avLst>
          </a:prstGeom>
          <a:noFill/>
          <a:ln w="38100" cap="flat">
            <a:solidFill>
              <a:srgbClr val="0F151D"/>
            </a:solidFill>
            <a:prstDash val="solid"/>
            <a:miter lim="0"/>
          </a:ln>
        </p:spPr>
        <p:txBody>
          <a:bodyPr vert="horz" wrap="square" lIns="0" tIns="0" rIns="0" bIns="0"/>
          <a:lstStyle/>
          <a:p/>
        </p:txBody>
      </p:sp>
      <p:pic>
        <p:nvPicPr>
          <p:cNvPr id="766" name="picture 7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511667" y="1055878"/>
            <a:ext cx="798321" cy="678941"/>
          </a:xfrm>
          <a:prstGeom prst="rect">
            <a:avLst/>
          </a:prstGeom>
        </p:spPr>
      </p:pic>
      <p:sp>
        <p:nvSpPr>
          <p:cNvPr id="774" name="textbox 774"/>
          <p:cNvSpPr/>
          <p:nvPr/>
        </p:nvSpPr>
        <p:spPr>
          <a:xfrm>
            <a:off x="11111230" y="6467576"/>
            <a:ext cx="165100" cy="170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kern="0" spc="-2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33</a:t>
            </a:r>
            <a:endParaRPr sz="1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9309735" y="288290"/>
            <a:ext cx="2771140" cy="1447165"/>
          </a:xfrm>
          <a:prstGeom prst="round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实时检测条纹特征，识别到目标条纹时停止电机转动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2916" y="203943"/>
            <a:ext cx="60971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A6A6A6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A6A6A6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效果展示</a:t>
            </a:r>
            <a:endParaRPr lang="zh-CN" altLang="en-US" dirty="0"/>
          </a:p>
        </p:txBody>
      </p:sp>
      <p:pic>
        <p:nvPicPr>
          <p:cNvPr id="2" name="5月15日 (1)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3540" y="1543685"/>
            <a:ext cx="8128000" cy="4572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rect 1084"/>
          <p:cNvSpPr/>
          <p:nvPr/>
        </p:nvSpPr>
        <p:spPr>
          <a:xfrm>
            <a:off x="0" y="1298448"/>
            <a:ext cx="4733544" cy="4261103"/>
          </a:xfrm>
          <a:prstGeom prst="rect">
            <a:avLst/>
          </a:prstGeom>
          <a:solidFill>
            <a:srgbClr val="333F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6" name="rect 1086"/>
          <p:cNvSpPr/>
          <p:nvPr/>
        </p:nvSpPr>
        <p:spPr>
          <a:xfrm>
            <a:off x="10344911" y="1298448"/>
            <a:ext cx="1847087" cy="4261103"/>
          </a:xfrm>
          <a:prstGeom prst="rect">
            <a:avLst/>
          </a:prstGeom>
          <a:solidFill>
            <a:srgbClr val="CA8F4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8" name="textbox 1088"/>
          <p:cNvSpPr/>
          <p:nvPr/>
        </p:nvSpPr>
        <p:spPr>
          <a:xfrm>
            <a:off x="5897854" y="2986506"/>
            <a:ext cx="4137025" cy="1061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4000"/>
              </a:lnSpc>
              <a:spcBef>
                <a:spcPts val="0"/>
              </a:spcBef>
            </a:pPr>
            <a:r>
              <a:rPr lang="zh-CN" altLang="en-US" sz="3600" kern="0" spc="-10" dirty="0" err="1">
                <a:solidFill>
                  <a:srgbClr val="CA8F4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实验数据以及误差分析</a:t>
            </a:r>
            <a:endParaRPr lang="zh-CN" altLang="en-US" sz="3600" kern="0" spc="-10" dirty="0" err="1">
              <a:solidFill>
                <a:srgbClr val="CA8F4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2" name="group 102"/>
          <p:cNvGrpSpPr/>
          <p:nvPr/>
        </p:nvGrpSpPr>
        <p:grpSpPr>
          <a:xfrm rot="21600000">
            <a:off x="3797808" y="2493264"/>
            <a:ext cx="2043958" cy="2058437"/>
            <a:chOff x="0" y="0"/>
            <a:chExt cx="2043958" cy="2058437"/>
          </a:xfrm>
        </p:grpSpPr>
        <p:pic>
          <p:nvPicPr>
            <p:cNvPr id="1090" name="picture 109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2043958" cy="2058437"/>
            </a:xfrm>
            <a:prstGeom prst="rect">
              <a:avLst/>
            </a:prstGeom>
          </p:spPr>
        </p:pic>
        <p:sp>
          <p:nvSpPr>
            <p:cNvPr id="1092" name="textbox 1092"/>
            <p:cNvSpPr/>
            <p:nvPr/>
          </p:nvSpPr>
          <p:spPr>
            <a:xfrm>
              <a:off x="-12700" y="-12700"/>
              <a:ext cx="2069464" cy="2122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31825" algn="l" rtl="0" eaLnBrk="0">
                <a:lnSpc>
                  <a:spcPct val="78000"/>
                </a:lnSpc>
                <a:spcBef>
                  <a:spcPts val="0"/>
                </a:spcBef>
              </a:pPr>
              <a:r>
                <a:rPr sz="4800" kern="0" spc="-7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lang="en-US" sz="4800" kern="0" spc="-7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sz="4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49250" algn="l" rtl="0" eaLnBrk="0">
                <a:lnSpc>
                  <a:spcPct val="74000"/>
                </a:lnSpc>
                <a:spcBef>
                  <a:spcPts val="570"/>
                </a:spcBef>
              </a:pPr>
              <a:r>
                <a:rPr sz="2000" kern="0" spc="-2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CHAPTER</a:t>
              </a:r>
              <a:endParaRPr sz="2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94" name="textbox 1094"/>
          <p:cNvSpPr/>
          <p:nvPr/>
        </p:nvSpPr>
        <p:spPr>
          <a:xfrm>
            <a:off x="11107321" y="6467576"/>
            <a:ext cx="168910" cy="170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kern="0" spc="-1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46</a:t>
            </a:r>
            <a:endParaRPr sz="1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>
            <p:custDataLst>
              <p:tags r:id="rId1"/>
            </p:custDataLst>
          </p:nvPr>
        </p:nvSpPr>
        <p:spPr>
          <a:xfrm>
            <a:off x="588010" y="3495040"/>
            <a:ext cx="10989310" cy="3324225"/>
          </a:xfrm>
          <a:prstGeom prst="roundRect">
            <a:avLst>
              <a:gd name="adj" fmla="val 7054"/>
            </a:avLst>
          </a:prstGeom>
          <a:noFill/>
          <a:ln w="9525">
            <a:solidFill>
              <a:srgbClr val="333F50">
                <a:alpha val="70000"/>
              </a:srgbClr>
            </a:solidFill>
          </a:ln>
          <a:effectLst>
            <a:outerShdw blurRad="38100" dist="38100" dir="2700000" algn="tl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>
            <a:off x="11482070" y="3870325"/>
            <a:ext cx="165735" cy="165735"/>
          </a:xfrm>
          <a:prstGeom prst="ellipse">
            <a:avLst/>
          </a:prstGeom>
          <a:solidFill>
            <a:schemeClr val="bg2"/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3"/>
            </p:custDataLst>
          </p:nvPr>
        </p:nvSpPr>
        <p:spPr>
          <a:xfrm>
            <a:off x="11482070" y="4588510"/>
            <a:ext cx="165735" cy="165735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4"/>
            </p:custDataLst>
          </p:nvPr>
        </p:nvSpPr>
        <p:spPr>
          <a:xfrm>
            <a:off x="11482070" y="5306695"/>
            <a:ext cx="165735" cy="165735"/>
          </a:xfrm>
          <a:prstGeom prst="ellipse">
            <a:avLst/>
          </a:prstGeom>
          <a:solidFill>
            <a:schemeClr val="bg2"/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>
            <p:custDataLst>
              <p:tags r:id="rId5"/>
            </p:custDataLst>
          </p:nvPr>
        </p:nvSpPr>
        <p:spPr>
          <a:xfrm>
            <a:off x="528320" y="4009073"/>
            <a:ext cx="109220" cy="1323975"/>
          </a:xfrm>
          <a:prstGeom prst="roundRect">
            <a:avLst>
              <a:gd name="adj" fmla="val 30813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3"/>
              <p:cNvGraphicFramePr>
                <a:graphicFrameLocks noGrp="1"/>
              </p:cNvGraphicFramePr>
              <p:nvPr>
                <p:custDataLst>
                  <p:tags r:id="rId6"/>
                </p:custDataLst>
              </p:nvPr>
            </p:nvGraphicFramePr>
            <p:xfrm>
              <a:off x="815340" y="3717290"/>
              <a:ext cx="10488930" cy="2995930"/>
            </p:xfrm>
            <a:graphic>
              <a:graphicData uri="http://schemas.openxmlformats.org/drawingml/2006/table">
                <a:tbl>
                  <a:tblPr firstRow="1" bandRow="1">
                    <a:tableStyleId>{42FA2FE6-3F77-43D4-85AD-5231A626D551}</a:tableStyleId>
                  </a:tblPr>
                  <a:tblGrid>
                    <a:gridCol w="1775460"/>
                    <a:gridCol w="1571625"/>
                    <a:gridCol w="3403600"/>
                    <a:gridCol w="3738245"/>
                  </a:tblGrid>
                  <a:tr h="614045"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900" spc="130" dirty="0"/>
                            <a:t>来源</a:t>
                          </a:r>
                          <a:endParaRPr lang="zh-CN" altLang="en-US" sz="19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900" spc="130" dirty="0"/>
                            <a:t>概率分布</a:t>
                          </a:r>
                          <a:endParaRPr lang="zh-CN" altLang="en-US" sz="19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900" spc="130"/>
                            <a:t>不确定度</a:t>
                          </a:r>
                          <a:endParaRPr lang="zh-CN" altLang="en-US" sz="19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900" spc="130"/>
                            <a:t>说明</a:t>
                          </a:r>
                          <a:endParaRPr lang="zh-CN" altLang="en-US" sz="1900" spc="130" dirty="0"/>
                        </a:p>
                      </a:txBody>
                      <a:tcPr marL="215900" marR="215900" marT="133350" marB="133350" anchor="ctr"/>
                    </a:tc>
                  </a:tr>
                  <a:tr h="887730"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千分尺校准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正态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𝑐𝑎𝑙</m:t>
                                    </m:r>
                                  </m:sub>
                                </m:sSub>
                                <m:r>
                                  <a:rPr lang="en-US" altLang="zh-CN" sz="1700" spc="130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sz="1700" spc="130" smtClean="0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700" b="0" i="1" spc="130" smtClean="0">
                                            <a:latin typeface="Cambria Math" panose="02040503050406030204" pitchFamily="18" charset="0"/>
                                            <a:ea typeface="MS Mincho" charset="0"/>
                                            <a:cs typeface="Cambria Math" panose="02040503050406030204" pitchFamily="18" charset="0"/>
                                          </a:rPr>
                                          <m:t>∆</m:t>
                                        </m:r>
                                      </m:e>
                                      <m:sub>
                                        <m:r>
                                          <a:rPr lang="en-US" altLang="zh-CN" sz="1700" spc="130" smtClean="0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𝑀𝑃𝐸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700" b="0" i="1" spc="130" smtClean="0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zh-CN" sz="1700" spc="130" dirty="0" smtClean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依据设备说明书得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700" spc="130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700" spc="130" smtClean="0"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n-US" altLang="zh-CN" sz="1700" spc="130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𝑀𝑃𝐸</m:t>
                                  </m:r>
                                </m:sub>
                              </m:sSub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003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700" spc="130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mm</m:t>
                              </m:r>
                            </m:oMath>
                          </a14:m>
                          <a:endParaRPr lang="en-US" altLang="zh-CN" sz="1700" spc="130" dirty="0" smtClean="0"/>
                        </a:p>
                      </a:txBody>
                      <a:tcPr marL="215900" marR="215900" marT="133350" marB="133350" anchor="ctr"/>
                    </a:tc>
                  </a:tr>
                  <a:tr h="606425"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千分尺回程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矩形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𝑏𝑎𝑐𝑘</m:t>
                                    </m:r>
                                  </m:sub>
                                </m:sSub>
                                <m:r>
                                  <a:rPr lang="en-US" altLang="zh-CN" sz="1700" spc="130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∆</m:t>
                                    </m:r>
                                  </m:e>
                                  <m:sub>
                                    <m: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700" spc="130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altLang="zh-CN" sz="1700" spc="130" dirty="0" smtClean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用激光测量得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700" spc="130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700" spc="130" smtClean="0"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n-US" altLang="zh-CN" sz="1700" spc="130" smtClean="0"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001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700" spc="130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mm</m:t>
                              </m:r>
                            </m:oMath>
                          </a14:m>
                          <a:endParaRPr lang="en-US" altLang="zh-CN" sz="1700" spc="130" dirty="0" smtClean="0"/>
                        </a:p>
                      </a:txBody>
                      <a:tcPr marL="215900" marR="215900" marT="133350" marB="133350" anchor="ctr"/>
                    </a:tc>
                  </a:tr>
                  <a:tr h="887730"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步进电机位移精度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矩形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stepper</m:t>
                                    </m:r>
                                  </m:sub>
                                </m:sSub>
                                <m:r>
                                  <a:rPr lang="en-US" altLang="zh-CN" sz="1700" spc="130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∆</m:t>
                                    </m:r>
                                  </m:e>
                                  <m:sub>
                                    <m: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700" spc="130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700" spc="130" smtClean="0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altLang="zh-CN" sz="1700" spc="130" dirty="0" smtClean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根据最小步进角度得到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700" spc="130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700" spc="130" smtClean="0"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n-US" altLang="zh-CN" sz="1700" spc="130" smtClean="0"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700" spc="130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700" spc="130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nm</m:t>
                              </m:r>
                            </m:oMath>
                          </a14:m>
                          <a:endParaRPr lang="en-US" altLang="zh-CN" sz="1700" spc="130" dirty="0" smtClean="0"/>
                        </a:p>
                      </a:txBody>
                      <a:tcPr marL="215900" marR="215900" marT="133350" marB="13335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3"/>
              <p:cNvGraphicFramePr>
                <a:graphicFrameLocks noGrp="1"/>
              </p:cNvGraphicFramePr>
              <p:nvPr>
                <p:custDataLst>
                  <p:tags r:id="rId7"/>
                </p:custDataLst>
              </p:nvPr>
            </p:nvGraphicFramePr>
            <p:xfrm>
              <a:off x="815340" y="3717290"/>
              <a:ext cx="10488930" cy="2995930"/>
            </p:xfrm>
            <a:graphic>
              <a:graphicData uri="http://schemas.openxmlformats.org/drawingml/2006/table">
                <a:tbl>
                  <a:tblPr firstRow="1" bandRow="1">
                    <a:tableStyleId>{42FA2FE6-3F77-43D4-85AD-5231A626D551}</a:tableStyleId>
                  </a:tblPr>
                  <a:tblGrid>
                    <a:gridCol w="1775460"/>
                    <a:gridCol w="1571625"/>
                    <a:gridCol w="3403600"/>
                    <a:gridCol w="3738245"/>
                  </a:tblGrid>
                  <a:tr h="614045"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900" spc="130" dirty="0"/>
                            <a:t>来源</a:t>
                          </a:r>
                          <a:endParaRPr lang="zh-CN" altLang="en-US" sz="19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900" spc="130" dirty="0"/>
                            <a:t>概率分布</a:t>
                          </a:r>
                          <a:endParaRPr lang="zh-CN" altLang="en-US" sz="19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900" spc="130"/>
                            <a:t>不确定度</a:t>
                          </a:r>
                          <a:endParaRPr lang="zh-CN" altLang="en-US" sz="19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900" spc="130"/>
                            <a:t>说明</a:t>
                          </a:r>
                          <a:endParaRPr lang="zh-CN" altLang="en-US" sz="1900" spc="130" dirty="0"/>
                        </a:p>
                      </a:txBody>
                      <a:tcPr marL="215900" marR="215900" marT="133350" marB="133350" anchor="ctr"/>
                    </a:tc>
                  </a:tr>
                  <a:tr h="887730"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千分尺校准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正态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15900" marR="215900" marT="133350" marB="133350" anchor="ctr"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15900" marR="215900" marT="133350" marB="133350" anchor="ctr">
                        <a:blipFill>
                          <a:blip r:embed="rId8"/>
                        </a:blipFill>
                      </a:tcPr>
                    </a:tc>
                  </a:tr>
                  <a:tr h="606425"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千分尺回程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矩形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15900" marR="215900" marT="133350" marB="133350" anchor="ctr"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15900" marR="215900" marT="133350" marB="133350" anchor="ctr">
                        <a:blipFill>
                          <a:blip r:embed="rId8"/>
                        </a:blipFill>
                      </a:tcPr>
                    </a:tc>
                  </a:tr>
                  <a:tr h="887730">
                    <a:tc>
                      <a:txBody>
                        <a:bodyPr/>
                        <a:p>
                          <a:pPr algn="l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步进电机位移精度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p>
                          <a:pPr algn="ctr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1700" spc="130" dirty="0"/>
                            <a:t>矩形</a:t>
                          </a:r>
                          <a:endParaRPr lang="zh-CN" altLang="en-US" sz="1700" spc="130" dirty="0"/>
                        </a:p>
                      </a:txBody>
                      <a:tcPr marL="215900" marR="215900" marT="133350" marB="133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15900" marR="215900" marT="133350" marB="133350" anchor="ctr"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15900" marR="215900" marT="133350" marB="133350" anchor="ctr">
                        <a:blipFill>
                          <a:blip r:embed="rId8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3" name="平行四边形 2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实验数据以及误差分析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9"/>
            </p:custDataLst>
          </p:nvPr>
        </p:nvSpPr>
        <p:spPr>
          <a:xfrm>
            <a:off x="588010" y="944880"/>
            <a:ext cx="10989310" cy="2372995"/>
          </a:xfrm>
          <a:prstGeom prst="roundRect">
            <a:avLst>
              <a:gd name="adj" fmla="val 11320"/>
            </a:avLst>
          </a:prstGeom>
          <a:noFill/>
          <a:ln w="12700">
            <a:solidFill>
              <a:schemeClr val="tx1"/>
            </a:solidFill>
            <a:prstDash val="dash"/>
          </a:ln>
          <a:effectLst>
            <a:outerShdw blurRad="114300" dist="50800" dir="2700000" algn="tl" rotWithShape="0">
              <a:schemeClr val="accent1">
                <a:lumMod val="7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215900" tIns="45720" rIns="215900" bIns="45720" numCol="1" spcCol="0" rtlCol="0" fromWordArt="0" anchor="ctr" anchorCtr="0" forceAA="0" compatLnSpc="1">
            <a:normAutofit/>
          </a:bodyPr>
          <a:lstStyle/>
          <a:p>
            <a:pPr marL="0" lvl="0" indent="0" algn="l" fontAlgn="auto">
              <a:lnSpc>
                <a:spcPct val="130000"/>
              </a:lnSpc>
              <a:buClrTx/>
              <a:buSzTx/>
              <a:buFontTx/>
            </a:pPr>
            <a:r>
              <a:rPr kumimoji="0" lang="en-US" altLang="zh-CN" sz="14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cs typeface="Cambria Math" panose="02040503050406030204" pitchFamily="18" charset="0"/>
                <a:sym typeface="MiSans Normal" panose="00000500000000000000" charset="-122"/>
              </a:rPr>
              <a:t>      </a:t>
            </a:r>
            <a:endParaRPr kumimoji="0" lang="en-US" altLang="zh-CN" sz="1400" b="0" i="1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mbria Math" panose="02040503050406030204" pitchFamily="18" charset="0"/>
              <a:cs typeface="Cambria Math" panose="02040503050406030204" pitchFamily="18" charset="0"/>
              <a:sym typeface="MiSans Normal" panose="000005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718820" y="889635"/>
                <a:ext cx="10537825" cy="2744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测量模型</a:t>
                </a:r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                                  </m:t>
                    </m:r>
                  </m:oMath>
                </a14:m>
                <a:endParaRPr lang="en-US" altLang="zh-CN" b="1" i="1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 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𝒅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𝒄𝒂𝒍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𝒃𝒂𝒄𝒌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𝒔𝒕𝒆𝒑𝒑𝒆𝒓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lang="zh-CN" altLang="en-US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标准不确定度：</a:t>
                </a:r>
                <a14:m>
                  <m:oMath xmlns:m="http://schemas.openxmlformats.org/officeDocument/2006/math">
                    <m:r>
                      <a:rPr lang="en-US" altLang="zh-CN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+mn-ea"/>
                      </a:rPr>
                      <m:t>                 </m:t>
                    </m:r>
                  </m:oMath>
                </a14:m>
                <a:endPara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  <a:sym typeface="+mn-ea"/>
                        </a:rPr>
                        <m:t> 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𝒄𝒂𝒍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𝒃𝒂𝒄𝒌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𝒔𝒕𝒆𝒑𝒑𝒆𝒓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完整位移标准差：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kumimoji="0" lang="en-US" altLang="zh-CN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kumimoji="0" lang="en-US" altLang="zh-CN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kumimoji="0" lang="en-US" altLang="zh-CN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0" lang="en-US" altLang="zh-CN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kumimoji="0" lang="en-US" altLang="zh-CN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kumimoji="0" lang="en-US" altLang="zh-CN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微软雅黑" panose="020B0503020204020204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CN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kumimoji="0" lang="en-US" altLang="zh-CN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kumimoji="0" lang="en-US" altLang="zh-CN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en-US" altLang="zh-CN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</m:e>
                                    </m:acc>
                                    <m:r>
                                      <a:rPr kumimoji="0" lang="en-US" altLang="zh-CN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kumimoji="0" lang="en-US" altLang="zh-CN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𝒏</m:t>
                            </m:r>
                            <m: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𝟏</m:t>
                            </m:r>
                          </m:den>
                        </m:f>
                      </m:e>
                    </m:rad>
                  </m:oMath>
                </a14:m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A</a:t>
                </a:r>
                <a:r>
                  <a:rPr lang="zh-CN" altLang="en-US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类不确定度：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𝑨</m:t>
                        </m:r>
                      </m:sub>
                    </m:sSub>
                    <m:d>
                      <m:dPr>
                        <m:ctrlP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𝒅</m:t>
                            </m:r>
                          </m:e>
                        </m:acc>
                      </m:e>
                    </m:d>
                    <m:r>
                      <a:rPr kumimoji="0" lang="en-US" altLang="zh-CN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𝒅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𝒏</m:t>
                            </m:r>
                          </m:e>
                        </m:rad>
                      </m:den>
                    </m:f>
                  </m:oMath>
                </a14:m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         B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类不确定度：如下表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20" y="889635"/>
                <a:ext cx="10537825" cy="274447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1"/>
    </p:custData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660" y="4248785"/>
            <a:ext cx="7061200" cy="2966085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7877001" y="834776"/>
            <a:ext cx="4181776" cy="2499147"/>
          </a:xfrm>
          <a:prstGeom prst="roundRect">
            <a:avLst/>
          </a:prstGeom>
          <a:ln w="19050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测试方式：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追踪中心条纹，在计算机画面中规定初始位置，以电机停转时条纹所在的位置为终止位置，每次由同一个方向从初始位置接近终止位置，用千分尺读数表示位置，读出每次定位条纹的位移，每组实验读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次数，重复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33223" y="848027"/>
            <a:ext cx="7605872" cy="3248845"/>
          </a:xfrm>
          <a:prstGeom prst="roundRect">
            <a:avLst/>
          </a:prstGeom>
          <a:ln w="19050">
            <a:solidFill>
              <a:srgbClr val="CA8F4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398306" y="834776"/>
                <a:ext cx="7268119" cy="3875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平均完整位移：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𝒅</m:t>
                        </m:r>
                      </m:e>
                    </m:acc>
                    <m:r>
                      <a:rPr lang="en-US" altLang="zh-CN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𝒏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𝟎𝟐𝟔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𝒎𝒎</m:t>
                        </m:r>
                      </m:e>
                    </m:nary>
                  </m:oMath>
                </a14:m>
                <a:endParaRPr lang="en-US" altLang="zh-CN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完整位移标准差：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kumimoji="0" lang="en-US" altLang="zh-CN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kumimoji="0" lang="en-US" altLang="zh-CN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0" lang="en-US" altLang="zh-CN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kumimoji="0" lang="en-US" altLang="zh-CN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kumimoji="0" lang="en-US" altLang="zh-CN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微软雅黑" panose="020B0503020204020204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CN" sz="18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18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18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kumimoji="0" lang="en-US" altLang="zh-CN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kumimoji="0" lang="en-US" altLang="zh-CN" sz="18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en-US" altLang="zh-CN" sz="18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</m:e>
                                    </m:acc>
                                    <m:r>
                                      <a:rPr kumimoji="0" lang="en-US" altLang="zh-CN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kumimoji="0" lang="en-US" altLang="zh-CN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𝒏</m:t>
                            </m:r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𝟏</m:t>
                            </m:r>
                          </m:den>
                        </m:f>
                      </m:e>
                    </m:rad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𝟎</m:t>
                    </m:r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.</m:t>
                    </m:r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𝟎𝟎𝟏𝟓</m:t>
                    </m:r>
                    <m:r>
                      <a:rPr lang="en-US" altLang="zh-CN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𝒎𝒎</m:t>
                    </m:r>
                  </m:oMath>
                </a14:m>
                <a:endParaRPr lang="en-US" altLang="zh-CN" b="1" i="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类不确定度：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𝒅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𝒏</m:t>
                            </m:r>
                          </m:e>
                        </m:rad>
                      </m:den>
                    </m:f>
                    <m:r>
                      <a:rPr lang="en-US" altLang="zh-CN" b="1" noProof="0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≈</m:t>
                    </m:r>
                    <m:r>
                      <a:rPr lang="en-US" altLang="zh-CN" b="1" i="0" noProof="0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𝟎</m:t>
                    </m:r>
                    <m:r>
                      <a:rPr lang="en-US" altLang="zh-CN" b="1" i="0" noProof="0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b="1" i="0" noProof="0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𝟎𝟎𝟎𝟔𝟕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𝒎𝒎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𝟎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𝟔𝟕𝟎</m:t>
                    </m:r>
                    <m:r>
                      <a:rPr lang="zh-CN" altLang="en-US" b="1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𝝁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𝒎</m:t>
                    </m:r>
                  </m:oMath>
                </a14:m>
                <a:endParaRPr lang="en-US" altLang="zh-CN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</a:t>
                </a:r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类不确定度：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𝒄𝒂𝒍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𝑴𝑷𝑬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𝟎𝟎𝟏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𝒎𝒎</m:t>
                    </m:r>
                  </m:oMath>
                </a14:m>
                <a:endParaRPr lang="en-US" altLang="zh-CN" b="1" i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                            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𝒃𝒂𝒄𝒌</m:t>
                          </m:r>
                        </m:sub>
                      </m:sSub>
                      <m:r>
                        <a:rPr lang="en-US" altLang="zh-CN" b="1" i="0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  <m:r>
                        <a:rPr lang="en-US" altLang="zh-CN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≈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𝟓𝟕𝟕</m:t>
                      </m:r>
                      <m:r>
                        <a:rPr lang="zh-CN" altLang="en-US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𝝁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altLang="zh-CN" b="1" i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                            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𝒔𝒕𝒆𝒑𝒑𝒆𝒓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n-US" altLang="zh-CN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≈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𝟕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𝟐𝟏𝟕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𝒏𝒎</m:t>
                      </m:r>
                    </m:oMath>
                  </m:oMathPara>
                </a14:m>
                <a:endParaRPr lang="en-US" altLang="zh-CN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标准不确定度：</a:t>
                </a:r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𝒄𝒂𝒍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𝒃𝒂𝒄𝒌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𝒔𝒕𝒆𝒑𝒑𝒆𝒓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altLang="zh-CN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≈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𝟗𝟒𝟒𝟖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𝒎</m:t>
                    </m:r>
                  </m:oMath>
                </a14:m>
                <a:endParaRPr lang="zh-CN" altLang="en-US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endParaRPr lang="en-US" altLang="zh-CN" b="1" i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endParaRPr lang="en-US" altLang="zh-CN" b="1" i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06" y="834776"/>
                <a:ext cx="7268119" cy="3875405"/>
              </a:xfrm>
              <a:prstGeom prst="rect">
                <a:avLst/>
              </a:prstGeom>
              <a:blipFill rotWithShape="1">
                <a:blip r:embed="rId2"/>
                <a:stretch>
                  <a:fillRect l="-2" t="-10" r="1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: 圆角 24"/>
          <p:cNvSpPr/>
          <p:nvPr/>
        </p:nvSpPr>
        <p:spPr>
          <a:xfrm>
            <a:off x="7551370" y="4832392"/>
            <a:ext cx="4181776" cy="814119"/>
          </a:xfrm>
          <a:prstGeom prst="roundRect">
            <a:avLst/>
          </a:prstGeom>
          <a:ln w="19050">
            <a:solidFill>
              <a:srgbClr val="CA8F4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7877001" y="5050395"/>
                <a:ext cx="36347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highlight>
                      <a:srgbClr val="FFFF00"/>
                    </a:highlight>
                  </a:rPr>
                  <a:t>结论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0000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448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001" y="5050395"/>
                <a:ext cx="363475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3" t="-65" r="1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3" name="平行四边形 2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实验数据以及误差分析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rect 1084"/>
          <p:cNvSpPr/>
          <p:nvPr/>
        </p:nvSpPr>
        <p:spPr>
          <a:xfrm>
            <a:off x="0" y="1298448"/>
            <a:ext cx="4733544" cy="4261103"/>
          </a:xfrm>
          <a:prstGeom prst="rect">
            <a:avLst/>
          </a:prstGeom>
          <a:solidFill>
            <a:srgbClr val="333F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6" name="rect 1086"/>
          <p:cNvSpPr/>
          <p:nvPr/>
        </p:nvSpPr>
        <p:spPr>
          <a:xfrm>
            <a:off x="10344911" y="1298448"/>
            <a:ext cx="1847087" cy="4261103"/>
          </a:xfrm>
          <a:prstGeom prst="rect">
            <a:avLst/>
          </a:prstGeom>
          <a:solidFill>
            <a:srgbClr val="CA8F4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8" name="textbox 1088"/>
          <p:cNvSpPr/>
          <p:nvPr/>
        </p:nvSpPr>
        <p:spPr>
          <a:xfrm>
            <a:off x="5897854" y="2986506"/>
            <a:ext cx="4137025" cy="1061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4000"/>
              </a:lnSpc>
              <a:spcBef>
                <a:spcPts val="0"/>
              </a:spcBef>
            </a:pPr>
            <a:r>
              <a:rPr lang="zh-CN" altLang="en-US" sz="3600" kern="0" spc="-10" dirty="0" err="1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实验创新点与总结</a:t>
            </a:r>
            <a:endParaRPr lang="zh-CN" altLang="en-US" sz="3600" kern="0" spc="-10" dirty="0" err="1">
              <a:solidFill>
                <a:srgbClr val="333F5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2" name="group 102"/>
          <p:cNvGrpSpPr/>
          <p:nvPr/>
        </p:nvGrpSpPr>
        <p:grpSpPr>
          <a:xfrm rot="21600000">
            <a:off x="3797808" y="2493264"/>
            <a:ext cx="2043958" cy="2058437"/>
            <a:chOff x="0" y="0"/>
            <a:chExt cx="2043958" cy="2058437"/>
          </a:xfrm>
        </p:grpSpPr>
        <p:pic>
          <p:nvPicPr>
            <p:cNvPr id="1090" name="picture 109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2043958" cy="2058437"/>
            </a:xfrm>
            <a:prstGeom prst="rect">
              <a:avLst/>
            </a:prstGeom>
          </p:spPr>
        </p:pic>
        <p:sp>
          <p:nvSpPr>
            <p:cNvPr id="1092" name="textbox 1092"/>
            <p:cNvSpPr/>
            <p:nvPr/>
          </p:nvSpPr>
          <p:spPr>
            <a:xfrm>
              <a:off x="-12700" y="-12700"/>
              <a:ext cx="2069464" cy="2122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31825" algn="l" rtl="0" eaLnBrk="0">
                <a:lnSpc>
                  <a:spcPct val="78000"/>
                </a:lnSpc>
                <a:spcBef>
                  <a:spcPts val="0"/>
                </a:spcBef>
              </a:pPr>
              <a:r>
                <a:rPr sz="4800" kern="0" spc="-7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lang="en-US" sz="4800" kern="0" spc="-7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sz="4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49250" algn="l" rtl="0" eaLnBrk="0">
                <a:lnSpc>
                  <a:spcPct val="74000"/>
                </a:lnSpc>
                <a:spcBef>
                  <a:spcPts val="570"/>
                </a:spcBef>
              </a:pPr>
              <a:r>
                <a:rPr sz="2000" kern="0" spc="-20" dirty="0">
                  <a:solidFill>
                    <a:srgbClr val="A6A6A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CHAPTER</a:t>
              </a:r>
              <a:endParaRPr sz="2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94" name="textbox 1094"/>
          <p:cNvSpPr/>
          <p:nvPr/>
        </p:nvSpPr>
        <p:spPr>
          <a:xfrm>
            <a:off x="11107321" y="6467576"/>
            <a:ext cx="168910" cy="170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kern="0" spc="-1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46</a:t>
            </a:r>
            <a:endParaRPr sz="1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3" name="平行四边形 2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实验创新点与</a:t>
            </a:r>
            <a:r>
              <a:rPr lang="zh-CN" altLang="en-US" dirty="0">
                <a:solidFill>
                  <a:srgbClr val="333F50"/>
                </a:solidFill>
                <a:cs typeface="微软雅黑" panose="020B0503020204020204" charset="-122"/>
                <a:sym typeface="+mn-ea"/>
              </a:rPr>
              <a:t>总结</a:t>
            </a:r>
            <a:endParaRPr lang="zh-CN" altLang="en-US" dirty="0">
              <a:solidFill>
                <a:srgbClr val="333F50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14070" y="1223010"/>
            <a:ext cx="9800590" cy="5118735"/>
          </a:xfrm>
          <a:prstGeom prst="rect">
            <a:avLst/>
          </a:prstGeom>
          <a:noFill/>
          <a:ln>
            <a:solidFill>
              <a:srgbClr val="333F5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1163955" y="1447800"/>
            <a:ext cx="4154805" cy="2212975"/>
          </a:xfrm>
          <a:prstGeom prst="roundRect">
            <a:avLst/>
          </a:prstGeom>
          <a:noFill/>
          <a:ln w="19050">
            <a:solidFill>
              <a:srgbClr val="CA8F45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725160" y="1447800"/>
            <a:ext cx="4154805" cy="2212975"/>
          </a:xfrm>
          <a:prstGeom prst="roundRect">
            <a:avLst/>
          </a:prstGeom>
          <a:noFill/>
          <a:ln w="19050">
            <a:solidFill>
              <a:srgbClr val="333F5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163955" y="3950970"/>
            <a:ext cx="8775065" cy="2212975"/>
          </a:xfrm>
          <a:prstGeom prst="roundRect">
            <a:avLst/>
          </a:prstGeom>
          <a:noFill/>
          <a:ln w="19050">
            <a:solidFill>
              <a:srgbClr val="CA8F45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606550" y="1307465"/>
            <a:ext cx="1351280" cy="427355"/>
          </a:xfrm>
          <a:prstGeom prst="rect">
            <a:avLst/>
          </a:prstGeom>
          <a:solidFill>
            <a:srgbClr val="333F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622425" y="1292225"/>
            <a:ext cx="1459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智能体开发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73505" y="1820545"/>
            <a:ext cx="359537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本项目创新研发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实验辅助智能体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，可贯穿实验全部流程，提供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过程化引导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、动态实时反馈与个性化评测，有效解决实验教学中的现实难题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17260" y="1330960"/>
            <a:ext cx="1630680" cy="566420"/>
          </a:xfrm>
          <a:prstGeom prst="rect">
            <a:avLst/>
          </a:prstGeom>
          <a:solidFill>
            <a:srgbClr val="CA8F45"/>
          </a:solidFill>
          <a:ln>
            <a:solidFill>
              <a:srgbClr val="CA8F4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017260" y="1292225"/>
            <a:ext cx="1621790" cy="636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动镜调节辅助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系统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03595" y="1929130"/>
            <a:ext cx="359537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装置自主搭建融合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C51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单片机、数显千分尺、步进电机的动镜调节辅助系统，有效降低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白光干涉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实验操作门槛，实现实验过程的信息化与自动化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45285" y="3800475"/>
            <a:ext cx="1918335" cy="567055"/>
          </a:xfrm>
          <a:prstGeom prst="rect">
            <a:avLst/>
          </a:prstGeom>
          <a:solidFill>
            <a:srgbClr val="333F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715135" y="3899535"/>
            <a:ext cx="1848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视觉辅助系统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73505" y="4367530"/>
            <a:ext cx="45294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本项目创新研发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实验辅助智能体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，可贯穿实验全部流程，提供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过程化引导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、动态实时反馈与个性化评测，有效解决实验教学中的现实难题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8" name="table 1128"/>
          <p:cNvGraphicFramePr>
            <a:graphicFrameLocks noGrp="1"/>
          </p:cNvGraphicFramePr>
          <p:nvPr/>
        </p:nvGraphicFramePr>
        <p:xfrm>
          <a:off x="410464" y="1029207"/>
          <a:ext cx="5403850" cy="3208019"/>
        </p:xfrm>
        <a:graphic>
          <a:graphicData uri="http://schemas.openxmlformats.org/drawingml/2006/table">
            <a:tbl>
              <a:tblPr/>
              <a:tblGrid>
                <a:gridCol w="2670175"/>
                <a:gridCol w="2733675"/>
              </a:tblGrid>
              <a:tr h="4102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855" algn="l" rtl="0" eaLnBrk="0">
                        <a:lnSpc>
                          <a:spcPct val="85000"/>
                        </a:lnSpc>
                      </a:pPr>
                      <a:r>
                        <a:rPr sz="17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</a:t>
                      </a:r>
                      <a:endParaRPr sz="1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160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700" b="1" kern="0" spc="-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价格（元）</a:t>
                      </a:r>
                      <a:endParaRPr sz="1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</a:tr>
              <a:tr h="697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1700" b="1" kern="0" spc="-3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CCD相机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775" algn="ct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</a:t>
                      </a:r>
                      <a:r>
                        <a:rPr lang="en-US"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00</a:t>
                      </a:r>
                      <a:endParaRPr lang="en-US" sz="2400" kern="0" spc="-30" dirty="0">
                        <a:solidFill>
                          <a:srgbClr val="000000">
                            <a:alpha val="100000"/>
                          </a:srgbClr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</a:tr>
              <a:tr h="697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033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700" b="1" kern="0" spc="-1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光学镜头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775" algn="ct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buClrTx/>
                        <a:buSzTx/>
                        <a:buFontTx/>
                      </a:pP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158</a:t>
                      </a:r>
                      <a:endParaRPr sz="2400" kern="0" spc="-30" dirty="0">
                        <a:solidFill>
                          <a:srgbClr val="000000">
                            <a:alpha val="100000"/>
                          </a:srgbClr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9"/>
                    </a:solidFill>
                  </a:tcPr>
                </a:tc>
              </a:tr>
              <a:tr h="697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23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700" b="1" kern="0" spc="-1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步进电机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775" algn="ct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buClrTx/>
                        <a:buSzTx/>
                        <a:buFontTx/>
                      </a:pP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50</a:t>
                      </a:r>
                      <a:endParaRPr sz="2400" kern="0" spc="-30" dirty="0">
                        <a:solidFill>
                          <a:srgbClr val="000000">
                            <a:alpha val="100000"/>
                          </a:srgbClr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</a:tr>
              <a:tr h="7042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1600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lang="en-US" sz="1700" b="1" kern="0" spc="-1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C51</a:t>
                      </a:r>
                      <a:r>
                        <a:rPr sz="1700" b="1" kern="0" spc="-1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单片机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775" algn="ct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buClrTx/>
                        <a:buSzTx/>
                        <a:buFontTx/>
                      </a:pPr>
                      <a:r>
                        <a:rPr lang="en-US"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89</a:t>
                      </a:r>
                      <a:endParaRPr lang="en-US" sz="2400" kern="0" spc="-30" dirty="0">
                        <a:solidFill>
                          <a:srgbClr val="000000">
                            <a:alpha val="100000"/>
                          </a:srgbClr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9"/>
                    </a:solidFill>
                  </a:tcPr>
                </a:tc>
              </a:tr>
            </a:tbl>
          </a:graphicData>
        </a:graphic>
      </p:graphicFrame>
      <p:sp>
        <p:nvSpPr>
          <p:cNvPr id="1132" name="textbox 1132"/>
          <p:cNvSpPr/>
          <p:nvPr/>
        </p:nvSpPr>
        <p:spPr>
          <a:xfrm>
            <a:off x="410210" y="311785"/>
            <a:ext cx="468947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3200" kern="0" spc="-2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lang="en-US" altLang="zh-CN" sz="3200" kern="0" spc="-2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200" kern="0" spc="-2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成本总结</a:t>
            </a:r>
            <a:r>
              <a:rPr lang="zh-CN" sz="3200" kern="0" spc="-2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sz="3200" kern="0" spc="-2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</a:t>
            </a:r>
            <a:endParaRPr lang="zh-CN" sz="3200" kern="0" spc="-20" dirty="0">
              <a:solidFill>
                <a:srgbClr val="A6A6A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8" name="textbox 1138"/>
          <p:cNvSpPr/>
          <p:nvPr/>
        </p:nvSpPr>
        <p:spPr>
          <a:xfrm>
            <a:off x="296545" y="4630420"/>
            <a:ext cx="10732770" cy="2103120"/>
          </a:xfrm>
          <a:prstGeom prst="roundRect">
            <a:avLst>
              <a:gd name="adj" fmla="val 17656"/>
            </a:avLst>
          </a:prstGeom>
          <a:noFill/>
          <a:ln w="38100" cap="flat">
            <a:solidFill>
              <a:srgbClr val="0F151D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0825" algn="l" rtl="0" eaLnBrk="0">
              <a:lnSpc>
                <a:spcPct val="89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王希成，高辉，杨文革，等。白光和激光扩展光源协同调节白光等厚干涉条纹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[J].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中国现代教育装备，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 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0825" algn="l" rtl="0" eaLnBrk="0">
              <a:lnSpc>
                <a:spcPct val="89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李劲松。基于白光和激光干涉的高灵敏微位移测量技术研究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[D].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湖北工业大学，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2020.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0825" algn="l" rtl="0" eaLnBrk="0">
              <a:lnSpc>
                <a:spcPct val="89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陈淑清。用迈克尔逊干涉仪测气体浓度的方法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[J].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大学物理实验，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2002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0825" algn="l" rtl="0" eaLnBrk="0">
              <a:lnSpc>
                <a:spcPct val="89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[4]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张萍，侯晨霞，宋金璠。综合设计性实验教学的研究与探讨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迈克尔逊干涉仪的拓展应用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[J].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实验技术与管理，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2011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table 1128"/>
          <p:cNvGraphicFramePr>
            <a:graphicFrameLocks noGrp="1"/>
          </p:cNvGraphicFramePr>
          <p:nvPr/>
        </p:nvGraphicFramePr>
        <p:xfrm>
          <a:off x="5814314" y="1029207"/>
          <a:ext cx="5403850" cy="3208019"/>
        </p:xfrm>
        <a:graphic>
          <a:graphicData uri="http://schemas.openxmlformats.org/drawingml/2006/table">
            <a:tbl>
              <a:tblPr/>
              <a:tblGrid>
                <a:gridCol w="2670175"/>
                <a:gridCol w="2733675"/>
              </a:tblGrid>
              <a:tr h="4102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855" algn="l" rtl="0" eaLnBrk="0">
                        <a:lnSpc>
                          <a:spcPct val="85000"/>
                        </a:lnSpc>
                      </a:pPr>
                      <a:r>
                        <a:rPr sz="17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</a:t>
                      </a:r>
                      <a:endParaRPr sz="1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160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700" b="1" kern="0" spc="-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价格（元）</a:t>
                      </a:r>
                      <a:endParaRPr sz="1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</a:tr>
              <a:tr h="697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lang="zh-CN" sz="17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数字化</a:t>
                      </a:r>
                      <a:r>
                        <a:rPr lang="zh-CN" sz="17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千分尺</a:t>
                      </a:r>
                      <a:endParaRPr lang="zh-CN"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775" algn="ct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lang="en-US"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496</a:t>
                      </a:r>
                      <a:endParaRPr lang="en-US" sz="2400" kern="0" spc="-30" dirty="0">
                        <a:solidFill>
                          <a:srgbClr val="000000">
                            <a:alpha val="100000"/>
                          </a:srgbClr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</a:tr>
              <a:tr h="697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033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lang="zh-CN" sz="17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电机驱动</a:t>
                      </a:r>
                      <a:r>
                        <a:rPr lang="en-US" altLang="zh-CN" sz="17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sz="17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电源</a:t>
                      </a:r>
                      <a:endParaRPr lang="en-US" altLang="zh-CN"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775" algn="ct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buClrTx/>
                        <a:buSzTx/>
                        <a:buFontTx/>
                      </a:pPr>
                      <a:r>
                        <a:rPr lang="en-US"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76</a:t>
                      </a:r>
                      <a:endParaRPr lang="en-US" sz="2400" kern="0" spc="-30" dirty="0">
                        <a:solidFill>
                          <a:srgbClr val="000000">
                            <a:alpha val="100000"/>
                          </a:srgbClr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9"/>
                    </a:solidFill>
                  </a:tcPr>
                </a:tc>
              </a:tr>
              <a:tr h="697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23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lang="en-US" sz="17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lang="zh-CN" altLang="en-US" sz="17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部署</a:t>
                      </a:r>
                      <a:endParaRPr lang="zh-CN" altLang="en-US"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775" algn="ct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buClrTx/>
                        <a:buSzTx/>
                        <a:buFontTx/>
                      </a:pPr>
                      <a:r>
                        <a:rPr lang="en-US"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100</a:t>
                      </a:r>
                      <a:endParaRPr lang="en-US" sz="2400" kern="0" spc="-30" dirty="0">
                        <a:solidFill>
                          <a:srgbClr val="000000">
                            <a:alpha val="100000"/>
                          </a:srgbClr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</a:tr>
              <a:tr h="7042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1600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lang="zh-CN" sz="17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总费用</a:t>
                      </a:r>
                      <a:endParaRPr lang="zh-CN"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12000"/>
                        </a:lnSpc>
                      </a:pPr>
                      <a:r>
                        <a:rPr lang="zh-CN"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约</a:t>
                      </a:r>
                      <a:r>
                        <a:rPr lang="en-US" altLang="zh-CN"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1200</a:t>
                      </a:r>
                      <a:r>
                        <a:rPr lang="zh-CN" altLang="en-US"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元</a:t>
                      </a:r>
                      <a:endParaRPr lang="zh-CN" altLang="en-US" sz="2400" kern="0" spc="-30" dirty="0">
                        <a:solidFill>
                          <a:srgbClr val="000000">
                            <a:alpha val="100000"/>
                          </a:srgbClr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4" name="table 1134"/>
          <p:cNvGraphicFramePr>
            <a:graphicFrameLocks noGrp="1"/>
          </p:cNvGraphicFramePr>
          <p:nvPr/>
        </p:nvGraphicFramePr>
        <p:xfrm>
          <a:off x="2320544" y="1550416"/>
          <a:ext cx="7428865" cy="4112258"/>
        </p:xfrm>
        <a:graphic>
          <a:graphicData uri="http://schemas.openxmlformats.org/drawingml/2006/table">
            <a:tbl>
              <a:tblPr/>
              <a:tblGrid>
                <a:gridCol w="3284220"/>
                <a:gridCol w="4144645"/>
              </a:tblGrid>
              <a:tr h="759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87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2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</a:t>
                      </a:r>
                      <a:endParaRPr sz="2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2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分工</a:t>
                      </a:r>
                      <a:endParaRPr sz="2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</a:tr>
              <a:tr h="949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870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2700" b="1" kern="0" spc="6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成员1</a:t>
                      </a:r>
                      <a:endParaRPr sz="2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3665" indent="-13970" algn="l" rtl="0" eaLnBrk="0">
                        <a:lnSpc>
                          <a:spcPct val="95000"/>
                        </a:lnSpc>
                      </a:pPr>
                      <a:r>
                        <a:rPr sz="2400" b="1" kern="0" spc="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实验装置的搭建，代码编</a:t>
                      </a:r>
                      <a:r>
                        <a:rPr sz="2400" b="1" kern="0" spc="-1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写，</a:t>
                      </a:r>
                      <a:r>
                        <a:rPr sz="2400" b="1" kern="0" spc="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400" b="1" kern="0" spc="-2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ppt制作，视频录制</a:t>
                      </a:r>
                      <a:endParaRPr sz="2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</a:tr>
              <a:tr h="1448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87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2700" b="1" kern="0" spc="6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成员2</a:t>
                      </a:r>
                      <a:endParaRPr sz="2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7790" indent="190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2400" b="1" kern="0" spc="-1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实验数据的获取，步进电机</a:t>
                      </a:r>
                      <a:r>
                        <a:rPr sz="2400" b="1" kern="0" spc="1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2400" b="1" kern="0" spc="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的搭建，论文撰写，</a:t>
                      </a:r>
                      <a:r>
                        <a:rPr sz="2400" b="1" kern="0" spc="-1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视频录  制</a:t>
                      </a:r>
                      <a:endParaRPr sz="2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9"/>
                    </a:solidFill>
                  </a:tcPr>
                </a:tc>
              </a:tr>
              <a:tr h="9550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870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2700" b="1" kern="0" spc="6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成员3</a:t>
                      </a:r>
                      <a:endParaRPr sz="2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315" indent="-10160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lang="zh-CN" sz="2400" b="1" kern="0" spc="-2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</a:t>
                      </a:r>
                      <a:r>
                        <a:rPr sz="2400" b="1" kern="0" spc="-2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置搭建，实验数</a:t>
                      </a:r>
                      <a:r>
                        <a:rPr sz="2400" b="1" kern="0" spc="-40" dirty="0">
                          <a:solidFill>
                            <a:srgbClr val="333F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据的获取，误差分析，不确定度计算</a:t>
                      </a:r>
                      <a:endParaRPr sz="2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ED0"/>
                    </a:solidFill>
                  </a:tcPr>
                </a:tc>
              </a:tr>
            </a:tbl>
          </a:graphicData>
        </a:graphic>
      </p:graphicFrame>
      <p:sp>
        <p:nvSpPr>
          <p:cNvPr id="1136" name="textbox 1136"/>
          <p:cNvSpPr/>
          <p:nvPr/>
        </p:nvSpPr>
        <p:spPr>
          <a:xfrm>
            <a:off x="410210" y="311785"/>
            <a:ext cx="3238500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r>
              <a:rPr lang="zh-CN" sz="3200" kern="0" spc="-2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lang="en-US" altLang="zh-CN" sz="3200" kern="0" spc="-2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200" kern="0" spc="-2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成员分工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rect 1142"/>
          <p:cNvSpPr/>
          <p:nvPr/>
        </p:nvSpPr>
        <p:spPr>
          <a:xfrm>
            <a:off x="0" y="0"/>
            <a:ext cx="12192000" cy="6857996"/>
          </a:xfrm>
          <a:prstGeom prst="rect">
            <a:avLst/>
          </a:prstGeom>
          <a:solidFill>
            <a:srgbClr val="333F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4" name="textbox 1144"/>
          <p:cNvSpPr/>
          <p:nvPr/>
        </p:nvSpPr>
        <p:spPr>
          <a:xfrm>
            <a:off x="4931446" y="2967928"/>
            <a:ext cx="6931659" cy="183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75000"/>
              </a:lnSpc>
            </a:pPr>
            <a:r>
              <a:rPr sz="8700" b="1" kern="0" spc="0" dirty="0">
                <a:solidFill>
                  <a:srgbClr val="CA8F4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</a:t>
            </a:r>
            <a:r>
              <a:rPr sz="8700" b="1" kern="0" spc="200" dirty="0">
                <a:solidFill>
                  <a:srgbClr val="CA8F4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700" b="1" kern="0" spc="0" dirty="0">
                <a:solidFill>
                  <a:srgbClr val="CA8F4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YOU</a:t>
            </a:r>
            <a:endParaRPr sz="8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7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200" kern="0" spc="0" dirty="0">
                <a:solidFill>
                  <a:srgbClr val="CA8F4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感谢各位老师，欢迎各位老师</a:t>
            </a:r>
            <a:r>
              <a:rPr sz="3200" kern="0" spc="-10" dirty="0">
                <a:solidFill>
                  <a:srgbClr val="CA8F4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批评指导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0" name="group 110"/>
          <p:cNvGrpSpPr/>
          <p:nvPr/>
        </p:nvGrpSpPr>
        <p:grpSpPr>
          <a:xfrm rot="21600000">
            <a:off x="480059" y="1588008"/>
            <a:ext cx="2743200" cy="3622547"/>
            <a:chOff x="0" y="0"/>
            <a:chExt cx="2743200" cy="3622547"/>
          </a:xfrm>
        </p:grpSpPr>
        <p:sp>
          <p:nvSpPr>
            <p:cNvPr id="1146" name="path 1146"/>
            <p:cNvSpPr/>
            <p:nvPr/>
          </p:nvSpPr>
          <p:spPr>
            <a:xfrm>
              <a:off x="355091" y="0"/>
              <a:ext cx="2388108" cy="3494531"/>
            </a:xfrm>
            <a:custGeom>
              <a:avLst/>
              <a:gdLst/>
              <a:ahLst/>
              <a:cxnLst/>
              <a:rect l="0" t="0" r="0" b="0"/>
              <a:pathLst>
                <a:path w="3760" h="5503">
                  <a:moveTo>
                    <a:pt x="0" y="5503"/>
                  </a:moveTo>
                  <a:cubicBezTo>
                    <a:pt x="3760" y="5503"/>
                    <a:pt x="3760" y="5503"/>
                    <a:pt x="3760" y="5503"/>
                  </a:cubicBezTo>
                  <a:cubicBezTo>
                    <a:pt x="3760" y="560"/>
                    <a:pt x="3760" y="560"/>
                    <a:pt x="3760" y="560"/>
                  </a:cubicBezTo>
                  <a:cubicBezTo>
                    <a:pt x="3760" y="253"/>
                    <a:pt x="3517" y="0"/>
                    <a:pt x="321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55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48" name="path 1148"/>
            <p:cNvSpPr/>
            <p:nvPr/>
          </p:nvSpPr>
          <p:spPr>
            <a:xfrm>
              <a:off x="0" y="0"/>
              <a:ext cx="2394204" cy="356616"/>
            </a:xfrm>
            <a:custGeom>
              <a:avLst/>
              <a:gdLst/>
              <a:ahLst/>
              <a:cxnLst/>
              <a:rect l="0" t="0" r="0" b="0"/>
              <a:pathLst>
                <a:path w="3770" h="561">
                  <a:moveTo>
                    <a:pt x="0" y="561"/>
                  </a:moveTo>
                  <a:cubicBezTo>
                    <a:pt x="3210" y="561"/>
                    <a:pt x="3210" y="561"/>
                    <a:pt x="3210" y="561"/>
                  </a:cubicBezTo>
                  <a:cubicBezTo>
                    <a:pt x="3210" y="254"/>
                    <a:pt x="3464" y="0"/>
                    <a:pt x="3770" y="0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253" y="0"/>
                    <a:pt x="0" y="254"/>
                    <a:pt x="0" y="561"/>
                  </a:cubicBezTo>
                </a:path>
              </a:pathLst>
            </a:custGeom>
            <a:solidFill>
              <a:srgbClr val="CCCBC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50" name="path 1150"/>
            <p:cNvSpPr/>
            <p:nvPr/>
          </p:nvSpPr>
          <p:spPr>
            <a:xfrm>
              <a:off x="649223" y="2532888"/>
              <a:ext cx="429767" cy="249935"/>
            </a:xfrm>
            <a:custGeom>
              <a:avLst/>
              <a:gdLst/>
              <a:ahLst/>
              <a:cxnLst/>
              <a:rect l="0" t="0" r="0" b="0"/>
              <a:pathLst>
                <a:path w="676" h="393">
                  <a:moveTo>
                    <a:pt x="0" y="393"/>
                  </a:moveTo>
                  <a:lnTo>
                    <a:pt x="676" y="393"/>
                  </a:lnTo>
                  <a:lnTo>
                    <a:pt x="676" y="0"/>
                  </a:lnTo>
                  <a:lnTo>
                    <a:pt x="0" y="0"/>
                  </a:lnTo>
                  <a:lnTo>
                    <a:pt x="0" y="393"/>
                  </a:lnTo>
                  <a:close/>
                </a:path>
              </a:pathLst>
            </a:custGeom>
            <a:solidFill>
              <a:srgbClr val="3E4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52" name="path 1152"/>
            <p:cNvSpPr/>
            <p:nvPr/>
          </p:nvSpPr>
          <p:spPr>
            <a:xfrm>
              <a:off x="1179576" y="2532888"/>
              <a:ext cx="1267968" cy="249935"/>
            </a:xfrm>
            <a:custGeom>
              <a:avLst/>
              <a:gdLst/>
              <a:ahLst/>
              <a:cxnLst/>
              <a:rect l="0" t="0" r="0" b="0"/>
              <a:pathLst>
                <a:path w="1996" h="393">
                  <a:moveTo>
                    <a:pt x="0" y="393"/>
                  </a:moveTo>
                  <a:lnTo>
                    <a:pt x="1996" y="393"/>
                  </a:lnTo>
                  <a:lnTo>
                    <a:pt x="1996" y="0"/>
                  </a:lnTo>
                  <a:lnTo>
                    <a:pt x="0" y="0"/>
                  </a:lnTo>
                  <a:lnTo>
                    <a:pt x="0" y="393"/>
                  </a:lnTo>
                  <a:close/>
                </a:path>
              </a:pathLst>
            </a:custGeom>
            <a:solidFill>
              <a:srgbClr val="CCCBC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54" name="path 1154"/>
            <p:cNvSpPr/>
            <p:nvPr/>
          </p:nvSpPr>
          <p:spPr>
            <a:xfrm>
              <a:off x="2065019" y="3378707"/>
              <a:ext cx="240792" cy="243839"/>
            </a:xfrm>
            <a:custGeom>
              <a:avLst/>
              <a:gdLst/>
              <a:ahLst/>
              <a:cxnLst/>
              <a:rect l="0" t="0" r="0" b="0"/>
              <a:pathLst>
                <a:path w="379" h="383">
                  <a:moveTo>
                    <a:pt x="0" y="383"/>
                  </a:moveTo>
                  <a:lnTo>
                    <a:pt x="0" y="0"/>
                  </a:lnTo>
                  <a:lnTo>
                    <a:pt x="379" y="0"/>
                  </a:lnTo>
                  <a:lnTo>
                    <a:pt x="0" y="383"/>
                  </a:lnTo>
                  <a:close/>
                </a:path>
              </a:pathLst>
            </a:custGeom>
            <a:solidFill>
              <a:srgbClr val="FF6D3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56" name="path 1156"/>
            <p:cNvSpPr/>
            <p:nvPr/>
          </p:nvSpPr>
          <p:spPr>
            <a:xfrm>
              <a:off x="2065019" y="3378707"/>
              <a:ext cx="240792" cy="243839"/>
            </a:xfrm>
            <a:custGeom>
              <a:avLst/>
              <a:gdLst/>
              <a:ahLst/>
              <a:cxnLst/>
              <a:rect l="0" t="0" r="0" b="0"/>
              <a:pathLst>
                <a:path w="379" h="383">
                  <a:moveTo>
                    <a:pt x="379" y="383"/>
                  </a:moveTo>
                  <a:lnTo>
                    <a:pt x="379" y="0"/>
                  </a:lnTo>
                  <a:lnTo>
                    <a:pt x="0" y="0"/>
                  </a:lnTo>
                  <a:lnTo>
                    <a:pt x="379" y="383"/>
                  </a:lnTo>
                  <a:close/>
                </a:path>
              </a:pathLst>
            </a:custGeom>
            <a:solidFill>
              <a:srgbClr val="F1542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58" name="path 1158"/>
            <p:cNvSpPr/>
            <p:nvPr/>
          </p:nvSpPr>
          <p:spPr>
            <a:xfrm>
              <a:off x="1931352" y="2901695"/>
              <a:ext cx="514474" cy="537971"/>
            </a:xfrm>
            <a:custGeom>
              <a:avLst/>
              <a:gdLst/>
              <a:ahLst/>
              <a:cxnLst/>
              <a:rect l="0" t="0" r="0" b="0"/>
              <a:pathLst>
                <a:path w="810" h="847">
                  <a:moveTo>
                    <a:pt x="358" y="31"/>
                  </a:moveTo>
                  <a:cubicBezTo>
                    <a:pt x="379" y="0"/>
                    <a:pt x="421" y="0"/>
                    <a:pt x="453" y="31"/>
                  </a:cubicBezTo>
                  <a:cubicBezTo>
                    <a:pt x="464" y="52"/>
                    <a:pt x="464" y="52"/>
                    <a:pt x="464" y="52"/>
                  </a:cubicBezTo>
                  <a:cubicBezTo>
                    <a:pt x="485" y="74"/>
                    <a:pt x="538" y="95"/>
                    <a:pt x="580" y="84"/>
                  </a:cubicBezTo>
                  <a:cubicBezTo>
                    <a:pt x="591" y="84"/>
                    <a:pt x="591" y="84"/>
                    <a:pt x="591" y="84"/>
                  </a:cubicBezTo>
                  <a:cubicBezTo>
                    <a:pt x="633" y="74"/>
                    <a:pt x="664" y="95"/>
                    <a:pt x="664" y="137"/>
                  </a:cubicBezTo>
                  <a:cubicBezTo>
                    <a:pt x="675" y="158"/>
                    <a:pt x="675" y="158"/>
                    <a:pt x="675" y="158"/>
                  </a:cubicBezTo>
                  <a:cubicBezTo>
                    <a:pt x="675" y="190"/>
                    <a:pt x="707" y="232"/>
                    <a:pt x="738" y="254"/>
                  </a:cubicBezTo>
                  <a:cubicBezTo>
                    <a:pt x="760" y="264"/>
                    <a:pt x="760" y="264"/>
                    <a:pt x="760" y="264"/>
                  </a:cubicBezTo>
                  <a:cubicBezTo>
                    <a:pt x="791" y="275"/>
                    <a:pt x="812" y="317"/>
                    <a:pt x="791" y="349"/>
                  </a:cubicBezTo>
                  <a:cubicBezTo>
                    <a:pt x="781" y="360"/>
                    <a:pt x="781" y="360"/>
                    <a:pt x="781" y="360"/>
                  </a:cubicBezTo>
                  <a:cubicBezTo>
                    <a:pt x="760" y="391"/>
                    <a:pt x="760" y="455"/>
                    <a:pt x="781" y="487"/>
                  </a:cubicBezTo>
                  <a:cubicBezTo>
                    <a:pt x="791" y="497"/>
                    <a:pt x="791" y="497"/>
                    <a:pt x="791" y="497"/>
                  </a:cubicBezTo>
                  <a:cubicBezTo>
                    <a:pt x="812" y="529"/>
                    <a:pt x="791" y="571"/>
                    <a:pt x="760" y="592"/>
                  </a:cubicBezTo>
                  <a:cubicBezTo>
                    <a:pt x="738" y="592"/>
                    <a:pt x="738" y="592"/>
                    <a:pt x="738" y="592"/>
                  </a:cubicBezTo>
                  <a:cubicBezTo>
                    <a:pt x="707" y="614"/>
                    <a:pt x="675" y="656"/>
                    <a:pt x="675" y="698"/>
                  </a:cubicBezTo>
                  <a:cubicBezTo>
                    <a:pt x="664" y="709"/>
                    <a:pt x="664" y="709"/>
                    <a:pt x="664" y="709"/>
                  </a:cubicBezTo>
                  <a:cubicBezTo>
                    <a:pt x="664" y="751"/>
                    <a:pt x="633" y="772"/>
                    <a:pt x="591" y="762"/>
                  </a:cubicBezTo>
                  <a:cubicBezTo>
                    <a:pt x="580" y="762"/>
                    <a:pt x="580" y="762"/>
                    <a:pt x="580" y="762"/>
                  </a:cubicBezTo>
                  <a:cubicBezTo>
                    <a:pt x="538" y="751"/>
                    <a:pt x="485" y="772"/>
                    <a:pt x="464" y="804"/>
                  </a:cubicBezTo>
                  <a:cubicBezTo>
                    <a:pt x="453" y="815"/>
                    <a:pt x="453" y="815"/>
                    <a:pt x="453" y="815"/>
                  </a:cubicBezTo>
                  <a:cubicBezTo>
                    <a:pt x="421" y="847"/>
                    <a:pt x="379" y="847"/>
                    <a:pt x="358" y="815"/>
                  </a:cubicBezTo>
                  <a:cubicBezTo>
                    <a:pt x="347" y="804"/>
                    <a:pt x="347" y="804"/>
                    <a:pt x="347" y="804"/>
                  </a:cubicBezTo>
                  <a:cubicBezTo>
                    <a:pt x="316" y="772"/>
                    <a:pt x="263" y="751"/>
                    <a:pt x="231" y="762"/>
                  </a:cubicBezTo>
                  <a:cubicBezTo>
                    <a:pt x="210" y="762"/>
                    <a:pt x="210" y="762"/>
                    <a:pt x="210" y="762"/>
                  </a:cubicBezTo>
                  <a:cubicBezTo>
                    <a:pt x="178" y="772"/>
                    <a:pt x="136" y="751"/>
                    <a:pt x="136" y="709"/>
                  </a:cubicBezTo>
                  <a:cubicBezTo>
                    <a:pt x="136" y="698"/>
                    <a:pt x="136" y="698"/>
                    <a:pt x="136" y="698"/>
                  </a:cubicBezTo>
                  <a:cubicBezTo>
                    <a:pt x="136" y="656"/>
                    <a:pt x="104" y="614"/>
                    <a:pt x="62" y="592"/>
                  </a:cubicBezTo>
                  <a:cubicBezTo>
                    <a:pt x="52" y="592"/>
                    <a:pt x="52" y="592"/>
                    <a:pt x="52" y="592"/>
                  </a:cubicBezTo>
                  <a:cubicBezTo>
                    <a:pt x="9" y="571"/>
                    <a:pt x="0" y="529"/>
                    <a:pt x="20" y="497"/>
                  </a:cubicBezTo>
                  <a:cubicBezTo>
                    <a:pt x="30" y="487"/>
                    <a:pt x="30" y="487"/>
                    <a:pt x="30" y="487"/>
                  </a:cubicBezTo>
                  <a:cubicBezTo>
                    <a:pt x="52" y="455"/>
                    <a:pt x="52" y="391"/>
                    <a:pt x="30" y="360"/>
                  </a:cubicBezTo>
                  <a:cubicBezTo>
                    <a:pt x="20" y="349"/>
                    <a:pt x="20" y="349"/>
                    <a:pt x="20" y="349"/>
                  </a:cubicBezTo>
                  <a:cubicBezTo>
                    <a:pt x="0" y="317"/>
                    <a:pt x="9" y="275"/>
                    <a:pt x="52" y="264"/>
                  </a:cubicBezTo>
                  <a:cubicBezTo>
                    <a:pt x="62" y="254"/>
                    <a:pt x="62" y="254"/>
                    <a:pt x="62" y="254"/>
                  </a:cubicBezTo>
                  <a:cubicBezTo>
                    <a:pt x="104" y="232"/>
                    <a:pt x="136" y="190"/>
                    <a:pt x="136" y="158"/>
                  </a:cubicBezTo>
                  <a:cubicBezTo>
                    <a:pt x="136" y="137"/>
                    <a:pt x="136" y="137"/>
                    <a:pt x="136" y="137"/>
                  </a:cubicBezTo>
                  <a:cubicBezTo>
                    <a:pt x="136" y="95"/>
                    <a:pt x="178" y="74"/>
                    <a:pt x="210" y="84"/>
                  </a:cubicBezTo>
                  <a:cubicBezTo>
                    <a:pt x="231" y="84"/>
                    <a:pt x="231" y="84"/>
                    <a:pt x="231" y="84"/>
                  </a:cubicBezTo>
                  <a:cubicBezTo>
                    <a:pt x="263" y="95"/>
                    <a:pt x="316" y="74"/>
                    <a:pt x="347" y="52"/>
                  </a:cubicBezTo>
                  <a:lnTo>
                    <a:pt x="358" y="31"/>
                  </a:lnTo>
                  <a:close/>
                </a:path>
              </a:pathLst>
            </a:custGeom>
            <a:solidFill>
              <a:srgbClr val="FFD5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60" name="path 1160"/>
            <p:cNvSpPr/>
            <p:nvPr/>
          </p:nvSpPr>
          <p:spPr>
            <a:xfrm>
              <a:off x="2017776" y="3003804"/>
              <a:ext cx="335279" cy="335279"/>
            </a:xfrm>
            <a:custGeom>
              <a:avLst/>
              <a:gdLst/>
              <a:ahLst/>
              <a:cxnLst/>
              <a:rect l="0" t="0" r="0" b="0"/>
              <a:pathLst>
                <a:path w="527" h="527">
                  <a:moveTo>
                    <a:pt x="0" y="263"/>
                  </a:moveTo>
                  <a:cubicBezTo>
                    <a:pt x="0" y="118"/>
                    <a:pt x="118" y="0"/>
                    <a:pt x="263" y="0"/>
                  </a:cubicBezTo>
                  <a:cubicBezTo>
                    <a:pt x="409" y="0"/>
                    <a:pt x="527" y="118"/>
                    <a:pt x="527" y="263"/>
                  </a:cubicBezTo>
                  <a:cubicBezTo>
                    <a:pt x="527" y="409"/>
                    <a:pt x="409" y="527"/>
                    <a:pt x="263" y="527"/>
                  </a:cubicBezTo>
                  <a:cubicBezTo>
                    <a:pt x="118" y="527"/>
                    <a:pt x="0" y="409"/>
                    <a:pt x="0" y="263"/>
                  </a:cubicBezTo>
                </a:path>
              </a:pathLst>
            </a:custGeom>
            <a:solidFill>
              <a:srgbClr val="FFB73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62" name="path 1162"/>
            <p:cNvSpPr/>
            <p:nvPr/>
          </p:nvSpPr>
          <p:spPr>
            <a:xfrm>
              <a:off x="1072895" y="3252215"/>
              <a:ext cx="576072" cy="47244"/>
            </a:xfrm>
            <a:custGeom>
              <a:avLst/>
              <a:gdLst/>
              <a:ahLst/>
              <a:cxnLst/>
              <a:rect l="0" t="0" r="0" b="0"/>
              <a:pathLst>
                <a:path w="907" h="74">
                  <a:moveTo>
                    <a:pt x="0" y="74"/>
                  </a:moveTo>
                  <a:lnTo>
                    <a:pt x="907" y="74"/>
                  </a:lnTo>
                  <a:lnTo>
                    <a:pt x="907" y="0"/>
                  </a:lnTo>
                  <a:lnTo>
                    <a:pt x="0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CCCBC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64" name="path 1164"/>
            <p:cNvSpPr/>
            <p:nvPr/>
          </p:nvSpPr>
          <p:spPr>
            <a:xfrm>
              <a:off x="649223" y="1123188"/>
              <a:ext cx="1798320" cy="86867"/>
            </a:xfrm>
            <a:custGeom>
              <a:avLst/>
              <a:gdLst/>
              <a:ahLst/>
              <a:cxnLst/>
              <a:rect l="0" t="0" r="0" b="0"/>
              <a:pathLst>
                <a:path w="2832" h="136">
                  <a:moveTo>
                    <a:pt x="0" y="136"/>
                  </a:moveTo>
                  <a:lnTo>
                    <a:pt x="2832" y="136"/>
                  </a:lnTo>
                  <a:lnTo>
                    <a:pt x="2832" y="0"/>
                  </a:lnTo>
                  <a:lnTo>
                    <a:pt x="0" y="0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FF6D3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66" name="path 1166"/>
            <p:cNvSpPr/>
            <p:nvPr/>
          </p:nvSpPr>
          <p:spPr>
            <a:xfrm>
              <a:off x="649223" y="1289303"/>
              <a:ext cx="1798320" cy="1083563"/>
            </a:xfrm>
            <a:custGeom>
              <a:avLst/>
              <a:gdLst/>
              <a:ahLst/>
              <a:cxnLst/>
              <a:rect l="0" t="0" r="0" b="0"/>
              <a:pathLst>
                <a:path w="2832" h="1706">
                  <a:moveTo>
                    <a:pt x="0" y="76"/>
                  </a:moveTo>
                  <a:lnTo>
                    <a:pt x="2832" y="76"/>
                  </a:lnTo>
                  <a:lnTo>
                    <a:pt x="2832" y="0"/>
                  </a:lnTo>
                  <a:lnTo>
                    <a:pt x="0" y="0"/>
                  </a:lnTo>
                  <a:lnTo>
                    <a:pt x="0" y="76"/>
                  </a:lnTo>
                  <a:close/>
                </a:path>
                <a:path w="2832" h="1706">
                  <a:moveTo>
                    <a:pt x="0" y="285"/>
                  </a:moveTo>
                  <a:lnTo>
                    <a:pt x="2832" y="285"/>
                  </a:lnTo>
                  <a:lnTo>
                    <a:pt x="2832" y="201"/>
                  </a:lnTo>
                  <a:lnTo>
                    <a:pt x="0" y="201"/>
                  </a:lnTo>
                  <a:lnTo>
                    <a:pt x="0" y="285"/>
                  </a:lnTo>
                  <a:close/>
                </a:path>
                <a:path w="2832" h="1706">
                  <a:moveTo>
                    <a:pt x="0" y="487"/>
                  </a:moveTo>
                  <a:lnTo>
                    <a:pt x="2832" y="487"/>
                  </a:lnTo>
                  <a:lnTo>
                    <a:pt x="2832" y="403"/>
                  </a:lnTo>
                  <a:lnTo>
                    <a:pt x="0" y="403"/>
                  </a:lnTo>
                  <a:lnTo>
                    <a:pt x="0" y="487"/>
                  </a:lnTo>
                  <a:close/>
                </a:path>
                <a:path w="2832" h="1706">
                  <a:moveTo>
                    <a:pt x="0" y="691"/>
                  </a:moveTo>
                  <a:lnTo>
                    <a:pt x="2832" y="691"/>
                  </a:lnTo>
                  <a:lnTo>
                    <a:pt x="2832" y="604"/>
                  </a:lnTo>
                  <a:lnTo>
                    <a:pt x="0" y="604"/>
                  </a:lnTo>
                  <a:lnTo>
                    <a:pt x="0" y="691"/>
                  </a:lnTo>
                  <a:close/>
                </a:path>
                <a:path w="2832" h="1706">
                  <a:moveTo>
                    <a:pt x="0" y="890"/>
                  </a:moveTo>
                  <a:lnTo>
                    <a:pt x="2832" y="890"/>
                  </a:lnTo>
                  <a:lnTo>
                    <a:pt x="2832" y="816"/>
                  </a:lnTo>
                  <a:lnTo>
                    <a:pt x="0" y="816"/>
                  </a:lnTo>
                  <a:lnTo>
                    <a:pt x="0" y="890"/>
                  </a:lnTo>
                  <a:close/>
                </a:path>
                <a:path w="2832" h="1706">
                  <a:moveTo>
                    <a:pt x="0" y="1101"/>
                  </a:moveTo>
                  <a:lnTo>
                    <a:pt x="2832" y="1101"/>
                  </a:lnTo>
                  <a:lnTo>
                    <a:pt x="2832" y="1017"/>
                  </a:lnTo>
                  <a:lnTo>
                    <a:pt x="0" y="1017"/>
                  </a:lnTo>
                  <a:lnTo>
                    <a:pt x="0" y="1101"/>
                  </a:lnTo>
                  <a:close/>
                </a:path>
                <a:path w="2832" h="1706">
                  <a:moveTo>
                    <a:pt x="0" y="1300"/>
                  </a:moveTo>
                  <a:lnTo>
                    <a:pt x="2832" y="1300"/>
                  </a:lnTo>
                  <a:lnTo>
                    <a:pt x="2832" y="1216"/>
                  </a:lnTo>
                  <a:lnTo>
                    <a:pt x="0" y="1216"/>
                  </a:lnTo>
                  <a:lnTo>
                    <a:pt x="0" y="1300"/>
                  </a:lnTo>
                  <a:close/>
                </a:path>
                <a:path w="2832" h="1706">
                  <a:moveTo>
                    <a:pt x="0" y="1504"/>
                  </a:moveTo>
                  <a:lnTo>
                    <a:pt x="2832" y="1504"/>
                  </a:lnTo>
                  <a:lnTo>
                    <a:pt x="2832" y="1420"/>
                  </a:lnTo>
                  <a:lnTo>
                    <a:pt x="0" y="1420"/>
                  </a:lnTo>
                  <a:lnTo>
                    <a:pt x="0" y="1504"/>
                  </a:lnTo>
                  <a:close/>
                </a:path>
                <a:path w="2832" h="1706">
                  <a:moveTo>
                    <a:pt x="0" y="1706"/>
                  </a:moveTo>
                  <a:lnTo>
                    <a:pt x="1416" y="1706"/>
                  </a:lnTo>
                  <a:lnTo>
                    <a:pt x="1416" y="1629"/>
                  </a:lnTo>
                  <a:lnTo>
                    <a:pt x="0" y="1629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CCCBC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68" name="path 1168"/>
            <p:cNvSpPr/>
            <p:nvPr/>
          </p:nvSpPr>
          <p:spPr>
            <a:xfrm>
              <a:off x="649223" y="544067"/>
              <a:ext cx="711707" cy="496823"/>
            </a:xfrm>
            <a:custGeom>
              <a:avLst/>
              <a:gdLst/>
              <a:ahLst/>
              <a:cxnLst/>
              <a:rect l="0" t="0" r="0" b="0"/>
              <a:pathLst>
                <a:path w="1120" h="782">
                  <a:moveTo>
                    <a:pt x="0" y="782"/>
                  </a:moveTo>
                  <a:lnTo>
                    <a:pt x="1120" y="782"/>
                  </a:lnTo>
                  <a:lnTo>
                    <a:pt x="1120" y="0"/>
                  </a:lnTo>
                  <a:lnTo>
                    <a:pt x="0" y="0"/>
                  </a:lnTo>
                  <a:lnTo>
                    <a:pt x="0" y="782"/>
                  </a:lnTo>
                  <a:close/>
                </a:path>
              </a:pathLst>
            </a:custGeom>
            <a:solidFill>
              <a:srgbClr val="3E4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70" name="path 1170"/>
            <p:cNvSpPr/>
            <p:nvPr/>
          </p:nvSpPr>
          <p:spPr>
            <a:xfrm>
              <a:off x="1434083" y="544067"/>
              <a:ext cx="1013460" cy="315467"/>
            </a:xfrm>
            <a:custGeom>
              <a:avLst/>
              <a:gdLst/>
              <a:ahLst/>
              <a:cxnLst/>
              <a:rect l="0" t="0" r="0" b="0"/>
              <a:pathLst>
                <a:path w="1596" h="496">
                  <a:moveTo>
                    <a:pt x="0" y="84"/>
                  </a:moveTo>
                  <a:lnTo>
                    <a:pt x="1596" y="84"/>
                  </a:lnTo>
                  <a:lnTo>
                    <a:pt x="1596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  <a:path w="1596" h="496">
                  <a:moveTo>
                    <a:pt x="0" y="287"/>
                  </a:moveTo>
                  <a:lnTo>
                    <a:pt x="1596" y="287"/>
                  </a:lnTo>
                  <a:lnTo>
                    <a:pt x="1596" y="213"/>
                  </a:lnTo>
                  <a:lnTo>
                    <a:pt x="0" y="213"/>
                  </a:lnTo>
                  <a:lnTo>
                    <a:pt x="0" y="287"/>
                  </a:lnTo>
                  <a:close/>
                </a:path>
                <a:path w="1596" h="496">
                  <a:moveTo>
                    <a:pt x="0" y="496"/>
                  </a:moveTo>
                  <a:lnTo>
                    <a:pt x="803" y="496"/>
                  </a:lnTo>
                  <a:lnTo>
                    <a:pt x="803" y="412"/>
                  </a:lnTo>
                  <a:lnTo>
                    <a:pt x="0" y="412"/>
                  </a:lnTo>
                  <a:lnTo>
                    <a:pt x="0" y="496"/>
                  </a:lnTo>
                  <a:close/>
                </a:path>
              </a:pathLst>
            </a:custGeom>
            <a:solidFill>
              <a:srgbClr val="CCCBC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72" name="path 1172"/>
            <p:cNvSpPr/>
            <p:nvPr/>
          </p:nvSpPr>
          <p:spPr>
            <a:xfrm>
              <a:off x="1179576" y="2942844"/>
              <a:ext cx="355092" cy="240791"/>
            </a:xfrm>
            <a:custGeom>
              <a:avLst/>
              <a:gdLst/>
              <a:ahLst/>
              <a:cxnLst/>
              <a:rect l="0" t="0" r="0" b="0"/>
              <a:pathLst>
                <a:path w="559" h="379">
                  <a:moveTo>
                    <a:pt x="284" y="379"/>
                  </a:moveTo>
                  <a:cubicBezTo>
                    <a:pt x="178" y="379"/>
                    <a:pt x="93" y="295"/>
                    <a:pt x="93" y="189"/>
                  </a:cubicBezTo>
                  <a:cubicBezTo>
                    <a:pt x="93" y="84"/>
                    <a:pt x="178" y="0"/>
                    <a:pt x="284" y="0"/>
                  </a:cubicBezTo>
                  <a:cubicBezTo>
                    <a:pt x="390" y="0"/>
                    <a:pt x="475" y="84"/>
                    <a:pt x="475" y="189"/>
                  </a:cubicBezTo>
                  <a:cubicBezTo>
                    <a:pt x="475" y="295"/>
                    <a:pt x="390" y="379"/>
                    <a:pt x="284" y="379"/>
                  </a:cubicBezTo>
                  <a:moveTo>
                    <a:pt x="284" y="63"/>
                  </a:moveTo>
                  <a:cubicBezTo>
                    <a:pt x="210" y="63"/>
                    <a:pt x="146" y="115"/>
                    <a:pt x="146" y="189"/>
                  </a:cubicBezTo>
                  <a:cubicBezTo>
                    <a:pt x="146" y="252"/>
                    <a:pt x="210" y="316"/>
                    <a:pt x="284" y="316"/>
                  </a:cubicBezTo>
                  <a:cubicBezTo>
                    <a:pt x="347" y="316"/>
                    <a:pt x="411" y="252"/>
                    <a:pt x="411" y="189"/>
                  </a:cubicBezTo>
                  <a:cubicBezTo>
                    <a:pt x="411" y="115"/>
                    <a:pt x="347" y="63"/>
                    <a:pt x="284" y="63"/>
                  </a:cubicBezTo>
                </a:path>
                <a:path w="559" h="379">
                  <a:moveTo>
                    <a:pt x="0" y="223"/>
                  </a:moveTo>
                  <a:lnTo>
                    <a:pt x="559" y="223"/>
                  </a:lnTo>
                  <a:lnTo>
                    <a:pt x="559" y="158"/>
                  </a:lnTo>
                  <a:lnTo>
                    <a:pt x="0" y="158"/>
                  </a:lnTo>
                  <a:lnTo>
                    <a:pt x="0" y="223"/>
                  </a:lnTo>
                  <a:close/>
                </a:path>
              </a:pathLst>
            </a:custGeom>
            <a:solidFill>
              <a:srgbClr val="3E4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group 112"/>
          <p:cNvGrpSpPr/>
          <p:nvPr/>
        </p:nvGrpSpPr>
        <p:grpSpPr>
          <a:xfrm rot="21600000">
            <a:off x="3511295" y="3186684"/>
            <a:ext cx="140208" cy="2083307"/>
            <a:chOff x="0" y="0"/>
            <a:chExt cx="140208" cy="2083307"/>
          </a:xfrm>
        </p:grpSpPr>
        <p:sp>
          <p:nvSpPr>
            <p:cNvPr id="1174" name="path 1174"/>
            <p:cNvSpPr/>
            <p:nvPr/>
          </p:nvSpPr>
          <p:spPr>
            <a:xfrm>
              <a:off x="0" y="86867"/>
              <a:ext cx="140208" cy="141732"/>
            </a:xfrm>
            <a:custGeom>
              <a:avLst/>
              <a:gdLst/>
              <a:ahLst/>
              <a:cxnLst/>
              <a:rect l="0" t="0" r="0" b="0"/>
              <a:pathLst>
                <a:path w="220" h="223">
                  <a:moveTo>
                    <a:pt x="157" y="0"/>
                  </a:moveTo>
                  <a:lnTo>
                    <a:pt x="63" y="0"/>
                  </a:lnTo>
                  <a:lnTo>
                    <a:pt x="0" y="223"/>
                  </a:lnTo>
                  <a:lnTo>
                    <a:pt x="220" y="223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76" name="path 1176"/>
            <p:cNvSpPr/>
            <p:nvPr/>
          </p:nvSpPr>
          <p:spPr>
            <a:xfrm>
              <a:off x="80772" y="86867"/>
              <a:ext cx="59435" cy="141732"/>
            </a:xfrm>
            <a:custGeom>
              <a:avLst/>
              <a:gdLst/>
              <a:ahLst/>
              <a:cxnLst/>
              <a:rect l="0" t="0" r="0" b="0"/>
              <a:pathLst>
                <a:path w="93" h="223">
                  <a:moveTo>
                    <a:pt x="31" y="0"/>
                  </a:moveTo>
                  <a:lnTo>
                    <a:pt x="0" y="0"/>
                  </a:lnTo>
                  <a:lnTo>
                    <a:pt x="20" y="223"/>
                  </a:lnTo>
                  <a:lnTo>
                    <a:pt x="93" y="22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CCBC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78" name="path 1178"/>
            <p:cNvSpPr/>
            <p:nvPr/>
          </p:nvSpPr>
          <p:spPr>
            <a:xfrm>
              <a:off x="0" y="228599"/>
              <a:ext cx="140208" cy="1659636"/>
            </a:xfrm>
            <a:custGeom>
              <a:avLst/>
              <a:gdLst/>
              <a:ahLst/>
              <a:cxnLst/>
              <a:rect l="0" t="0" r="0" b="0"/>
              <a:pathLst>
                <a:path w="220" h="2613">
                  <a:moveTo>
                    <a:pt x="0" y="2613"/>
                  </a:moveTo>
                  <a:lnTo>
                    <a:pt x="220" y="2613"/>
                  </a:lnTo>
                  <a:lnTo>
                    <a:pt x="220" y="0"/>
                  </a:lnTo>
                  <a:lnTo>
                    <a:pt x="0" y="0"/>
                  </a:lnTo>
                  <a:lnTo>
                    <a:pt x="0" y="2613"/>
                  </a:lnTo>
                  <a:close/>
                </a:path>
              </a:pathLst>
            </a:custGeom>
            <a:solidFill>
              <a:srgbClr val="FFD5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80" name="path 1180"/>
            <p:cNvSpPr/>
            <p:nvPr/>
          </p:nvSpPr>
          <p:spPr>
            <a:xfrm>
              <a:off x="92964" y="228599"/>
              <a:ext cx="47244" cy="1659636"/>
            </a:xfrm>
            <a:custGeom>
              <a:avLst/>
              <a:gdLst/>
              <a:ahLst/>
              <a:cxnLst/>
              <a:rect l="0" t="0" r="0" b="0"/>
              <a:pathLst>
                <a:path w="74" h="2613">
                  <a:moveTo>
                    <a:pt x="0" y="2613"/>
                  </a:moveTo>
                  <a:lnTo>
                    <a:pt x="74" y="2613"/>
                  </a:lnTo>
                  <a:lnTo>
                    <a:pt x="74" y="0"/>
                  </a:lnTo>
                  <a:lnTo>
                    <a:pt x="0" y="0"/>
                  </a:lnTo>
                  <a:lnTo>
                    <a:pt x="0" y="2613"/>
                  </a:lnTo>
                  <a:close/>
                </a:path>
              </a:pathLst>
            </a:custGeom>
            <a:solidFill>
              <a:srgbClr val="FFB73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82" name="path 1182"/>
            <p:cNvSpPr/>
            <p:nvPr/>
          </p:nvSpPr>
          <p:spPr>
            <a:xfrm>
              <a:off x="39624" y="0"/>
              <a:ext cx="60959" cy="86867"/>
            </a:xfrm>
            <a:custGeom>
              <a:avLst/>
              <a:gdLst/>
              <a:ahLst/>
              <a:cxnLst/>
              <a:rect l="0" t="0" r="0" b="0"/>
              <a:pathLst>
                <a:path w="95" h="136">
                  <a:moveTo>
                    <a:pt x="95" y="136"/>
                  </a:moveTo>
                  <a:lnTo>
                    <a:pt x="42" y="0"/>
                  </a:lnTo>
                  <a:lnTo>
                    <a:pt x="0" y="136"/>
                  </a:lnTo>
                  <a:lnTo>
                    <a:pt x="95" y="136"/>
                  </a:lnTo>
                  <a:close/>
                </a:path>
              </a:pathLst>
            </a:custGeom>
            <a:solidFill>
              <a:srgbClr val="242D3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84" name="path 1184"/>
            <p:cNvSpPr/>
            <p:nvPr/>
          </p:nvSpPr>
          <p:spPr>
            <a:xfrm>
              <a:off x="67056" y="0"/>
              <a:ext cx="33527" cy="86867"/>
            </a:xfrm>
            <a:custGeom>
              <a:avLst/>
              <a:gdLst/>
              <a:ahLst/>
              <a:cxnLst/>
              <a:rect l="0" t="0" r="0" b="0"/>
              <a:pathLst>
                <a:path w="52" h="136">
                  <a:moveTo>
                    <a:pt x="52" y="136"/>
                  </a:moveTo>
                  <a:lnTo>
                    <a:pt x="0" y="0"/>
                  </a:lnTo>
                  <a:lnTo>
                    <a:pt x="21" y="136"/>
                  </a:lnTo>
                  <a:lnTo>
                    <a:pt x="52" y="136"/>
                  </a:lnTo>
                  <a:close/>
                </a:path>
              </a:pathLst>
            </a:custGeom>
            <a:solidFill>
              <a:srgbClr val="131A2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86" name="path 1186"/>
            <p:cNvSpPr/>
            <p:nvPr/>
          </p:nvSpPr>
          <p:spPr>
            <a:xfrm>
              <a:off x="0" y="1888235"/>
              <a:ext cx="140208" cy="80772"/>
            </a:xfrm>
            <a:custGeom>
              <a:avLst/>
              <a:gdLst/>
              <a:ahLst/>
              <a:cxnLst/>
              <a:rect l="0" t="0" r="0" b="0"/>
              <a:pathLst>
                <a:path w="220" h="127">
                  <a:moveTo>
                    <a:pt x="0" y="127"/>
                  </a:moveTo>
                  <a:lnTo>
                    <a:pt x="220" y="127"/>
                  </a:lnTo>
                  <a:lnTo>
                    <a:pt x="220" y="0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88" name="path 1188"/>
            <p:cNvSpPr/>
            <p:nvPr/>
          </p:nvSpPr>
          <p:spPr>
            <a:xfrm>
              <a:off x="92964" y="1888235"/>
              <a:ext cx="47244" cy="80772"/>
            </a:xfrm>
            <a:custGeom>
              <a:avLst/>
              <a:gdLst/>
              <a:ahLst/>
              <a:cxnLst/>
              <a:rect l="0" t="0" r="0" b="0"/>
              <a:pathLst>
                <a:path w="74" h="127">
                  <a:moveTo>
                    <a:pt x="0" y="127"/>
                  </a:moveTo>
                  <a:lnTo>
                    <a:pt x="74" y="127"/>
                  </a:lnTo>
                  <a:lnTo>
                    <a:pt x="74" y="0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CCBC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90" name="path 1190"/>
            <p:cNvSpPr/>
            <p:nvPr/>
          </p:nvSpPr>
          <p:spPr>
            <a:xfrm>
              <a:off x="0" y="1969007"/>
              <a:ext cx="140208" cy="114299"/>
            </a:xfrm>
            <a:custGeom>
              <a:avLst/>
              <a:gdLst/>
              <a:ahLst/>
              <a:cxnLst/>
              <a:rect l="0" t="0" r="0" b="0"/>
              <a:pathLst>
                <a:path w="220" h="179">
                  <a:moveTo>
                    <a:pt x="220" y="63"/>
                  </a:moveTo>
                  <a:cubicBezTo>
                    <a:pt x="220" y="95"/>
                    <a:pt x="210" y="126"/>
                    <a:pt x="189" y="148"/>
                  </a:cubicBezTo>
                  <a:cubicBezTo>
                    <a:pt x="168" y="169"/>
                    <a:pt x="136" y="179"/>
                    <a:pt x="105" y="179"/>
                  </a:cubicBezTo>
                  <a:cubicBezTo>
                    <a:pt x="105" y="179"/>
                    <a:pt x="105" y="179"/>
                    <a:pt x="105" y="179"/>
                  </a:cubicBezTo>
                  <a:cubicBezTo>
                    <a:pt x="84" y="179"/>
                    <a:pt x="52" y="169"/>
                    <a:pt x="31" y="148"/>
                  </a:cubicBezTo>
                  <a:cubicBezTo>
                    <a:pt x="10" y="126"/>
                    <a:pt x="0" y="95"/>
                    <a:pt x="0" y="6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0" y="0"/>
                    <a:pt x="220" y="0"/>
                    <a:pt x="220" y="0"/>
                  </a:cubicBezTo>
                  <a:lnTo>
                    <a:pt x="220" y="63"/>
                  </a:lnTo>
                  <a:close/>
                </a:path>
              </a:pathLst>
            </a:custGeom>
            <a:solidFill>
              <a:srgbClr val="242D3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92" name="path 1192"/>
            <p:cNvSpPr/>
            <p:nvPr/>
          </p:nvSpPr>
          <p:spPr>
            <a:xfrm>
              <a:off x="6096" y="1969007"/>
              <a:ext cx="134111" cy="114299"/>
            </a:xfrm>
            <a:custGeom>
              <a:avLst/>
              <a:gdLst/>
              <a:ahLst/>
              <a:cxnLst/>
              <a:rect l="0" t="0" r="0" b="0"/>
              <a:pathLst>
                <a:path w="211" h="179">
                  <a:moveTo>
                    <a:pt x="137" y="0"/>
                  </a:moveTo>
                  <a:cubicBezTo>
                    <a:pt x="137" y="31"/>
                    <a:pt x="126" y="52"/>
                    <a:pt x="105" y="74"/>
                  </a:cubicBezTo>
                  <a:cubicBezTo>
                    <a:pt x="84" y="95"/>
                    <a:pt x="63" y="105"/>
                    <a:pt x="31" y="105"/>
                  </a:cubicBezTo>
                  <a:cubicBezTo>
                    <a:pt x="21" y="105"/>
                    <a:pt x="10" y="105"/>
                    <a:pt x="0" y="105"/>
                  </a:cubicBezTo>
                  <a:cubicBezTo>
                    <a:pt x="0" y="116"/>
                    <a:pt x="10" y="137"/>
                    <a:pt x="21" y="148"/>
                  </a:cubicBezTo>
                  <a:cubicBezTo>
                    <a:pt x="42" y="169"/>
                    <a:pt x="74" y="179"/>
                    <a:pt x="95" y="179"/>
                  </a:cubicBezTo>
                  <a:cubicBezTo>
                    <a:pt x="126" y="179"/>
                    <a:pt x="158" y="169"/>
                    <a:pt x="179" y="148"/>
                  </a:cubicBezTo>
                  <a:cubicBezTo>
                    <a:pt x="200" y="126"/>
                    <a:pt x="211" y="95"/>
                    <a:pt x="211" y="63"/>
                  </a:cubicBezTo>
                  <a:cubicBezTo>
                    <a:pt x="211" y="0"/>
                    <a:pt x="211" y="0"/>
                    <a:pt x="211" y="0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rgbClr val="131A2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94" name="textbox 1194"/>
          <p:cNvSpPr/>
          <p:nvPr/>
        </p:nvSpPr>
        <p:spPr>
          <a:xfrm>
            <a:off x="11111085" y="6467576"/>
            <a:ext cx="165100" cy="170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kern="0" spc="-2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51</a:t>
            </a:r>
            <a:endParaRPr sz="1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3.325905511811,&quot;left&quot;:62.070472440944876,&quot;top&quot;:132.91503937007874,&quot;width&quot;:833.7909448818898}"/>
</p:tagLst>
</file>

<file path=ppt/tags/tag2.xml><?xml version="1.0" encoding="utf-8"?>
<p:tagLst xmlns:p="http://schemas.openxmlformats.org/presentationml/2006/main">
  <p:tag name="KSO_WM_DIAGRAM_VIRTUALLY_FRAME" val="{&quot;height&quot;:293.325905511811,&quot;left&quot;:62.070472440944876,&quot;top&quot;:132.91503937007874,&quot;width&quot;:833.7909448818898}"/>
</p:tagLst>
</file>

<file path=ppt/tags/tag3.xml><?xml version="1.0" encoding="utf-8"?>
<p:tagLst xmlns:p="http://schemas.openxmlformats.org/presentationml/2006/main">
  <p:tag name="KSO_WM_DIAGRAM_VIRTUALLY_FRAME" val="{&quot;height&quot;:293.325905511811,&quot;left&quot;:62.070472440944876,&quot;top&quot;:132.91503937007874,&quot;width&quot;:833.7909448818898}"/>
</p:tagLst>
</file>

<file path=ppt/tags/tag4.xml><?xml version="1.0" encoding="utf-8"?>
<p:tagLst xmlns:p="http://schemas.openxmlformats.org/presentationml/2006/main">
  <p:tag name="KSO_WM_DIAGRAM_VIRTUALLY_FRAME" val="{&quot;height&quot;:293.325905511811,&quot;left&quot;:62.070472440944876,&quot;top&quot;:132.91503937007874,&quot;width&quot;:833.7909448818898}"/>
</p:tagLst>
</file>

<file path=ppt/tags/tag5.xml><?xml version="1.0" encoding="utf-8"?>
<p:tagLst xmlns:p="http://schemas.openxmlformats.org/presentationml/2006/main">
  <p:tag name="KSO_WM_DIAGRAM_VIRTUALLY_FRAME" val="{&quot;height&quot;:293.325905511811,&quot;left&quot;:62.070472440944876,&quot;top&quot;:132.91503937007874,&quot;width&quot;:833.7909448818898}"/>
</p:tagLst>
</file>

<file path=ppt/tags/tag6.xml><?xml version="1.0" encoding="utf-8"?>
<p:tagLst xmlns:p="http://schemas.openxmlformats.org/presentationml/2006/main">
  <p:tag name="KSO_WM_DIAGRAM_VIRTUALLY_FRAME" val="{&quot;height&quot;:293.325905511811,&quot;left&quot;:62.070472440944876,&quot;top&quot;:132.91503937007874,&quot;width&quot;:833.7909448818898}"/>
</p:tagLst>
</file>

<file path=ppt/tags/tag7.xml><?xml version="1.0" encoding="utf-8"?>
<p:tagLst xmlns:p="http://schemas.openxmlformats.org/presentationml/2006/main">
  <p:tag name="KSO_WM_DIAGRAM_VIRTUALLY_FRAME" val="{&quot;height&quot;:293.325905511811,&quot;left&quot;:62.070472440944876,&quot;top&quot;:132.91503937007874,&quot;width&quot;:833.7909448818898}"/>
</p:tagLst>
</file>

<file path=ppt/tags/tag8.xml><?xml version="1.0" encoding="utf-8"?>
<p:tagLst xmlns:p="http://schemas.openxmlformats.org/presentationml/2006/main">
  <p:tag name="KSO_WM_DIAGRAM_VIRTUALLY_FRAME" val="{&quot;height&quot;:293.325905511811,&quot;left&quot;:62.070472440944876,&quot;top&quot;:132.91503937007874,&quot;width&quot;:833.7909448818898}"/>
</p:tagLst>
</file>

<file path=ppt/tags/tag9.xml><?xml version="1.0" encoding="utf-8"?>
<p:tagLst xmlns:p="http://schemas.openxmlformats.org/presentationml/2006/main">
  <p:tag name="KSO_WM_DIAGRAM_VIRTUALLY_FRAME" val="{&quot;height&quot;:392.3924409448821,&quot;left&quot;:26.435039370078737,&quot;top&quot;:98.1722834645669,&quot;width&quot;:899.5315748031495}"/>
</p:tagLst>
</file>

<file path=ppt/tags/tag10.xml><?xml version="1.0" encoding="utf-8"?>
<p:tagLst xmlns:p="http://schemas.openxmlformats.org/presentationml/2006/main">
  <p:tag name="KSO_WM_DIAGRAM_VIRTUALLY_FRAME" val="{&quot;height&quot;:413.3000000000002,&quot;left&quot;:26.435039370078737,&quot;top&quot;:98.1722834645669,&quot;width&quot;:899.5315748031495}"/>
</p:tagLst>
</file>

<file path=ppt/tags/tag11.xml><?xml version="1.0" encoding="utf-8"?>
<p:tagLst xmlns:p="http://schemas.openxmlformats.org/presentationml/2006/main">
  <p:tag name="KSO_WM_DIAGRAM_VIRTUALLY_FRAME" val="{&quot;height&quot;:413.3000000000002,&quot;left&quot;:26.435039370078737,&quot;top&quot;:98.1722834645669,&quot;width&quot;:899.5315748031495}"/>
</p:tagLst>
</file>

<file path=ppt/tags/tag12.xml><?xml version="1.0" encoding="utf-8"?>
<p:tagLst xmlns:p="http://schemas.openxmlformats.org/presentationml/2006/main">
  <p:tag name="KSO_WM_DIAGRAM_VIRTUALLY_FRAME" val="{&quot;height&quot;:413.3000000000002,&quot;left&quot;:26.435039370078737,&quot;top&quot;:98.1722834645669,&quot;width&quot;:899.5315748031495}"/>
</p:tagLst>
</file>

<file path=ppt/tags/tag13.xml><?xml version="1.0" encoding="utf-8"?>
<p:tagLst xmlns:p="http://schemas.openxmlformats.org/presentationml/2006/main">
  <p:tag name="KSO_WM_DIAGRAM_VIRTUALLY_FRAME" val="{&quot;height&quot;:413.3000000000002,&quot;left&quot;:26.435039370078737,&quot;top&quot;:98.1722834645669,&quot;width&quot;:899.5315748031495}"/>
</p:tagLst>
</file>

<file path=ppt/tags/tag14.xml><?xml version="1.0" encoding="utf-8"?>
<p:tagLst xmlns:p="http://schemas.openxmlformats.org/presentationml/2006/main">
  <p:tag name="KSO_WM_DIAGRAM_VIRTUALLY_FRAME" val="{&quot;height&quot;:413.3000000000002,&quot;left&quot;:26.435039370078737,&quot;top&quot;:98.1722834645669,&quot;width&quot;:899.5315748031495}"/>
</p:tagLst>
</file>

<file path=ppt/tags/tag15.xml><?xml version="1.0" encoding="utf-8"?>
<p:tagLst xmlns:p="http://schemas.openxmlformats.org/presentationml/2006/main">
  <p:tag name="KSO_WM_DIAGRAM_VIRTUALLY_FRAME" val="{&quot;height&quot;:413.3000000000002,&quot;left&quot;:26.435039370078737,&quot;top&quot;:98.1722834645669,&quot;width&quot;:899.5315748031495}"/>
</p:tagLst>
</file>

<file path=ppt/tags/tag16.xml><?xml version="1.0" encoding="utf-8"?>
<p:tagLst xmlns:p="http://schemas.openxmlformats.org/presentationml/2006/main">
  <p:tag name="KSO_WM_DIAGRAM_VIRTUALLY_FRAME" val="{&quot;height&quot;:413.3000000000002,&quot;left&quot;:26.435039370078737,&quot;top&quot;:98.1722834645669,&quot;width&quot;:899.5315748031495}"/>
</p:tagLst>
</file>

<file path=ppt/tags/tag17.xml><?xml version="1.0" encoding="utf-8"?>
<p:tagLst xmlns:p="http://schemas.openxmlformats.org/presentationml/2006/main">
  <p:tag name="KSO_WM_DIAGRAM_VIRTUALLY_FRAME" val="{&quot;height&quot;:413.3000000000002,&quot;left&quot;:26.435039370078737,&quot;top&quot;:98.1722834645669,&quot;width&quot;:899.5315748031495}"/>
</p:tagLst>
</file>

<file path=ppt/tags/tag18.xml><?xml version="1.0" encoding="utf-8"?>
<p:tagLst xmlns:p="http://schemas.openxmlformats.org/presentationml/2006/main">
  <p:tag name="KSO_WM_DIAGRAM_VIRTUALLY_FRAME" val="{&quot;height&quot;:392.3924409448821,&quot;left&quot;:26.435039370078737,&quot;top&quot;:98.1722834645669,&quot;width&quot;:899.5315748031495}"/>
</p:tagLst>
</file>

<file path=ppt/tags/tag19.xml><?xml version="1.0" encoding="utf-8"?>
<p:tagLst xmlns:p="http://schemas.openxmlformats.org/presentationml/2006/main">
  <p:tag name="KSO_WM_DIAGRAM_VIRTUALLY_FRAME" val="{&quot;height&quot;:392.3924409448821,&quot;left&quot;:26.435039370078737,&quot;top&quot;:98.1722834645669,&quot;width&quot;:899.5315748031495}"/>
</p:tagLst>
</file>

<file path=ppt/tags/tag20.xml><?xml version="1.0" encoding="utf-8"?>
<p:tagLst xmlns:p="http://schemas.openxmlformats.org/presentationml/2006/main">
  <p:tag name="KSO_WM_DIAGRAM_VIRTUALLY_FRAME" val="{&quot;height&quot;:413.3000000000002,&quot;left&quot;:26.435039370078737,&quot;top&quot;:98.1722834645669,&quot;width&quot;:899.5315748031495}"/>
</p:tagLst>
</file>

<file path=ppt/tags/tag21.xml><?xml version="1.0" encoding="utf-8"?>
<p:tagLst xmlns:p="http://schemas.openxmlformats.org/presentationml/2006/main">
  <p:tag name="KSO_WM_DIAGRAM_VIRTUALLY_FRAME" val="{&quot;height&quot;:413.3000000000002,&quot;left&quot;:26.435039370078737,&quot;top&quot;:98.1722834645669,&quot;width&quot;:899.5315748031495}"/>
</p:tagLst>
</file>

<file path=ppt/tags/tag22.xml><?xml version="1.0" encoding="utf-8"?>
<p:tagLst xmlns:p="http://schemas.openxmlformats.org/presentationml/2006/main">
  <p:tag name="KSO_WM_DIAGRAM_VIRTUALLY_FRAME" val="{&quot;height&quot;:326.05,&quot;left&quot;:337.85,&quot;top&quot;:141.05,&quot;width&quot;:595.45}"/>
</p:tagLst>
</file>

<file path=ppt/tags/tag23.xml><?xml version="1.0" encoding="utf-8"?>
<p:tagLst xmlns:p="http://schemas.openxmlformats.org/presentationml/2006/main">
  <p:tag name="KSO_WM_DIAGRAM_VIRTUALLY_FRAME" val="{&quot;height&quot;:326.05,&quot;left&quot;:337.85,&quot;top&quot;:141.05,&quot;width&quot;:595.45}"/>
</p:tagLst>
</file>

<file path=ppt/tags/tag24.xml><?xml version="1.0" encoding="utf-8"?>
<p:tagLst xmlns:p="http://schemas.openxmlformats.org/presentationml/2006/main">
  <p:tag name="KSO_WM_DIAGRAM_VIRTUALLY_FRAME" val="{&quot;height&quot;:326.05,&quot;left&quot;:337.85,&quot;top&quot;:141.05,&quot;width&quot;:595.45}"/>
</p:tagLst>
</file>

<file path=ppt/tags/tag25.xml><?xml version="1.0" encoding="utf-8"?>
<p:tagLst xmlns:p="http://schemas.openxmlformats.org/presentationml/2006/main">
  <p:tag name="KSO_WM_DIAGRAM_VIRTUALLY_FRAME" val="{&quot;height&quot;:326.05,&quot;left&quot;:337.85,&quot;top&quot;:141.05,&quot;width&quot;:595.45}"/>
</p:tagLst>
</file>

<file path=ppt/tags/tag26.xml><?xml version="1.0" encoding="utf-8"?>
<p:tagLst xmlns:p="http://schemas.openxmlformats.org/presentationml/2006/main">
  <p:tag name="KSO_WM_DIAGRAM_VIRTUALLY_FRAME" val="{&quot;height&quot;:326.05,&quot;left&quot;:337.85,&quot;top&quot;:141.05,&quot;width&quot;:595.45}"/>
</p:tagLst>
</file>

<file path=ppt/tags/tag27.xml><?xml version="1.0" encoding="utf-8"?>
<p:tagLst xmlns:p="http://schemas.openxmlformats.org/presentationml/2006/main">
  <p:tag name="KSO_WM_DIAGRAM_VIRTUALLY_FRAME" val="{&quot;height&quot;:326.05,&quot;left&quot;:337.85,&quot;top&quot;:141.05,&quot;width&quot;:595.45}"/>
</p:tagLst>
</file>

<file path=ppt/tags/tag28.xml><?xml version="1.0" encoding="utf-8"?>
<p:tagLst xmlns:p="http://schemas.openxmlformats.org/presentationml/2006/main">
  <p:tag name="KSO_WM_DIAGRAM_VIRTUALLY_FRAME" val="{&quot;height&quot;:326.05,&quot;left&quot;:337.85,&quot;top&quot;:141.05,&quot;width&quot;:595.45}"/>
</p:tagLst>
</file>

<file path=ppt/tags/tag29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30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31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32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33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34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35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36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37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38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39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40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41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42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43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44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45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46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47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48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49.xml><?xml version="1.0" encoding="utf-8"?>
<p:tagLst xmlns:p="http://schemas.openxmlformats.org/presentationml/2006/main">
  <p:tag name="KSO_WM_DIAGRAM_VIRTUALLY_FRAME" val="{&quot;height&quot;:297.6,&quot;left&quot;:43.08661417322834,&quot;top&quot;:129.6,&quot;width&quot;:875.6333858267717}"/>
</p:tagLst>
</file>

<file path=ppt/tags/tag50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52_1*i*1"/>
  <p:tag name="KSO_WM_TEMPLATE_CATEGORY" val="custom"/>
  <p:tag name="KSO_WM_TEMPLATE_INDEX" val="20234952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52_1*i*2"/>
  <p:tag name="KSO_WM_TEMPLATE_CATEGORY" val="custom"/>
  <p:tag name="KSO_WM_TEMPLATE_INDEX" val="20234952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952_1*i*3"/>
  <p:tag name="KSO_WM_TEMPLATE_CATEGORY" val="custom"/>
  <p:tag name="KSO_WM_TEMPLATE_INDEX" val="20234952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952_1*i*4"/>
  <p:tag name="KSO_WM_TEMPLATE_CATEGORY" val="custom"/>
  <p:tag name="KSO_WM_TEMPLATE_INDEX" val="20234952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952_1*i*5"/>
  <p:tag name="KSO_WM_TEMPLATE_CATEGORY" val="custom"/>
  <p:tag name="KSO_WM_TEMPLATE_INDEX" val="20234952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TABLE_ENDDRAG_ORIGIN_RECT" val="825*213"/>
  <p:tag name="TABLE_ENDDRAG_RECT" val="64*275*825*213"/>
</p:tagLst>
</file>

<file path=ppt/tags/tag57.xml><?xml version="1.0" encoding="utf-8"?>
<p:tagLst xmlns:p="http://schemas.openxmlformats.org/presentationml/2006/main">
  <p:tag name="TABLE_ENDDRAG_ORIGIN_RECT" val="825*213"/>
  <p:tag name="TABLE_ENDDRAG_RECT" val="64*275*825*213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952_1*f*1"/>
  <p:tag name="KSO_WM_TEMPLATE_CATEGORY" val="custom"/>
  <p:tag name="KSO_WM_TEMPLATE_INDEX" val="20234952"/>
  <p:tag name="KSO_WM_UNIT_LAYERLEVEL" val="1"/>
  <p:tag name="KSO_WM_TAG_VERSION" val="3.0"/>
  <p:tag name="KSO_WM_BEAUTIFY_FLAG" val="#wm#"/>
  <p:tag name="KSO_WM_UNIT_VALUE" val="236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。根据需要可酌情增减文字，以便观者准确地理解您传达的思想。单击此处添加文本具体内容，简明扼要地阐述您的观点。"/>
</p:tagLst>
</file>

<file path=ppt/tags/tag59.xml><?xml version="1.0" encoding="utf-8"?>
<p:tagLst xmlns:p="http://schemas.openxmlformats.org/presentationml/2006/main">
  <p:tag name="KSO_WM_SLIDE_ID" val="custom20234952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77*464"/>
  <p:tag name="KSO_WM_SLIDE_POSITION" val="47*47"/>
  <p:tag name="KSO_WM_TAG_VERSION" val="3.0"/>
  <p:tag name="KSO_WM_BEAUTIFY_FLAG" val="#wm#"/>
  <p:tag name="KSO_WM_TEMPLATE_CATEGORY" val="custom"/>
  <p:tag name="KSO_WM_TEMPLATE_INDEX" val="20234952"/>
  <p:tag name="KSO_WM_SLIDE_LAYOUT" val="a_f_β"/>
  <p:tag name="KSO_WM_SLIDE_LAYOUT_CNT" val="1_1_1"/>
  <p:tag name="resource_record_key" val="{&quot;29&quot;:[50000047],&quot;65&quot;:[20234952]}"/>
</p:tagLst>
</file>

<file path=ppt/tags/tag60.xml><?xml version="1.0" encoding="utf-8"?>
<p:tagLst xmlns:p="http://schemas.openxmlformats.org/presentationml/2006/main">
  <p:tag name="resource_record_key" val="{&quot;29&quot;:[50000047],&quot;65&quot;:[20234952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5524</Words>
  <Application>WPS 演示</Application>
  <PresentationFormat>宽屏</PresentationFormat>
  <Paragraphs>673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60" baseType="lpstr">
      <vt:lpstr>Arial</vt:lpstr>
      <vt:lpstr>宋体</vt:lpstr>
      <vt:lpstr>Wingdings</vt:lpstr>
      <vt:lpstr>Arial</vt:lpstr>
      <vt:lpstr>Calibri</vt:lpstr>
      <vt:lpstr>微软雅黑</vt:lpstr>
      <vt:lpstr>Candara</vt:lpstr>
      <vt:lpstr>华文楷体</vt:lpstr>
      <vt:lpstr>Segoe UI Light 8</vt:lpstr>
      <vt:lpstr>Segoe UI</vt:lpstr>
      <vt:lpstr>Wingdings</vt:lpstr>
      <vt:lpstr>Arial Unicode MS</vt:lpstr>
      <vt:lpstr>Cambria Math</vt:lpstr>
      <vt:lpstr>MS Mincho</vt:lpstr>
      <vt:lpstr>SWAstro</vt:lpstr>
      <vt:lpstr>Times New Roman</vt:lpstr>
      <vt:lpstr>等线</vt:lpstr>
      <vt:lpstr>Helvetica Neue</vt:lpstr>
      <vt:lpstr>Calibri</vt:lpstr>
      <vt:lpstr>Candara</vt:lpstr>
      <vt:lpstr>Helvetica Neue</vt:lpstr>
      <vt:lpstr>SJBesse</vt:lpstr>
      <vt:lpstr>Ms.Luce</vt:lpstr>
      <vt:lpstr>Helvetica LT Pro</vt:lpstr>
      <vt:lpstr>+中文正文</vt:lpstr>
      <vt:lpstr>MiSans Normal</vt:lpstr>
      <vt:lpstr>BatangChe</vt:lpstr>
      <vt:lpstr>MS PGothic</vt:lpstr>
      <vt:lpstr>微软雅黑</vt:lpstr>
      <vt:lpstr>Office theme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条纹定位精度不确定性分析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landequming17</dc:creator>
  <cp:lastModifiedBy>林煜凯</cp:lastModifiedBy>
  <cp:revision>60</cp:revision>
  <dcterms:created xsi:type="dcterms:W3CDTF">2025-09-25T03:14:00Z</dcterms:created>
  <dcterms:modified xsi:type="dcterms:W3CDTF">2026-07-21T14:58:09Z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2026-05-13T21:37:40Z</vt:filetime>
  </property>
  <property fmtid="{D5CDD505-2E9C-101B-9397-08002B2CF9AE}" pid="4" name="KSOProductBuildVer">
    <vt:lpwstr>2052-12.1.0.26895</vt:lpwstr>
  </property>
  <property fmtid="{D5CDD505-2E9C-101B-9397-08002B2CF9AE}" pid="5" name="ICV">
    <vt:lpwstr>5748A4DF4C304D82851087EE2DDE957D_13</vt:lpwstr>
  </property>
</Properties>
</file>