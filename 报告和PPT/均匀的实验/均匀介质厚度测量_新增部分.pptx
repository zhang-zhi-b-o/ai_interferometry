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2" r:id="rId2"/>
    <p:sldId id="353" r:id="rId3"/>
    <p:sldId id="354" r:id="rId4"/>
    <p:sldId id="35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0220F-CD31-77C1-407F-D53C95FDF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704557-E8AC-EE74-15CF-9E3107C4F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AE78A-2DC8-5BC2-9492-56C62634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99C8C-8220-91BE-2489-63FD4900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3E415C-3C9C-887B-A720-0DC56D58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1379B-9B00-79B2-39D6-63E16FA0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29940A-DFC0-6F7E-3D2B-931E122DD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E2212-37D4-0733-AD05-71D2DA99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43F08-69F3-C62C-1D16-2B266F555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64B36-2EEB-483E-CBBC-D3C27A66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3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BABE4-9782-2977-B0DF-DADFE029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88681C-05B8-E784-37BF-8ADF1B022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44AD2-7D70-A1F3-603C-34ABB711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D6B840-8592-ED77-33CF-FDF2C672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871FF6-24EA-98B1-7528-7B4094BC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58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5AB33-819B-3B6D-78EE-F7C20C08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17C40F-5D91-44F0-FF66-3E0279E62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FC7AE4-9A2E-D27E-E63D-DACAA50B6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98C633-166D-0E29-1BAD-DC8F48F6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151AE-E331-D763-4234-F0B7B630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BE0746-BF2B-B6F2-8B0C-2448BAB6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58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E0A26-2097-2491-3396-4F34BB4F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40E803-4B68-40DA-5C0C-C5F6EA710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56DE9B-CBED-0106-183C-38E82BF08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373724-C152-11B1-6551-4F2A62FD7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8A57AF-20BF-1AB6-C89A-62BA394B6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BCC0B2-D862-3F9F-E3D0-0ABAC07A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921AE1-2F53-0822-ECFA-E116A0BD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E19447-4BF4-B14D-B3E4-73337354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24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7921D-D428-4113-EABB-6D848B3C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789EC8-EFC6-8AB7-D517-DB9DE652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334DF0-6830-F601-D7DB-4F2043DC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5F469E-0C3D-4016-AA63-4270D597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15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51262C-3B47-E3DC-F2AE-C177ED90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8D3405-07B0-BD79-B25F-E9AF49FD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1B3A4-A466-088F-61DB-FDD0D278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8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B86AF-962A-740E-B4B3-DC569CF0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69AA0-2157-06D9-9883-A0BAE39CD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675370-2961-201B-4444-A48814010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A10664-9AE9-D1C3-6C67-54F825D07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EC4C1E-32D4-6DF0-50C7-6B1D4BEC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93CAB5-4E76-8172-9062-6FF8133D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55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4395F-1FAA-6B9B-3E9D-AF08D26C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1D7316-3461-64B2-EBC4-1A550C258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697F4-70BD-CE67-24D1-214D0CA65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869DE6-6064-B32E-7FAC-38AD7D75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2BDCA-5AC8-DB0D-37B5-C0558D3E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16B5F-4056-041C-6AFD-99C004BF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15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2A742-9E68-E64D-84FF-4BDD39D6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CE4EBD-3E72-64EC-B0EE-9152D4BDF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87201-1F1C-DC9E-95A1-FFB7A5E3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220B4-6A24-A058-1EE4-F11A2AEF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566E1-B2B8-406B-2FE7-06004E9A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3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0D904C-6917-DA13-D31C-FDED91064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138F5B-8E79-1B45-9445-91BF23D55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23EC6-9813-80F8-1385-ABDCB430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50F5F-5B28-4E6A-6F63-635BB2A5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B46BE6-9E65-F2E0-A36C-77F6FBD6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971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72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BF8ABC-BEE2-387A-E120-9982C91E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AA1C0-6E80-14EB-508A-836B603EC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41B14-8A7A-4F0E-BEBC-DE5016544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36531-9365-46BB-B520-06772C7BEE58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C80A3-3971-990F-DFFB-4DB292F85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12B88-9A57-608A-3BDA-A19D4709C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6360D-BC4D-4F8A-881A-09973BC3B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18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8" name="平行四边形 7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 fontScale="97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均匀介质厚度测量 </a:t>
            </a:r>
            <a:r>
              <a:rPr lang="en-US" altLang="zh-CN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01. </a:t>
            </a: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图像处理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A09D35C-B733-E369-60B6-203A1F3B0942}"/>
              </a:ext>
            </a:extLst>
          </p:cNvPr>
          <p:cNvSpPr/>
          <p:nvPr/>
        </p:nvSpPr>
        <p:spPr>
          <a:xfrm>
            <a:off x="330200" y="1155700"/>
            <a:ext cx="3454400" cy="2413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zh-CN" altLang="en-US" b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无介质中央条纹图像</a:t>
            </a:r>
          </a:p>
          <a:p>
            <a:pPr algn="ctr"/>
            <a:endParaRPr lang="zh-CN" altLang="en-US" b="1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（实验图片待补）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1A82C0-7E10-DA8B-7DAB-35893E17A9F8}"/>
              </a:ext>
            </a:extLst>
          </p:cNvPr>
          <p:cNvSpPr/>
          <p:nvPr/>
        </p:nvSpPr>
        <p:spPr>
          <a:xfrm>
            <a:off x="4025900" y="1155700"/>
            <a:ext cx="3454400" cy="2413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zh-CN" altLang="en-US" b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插入均匀介质后的图像</a:t>
            </a:r>
          </a:p>
          <a:p>
            <a:pPr algn="ctr"/>
            <a:endParaRPr lang="zh-CN" altLang="en-US" b="1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（实验图片待补）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8F63116-0604-758E-B15A-F7F7AF76AA60}"/>
              </a:ext>
            </a:extLst>
          </p:cNvPr>
          <p:cNvSpPr/>
          <p:nvPr/>
        </p:nvSpPr>
        <p:spPr>
          <a:xfrm>
            <a:off x="7759700" y="1155700"/>
            <a:ext cx="4102100" cy="2413000"/>
          </a:xfrm>
          <a:prstGeom prst="roundRect">
            <a:avLst/>
          </a:prstGeom>
          <a:solidFill>
            <a:srgbClr val="FAF3EA"/>
          </a:solidFill>
          <a:ln w="12700">
            <a:solidFill>
              <a:srgbClr val="D091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处理流程</a:t>
            </a:r>
          </a:p>
          <a:p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固定同一均匀区域</a:t>
            </a:r>
          </a:p>
          <a:p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识别中央白光条纹</a:t>
            </a:r>
          </a:p>
          <a:p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同方向驱动动镜复位</a:t>
            </a:r>
          </a:p>
          <a:p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记录稳定位置差 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CE96E93-DA1B-1CF1-BB95-DD4B88210F78}"/>
              </a:ext>
            </a:extLst>
          </p:cNvPr>
          <p:cNvSpPr/>
          <p:nvPr/>
        </p:nvSpPr>
        <p:spPr>
          <a:xfrm>
            <a:off x="330200" y="3886200"/>
            <a:ext cx="115316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6349CD-44D7-C592-8B1B-0D6F5154B990}"/>
              </a:ext>
            </a:extLst>
          </p:cNvPr>
          <p:cNvSpPr txBox="1"/>
          <p:nvPr/>
        </p:nvSpPr>
        <p:spPr>
          <a:xfrm>
            <a:off x="546100" y="3995371"/>
            <a:ext cx="3175000" cy="410369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20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中央条纹复位测厚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6C956F8-AB6F-C085-2929-8C372042E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1" y="4533899"/>
            <a:ext cx="1053391" cy="4826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557C6AA-A277-7AA7-B6BC-C307D5864DAA}"/>
              </a:ext>
            </a:extLst>
          </p:cNvPr>
          <p:cNvSpPr txBox="1"/>
          <p:nvPr/>
        </p:nvSpPr>
        <p:spPr>
          <a:xfrm>
            <a:off x="3048000" y="4274771"/>
            <a:ext cx="8445500" cy="841256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介质片垂直插入测量臂后，引入附加光程差 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2(n−1)e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移动动镜使中央条纹回到初始位置，动镜补偿产生光程差 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 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e=d/(n−1)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均匀介质使用固定 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ROI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或多个等效位置重复测量，判断结果是否在不确定度范围内一致。</a:t>
            </a:r>
          </a:p>
        </p:txBody>
      </p:sp>
    </p:spTree>
    <p:extLst>
      <p:ext uri="{BB962C8B-B14F-4D97-AF65-F5344CB8AC3E}">
        <p14:creationId xmlns:p14="http://schemas.microsoft.com/office/powerpoint/2010/main" val="260599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8" name="平行四边形 7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 fontScale="97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均匀介质厚度测量 </a:t>
            </a:r>
            <a:r>
              <a:rPr lang="en-US" altLang="zh-CN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02. </a:t>
            </a: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数据分析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ED75303-D08F-0F86-1A5B-8F4A789EA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563341"/>
              </p:ext>
            </p:extLst>
          </p:nvPr>
        </p:nvGraphicFramePr>
        <p:xfrm>
          <a:off x="304800" y="1066800"/>
          <a:ext cx="5461000" cy="4635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1456188075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090050358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058110694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539967895"/>
                    </a:ext>
                  </a:extLst>
                </a:gridCol>
              </a:tblGrid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d / mm</a:t>
                      </a:r>
                      <a:endParaRPr lang="zh-CN" altLang="en-US" sz="10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e / mm</a:t>
                      </a:r>
                      <a:endParaRPr lang="zh-CN" altLang="en-US" sz="10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e / </a:t>
                      </a:r>
                      <a:r>
                        <a:rPr lang="el-GR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μ</a:t>
                      </a:r>
                      <a:r>
                        <a:rPr lang="en-US" altLang="zh-CN" sz="10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m</a:t>
                      </a:r>
                      <a:endParaRPr lang="zh-CN" altLang="en-US" sz="10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88254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0.051584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0.099200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99.200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01911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0.051844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0.099700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99.700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28447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0.052364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0.100700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100.700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79261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0.051740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0.099500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99.500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012388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0.052468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0.100900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100.900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12122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0.052000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0.100000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100.000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577871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0.052104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0.100200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100.200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97450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0.051896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0.099800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99.800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45935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0.052312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0.100600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100.600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651104"/>
                  </a:ext>
                </a:extLst>
              </a:tr>
              <a:tr h="421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0.051948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0.099900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99.900</a:t>
                      </a:r>
                      <a:endParaRPr lang="zh-CN" altLang="en-US" sz="105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96927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0B26D2F0-A0C5-CB38-1049-E3BA24802E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0" y="1066800"/>
            <a:ext cx="5867400" cy="33020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42B382-022E-A906-79A1-CCC96EF4A343}"/>
              </a:ext>
            </a:extLst>
          </p:cNvPr>
          <p:cNvSpPr/>
          <p:nvPr/>
        </p:nvSpPr>
        <p:spPr>
          <a:xfrm>
            <a:off x="5994400" y="4584700"/>
            <a:ext cx="5867400" cy="1219200"/>
          </a:xfrm>
          <a:prstGeom prst="roundRect">
            <a:avLst/>
          </a:prstGeom>
          <a:solidFill>
            <a:srgbClr val="FAF3EA"/>
          </a:solidFill>
          <a:ln w="12700">
            <a:solidFill>
              <a:srgbClr val="D091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D522D0-A3DC-45A8-46BB-F0B1A56D0356}"/>
              </a:ext>
            </a:extLst>
          </p:cNvPr>
          <p:cNvSpPr txBox="1"/>
          <p:nvPr/>
        </p:nvSpPr>
        <p:spPr>
          <a:xfrm>
            <a:off x="6184900" y="4681171"/>
            <a:ext cx="1714500" cy="348813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6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计算模型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C6B5B93-10A6-110C-08D5-079EAD7C3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1" y="5054600"/>
            <a:ext cx="3026321" cy="3937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CDE388F-16F7-849D-6D29-35B952DBFA3E}"/>
              </a:ext>
            </a:extLst>
          </p:cNvPr>
          <p:cNvSpPr txBox="1"/>
          <p:nvPr/>
        </p:nvSpPr>
        <p:spPr>
          <a:xfrm>
            <a:off x="355600" y="5925770"/>
            <a:ext cx="114300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平均厚度 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100.050 </a:t>
            </a:r>
            <a:r>
              <a:rPr lang="en-US" altLang="zh-CN" sz="15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μm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；单次标准差 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0.548 </a:t>
            </a:r>
            <a:r>
              <a:rPr lang="en-US" altLang="zh-CN" sz="15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μm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；相对标准差 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0.55%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次结果未发现明显异常值。</a:t>
            </a:r>
          </a:p>
        </p:txBody>
      </p:sp>
    </p:spTree>
    <p:extLst>
      <p:ext uri="{BB962C8B-B14F-4D97-AF65-F5344CB8AC3E}">
        <p14:creationId xmlns:p14="http://schemas.microsoft.com/office/powerpoint/2010/main" val="426454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8" name="平行四边形 7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均匀介质厚度测量 </a:t>
            </a:r>
            <a:r>
              <a:rPr lang="en-US" altLang="zh-CN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03. </a:t>
            </a: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不确定度计算过程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8267185-6A20-D0E3-A42E-12D2656B6CA8}"/>
              </a:ext>
            </a:extLst>
          </p:cNvPr>
          <p:cNvSpPr/>
          <p:nvPr/>
        </p:nvSpPr>
        <p:spPr>
          <a:xfrm>
            <a:off x="546100" y="1130300"/>
            <a:ext cx="5257800" cy="53467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333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BF1791-2164-82E9-1C38-6634552FFA31}"/>
              </a:ext>
            </a:extLst>
          </p:cNvPr>
          <p:cNvSpPr/>
          <p:nvPr/>
        </p:nvSpPr>
        <p:spPr>
          <a:xfrm>
            <a:off x="6197600" y="1130300"/>
            <a:ext cx="5689600" cy="3149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333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6FCBE1-08F7-DB2A-63B6-0AB7F5CA4E8F}"/>
              </a:ext>
            </a:extLst>
          </p:cNvPr>
          <p:cNvSpPr txBox="1"/>
          <p:nvPr/>
        </p:nvSpPr>
        <p:spPr>
          <a:xfrm>
            <a:off x="762000" y="1315671"/>
            <a:ext cx="4699000" cy="379591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类不确定度（重复测定）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5FD62-D2F6-288E-F7A5-2F5FA6875AA8}"/>
              </a:ext>
            </a:extLst>
          </p:cNvPr>
          <p:cNvSpPr txBox="1"/>
          <p:nvPr/>
        </p:nvSpPr>
        <p:spPr>
          <a:xfrm>
            <a:off x="762000" y="1798270"/>
            <a:ext cx="14224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实验标准差：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4F333A5-436B-BF17-3A1C-135DBDAF3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39900"/>
            <a:ext cx="1797626" cy="4826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5FB0C74-C544-6010-40A7-34396C8ED4BF}"/>
              </a:ext>
            </a:extLst>
          </p:cNvPr>
          <p:cNvSpPr txBox="1"/>
          <p:nvPr/>
        </p:nvSpPr>
        <p:spPr>
          <a:xfrm>
            <a:off x="762000" y="2407870"/>
            <a:ext cx="19685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动镜位移不确定度：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6826781-62D8-63D7-77BE-4CB7E4D48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00" y="2336800"/>
            <a:ext cx="2163352" cy="4445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A955E25-92E0-EAC6-280D-E23DFBEBF270}"/>
              </a:ext>
            </a:extLst>
          </p:cNvPr>
          <p:cNvSpPr txBox="1"/>
          <p:nvPr/>
        </p:nvSpPr>
        <p:spPr>
          <a:xfrm>
            <a:off x="762000" y="3017471"/>
            <a:ext cx="4699000" cy="379591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类不确定度（仪器与折射率）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33EFF0-66C6-470F-C149-C5783BC973C1}"/>
              </a:ext>
            </a:extLst>
          </p:cNvPr>
          <p:cNvSpPr txBox="1"/>
          <p:nvPr/>
        </p:nvSpPr>
        <p:spPr>
          <a:xfrm>
            <a:off x="762000" y="3474670"/>
            <a:ext cx="11684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数显位移：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9DA54E12-2741-0698-7ACF-799842144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3403601"/>
            <a:ext cx="2326154" cy="406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DFF662D-A4B5-8EDE-F108-94ADF113F058}"/>
              </a:ext>
            </a:extLst>
          </p:cNvPr>
          <p:cNvSpPr txBox="1"/>
          <p:nvPr/>
        </p:nvSpPr>
        <p:spPr>
          <a:xfrm>
            <a:off x="762000" y="3969970"/>
            <a:ext cx="14986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步进位移精度：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9135834-254A-4450-524D-B1CE1B3AE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3898900"/>
            <a:ext cx="2048452" cy="406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CFCDA0C8-56B3-B550-92FC-ED2576BDF265}"/>
              </a:ext>
            </a:extLst>
          </p:cNvPr>
          <p:cNvSpPr txBox="1"/>
          <p:nvPr/>
        </p:nvSpPr>
        <p:spPr>
          <a:xfrm>
            <a:off x="762000" y="4465270"/>
            <a:ext cx="14224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灵敏系数：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C8567F3-C04B-BD52-8F25-D3EA7D9B8D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1" y="4394200"/>
            <a:ext cx="2444651" cy="4318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B684D9A-3014-73F2-5102-8EFB20F1CE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1" y="5041900"/>
            <a:ext cx="3419027" cy="3556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F052443-D3BD-673A-59CD-82171BC3A2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1" y="5511800"/>
            <a:ext cx="3682439" cy="3556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844ED3EA-FB12-4D33-6CF1-60C65A4FEB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5981700"/>
            <a:ext cx="3661454" cy="355600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E765F9CD-D47B-83BC-01DD-17AFC8B57D8B}"/>
              </a:ext>
            </a:extLst>
          </p:cNvPr>
          <p:cNvSpPr txBox="1"/>
          <p:nvPr/>
        </p:nvSpPr>
        <p:spPr>
          <a:xfrm>
            <a:off x="6451600" y="1302971"/>
            <a:ext cx="4953000" cy="379591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盖玻片折射率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59991A49-BD62-5D36-5EE0-6503D9FA36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1" y="1765300"/>
            <a:ext cx="2985257" cy="393700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AD2B1334-72E7-596B-0320-B87AB1FDC3CB}"/>
              </a:ext>
            </a:extLst>
          </p:cNvPr>
          <p:cNvSpPr txBox="1"/>
          <p:nvPr/>
        </p:nvSpPr>
        <p:spPr>
          <a:xfrm>
            <a:off x="6477000" y="2258035"/>
            <a:ext cx="4953000" cy="528350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n=1.520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n∈[1.520,1.528]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，半宽度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a=0.004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分布取三角分布。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9A5D61C-FA3E-1595-E55B-FB99478738E3}"/>
              </a:ext>
            </a:extLst>
          </p:cNvPr>
          <p:cNvSpPr txBox="1"/>
          <p:nvPr/>
        </p:nvSpPr>
        <p:spPr>
          <a:xfrm>
            <a:off x="6477000" y="2979370"/>
            <a:ext cx="16764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灵敏系数：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5E53306-AFE4-17C1-BE71-8F6C1A2D05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1" y="2870200"/>
            <a:ext cx="1845045" cy="4572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5829E0E-3531-CF87-604A-06A4E19225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581401"/>
            <a:ext cx="4191000" cy="376865"/>
          </a:xfrm>
          <a:prstGeom prst="rect">
            <a:avLst/>
          </a:prstGeom>
        </p:spPr>
      </p:pic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0308ADA-1648-7B7C-6C27-DB4397BFA08F}"/>
              </a:ext>
            </a:extLst>
          </p:cNvPr>
          <p:cNvSpPr/>
          <p:nvPr/>
        </p:nvSpPr>
        <p:spPr>
          <a:xfrm>
            <a:off x="6197600" y="4445000"/>
            <a:ext cx="5689600" cy="2032000"/>
          </a:xfrm>
          <a:prstGeom prst="roundRect">
            <a:avLst/>
          </a:prstGeom>
          <a:solidFill>
            <a:srgbClr val="E7F0F7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11FB942-B961-5284-4877-5B5A6731637B}"/>
              </a:ext>
            </a:extLst>
          </p:cNvPr>
          <p:cNvSpPr txBox="1"/>
          <p:nvPr/>
        </p:nvSpPr>
        <p:spPr>
          <a:xfrm>
            <a:off x="6477000" y="4630371"/>
            <a:ext cx="4572000" cy="379591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合成标准不确定度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32D3D257-3047-D3C9-C940-BAAC183C8F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283200"/>
            <a:ext cx="4953000" cy="46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8" name="平行四边形 7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 fontScale="97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均匀介质厚度测量 </a:t>
            </a:r>
            <a:r>
              <a:rPr lang="en-US" altLang="zh-CN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04. </a:t>
            </a:r>
            <a:r>
              <a:rPr lang="zh-CN" altLang="en-US" sz="26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预算与结果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4BF86BE-2D07-74A5-FE49-18B67262A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50870"/>
              </p:ext>
            </p:extLst>
          </p:nvPr>
        </p:nvGraphicFramePr>
        <p:xfrm>
          <a:off x="317500" y="1219200"/>
          <a:ext cx="5207001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667">
                  <a:extLst>
                    <a:ext uri="{9D8B030D-6E8A-4147-A177-3AD203B41FA5}">
                      <a16:colId xmlns:a16="http://schemas.microsoft.com/office/drawing/2014/main" val="2407955493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3486417118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340783597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不确定度来源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标准不确定度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/μm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方差贡献率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96975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测量重复性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0.173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19.15%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95281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折射率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0.314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62.67%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24269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步进位移精度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0.139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12.31%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61982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数显位移测量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0.096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</a:rPr>
                        <a:t>5.87%</a:t>
                      </a:r>
                      <a:endParaRPr lang="zh-CN" altLang="en-US" sz="1200">
                        <a:solidFill>
                          <a:srgbClr val="333333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186883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540BDCE2-0402-8299-24CD-12A789E545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1092200"/>
            <a:ext cx="5969000" cy="32385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7CAB6BC-0F7E-CB0A-D29B-FB1ECAE0FF1A}"/>
              </a:ext>
            </a:extLst>
          </p:cNvPr>
          <p:cNvSpPr/>
          <p:nvPr/>
        </p:nvSpPr>
        <p:spPr>
          <a:xfrm>
            <a:off x="317500" y="4152900"/>
            <a:ext cx="5207000" cy="18161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134431-E317-271B-811F-4E61A43D6906}"/>
              </a:ext>
            </a:extLst>
          </p:cNvPr>
          <p:cNvSpPr txBox="1"/>
          <p:nvPr/>
        </p:nvSpPr>
        <p:spPr>
          <a:xfrm>
            <a:off x="495300" y="4274771"/>
            <a:ext cx="1333500" cy="364202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有效自由度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D83C15-4178-96AC-39CE-17DA4F02F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1" y="4267200"/>
            <a:ext cx="1530803" cy="381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2E9B8AA-F8D7-A3CC-2D02-1D7F28D1A0D1}"/>
              </a:ext>
            </a:extLst>
          </p:cNvPr>
          <p:cNvSpPr txBox="1"/>
          <p:nvPr/>
        </p:nvSpPr>
        <p:spPr>
          <a:xfrm>
            <a:off x="495300" y="4782771"/>
            <a:ext cx="1117600" cy="364202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包含因子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807C272-34B1-564B-E620-A3A8CDD4F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762500"/>
            <a:ext cx="3429000" cy="38288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1CF54D6-7A70-74DB-6C34-925D01BA4FF6}"/>
              </a:ext>
            </a:extLst>
          </p:cNvPr>
          <p:cNvSpPr txBox="1"/>
          <p:nvPr/>
        </p:nvSpPr>
        <p:spPr>
          <a:xfrm>
            <a:off x="495300" y="5290771"/>
            <a:ext cx="1498600" cy="364202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98F6289-4896-77EC-C350-BDB19872C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270501"/>
            <a:ext cx="3048000" cy="29366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BC68453-AFBF-E461-2256-18F2A1774F83}"/>
              </a:ext>
            </a:extLst>
          </p:cNvPr>
          <p:cNvSpPr txBox="1"/>
          <p:nvPr/>
        </p:nvSpPr>
        <p:spPr>
          <a:xfrm>
            <a:off x="520700" y="5697170"/>
            <a:ext cx="4635500" cy="241092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9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包含因子按 </a:t>
            </a:r>
            <a:r>
              <a:rPr lang="en-US" altLang="zh-CN" sz="9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9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分布确定；合成标准不确定度用于计算扩展不确定度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0C9FB49-BA65-66B7-ED1C-C49E6921B823}"/>
              </a:ext>
            </a:extLst>
          </p:cNvPr>
          <p:cNvSpPr/>
          <p:nvPr/>
        </p:nvSpPr>
        <p:spPr>
          <a:xfrm>
            <a:off x="5867400" y="4699000"/>
            <a:ext cx="6019800" cy="1295400"/>
          </a:xfrm>
          <a:prstGeom prst="roundRect">
            <a:avLst/>
          </a:prstGeom>
          <a:solidFill>
            <a:srgbClr val="D09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最终结果</a:t>
            </a:r>
          </a:p>
          <a:p>
            <a:pPr algn="ctr"/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= (100.1 ± 0.8) </a:t>
            </a:r>
            <a:r>
              <a:rPr lang="el-GR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54A615A-D400-39E1-EAB8-4A9A924B9004}"/>
              </a:ext>
            </a:extLst>
          </p:cNvPr>
          <p:cNvSpPr txBox="1"/>
          <p:nvPr/>
        </p:nvSpPr>
        <p:spPr>
          <a:xfrm>
            <a:off x="368300" y="6103570"/>
            <a:ext cx="114300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P≈95%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，相对扩展不确定度为 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0.78%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3272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宽屏</PresentationFormat>
  <Paragraphs>99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智博 张</dc:creator>
  <cp:lastModifiedBy>智博 张</cp:lastModifiedBy>
  <cp:revision>2</cp:revision>
  <dcterms:created xsi:type="dcterms:W3CDTF">2026-07-31T08:41:24Z</dcterms:created>
  <dcterms:modified xsi:type="dcterms:W3CDTF">2026-07-31T08:44:39Z</dcterms:modified>
</cp:coreProperties>
</file>