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9" r:id="rId2"/>
    <p:sldId id="350" r:id="rId3"/>
    <p:sldId id="35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27" y="8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87F9C-22B4-CE58-B757-1B13DBB11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60BC62-C8BB-6807-2372-29E420409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865116-3562-B059-11C1-C42C0C142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9A442-D208-4F72-B799-9171348D5D7F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586859-6533-4714-D98E-39C9831E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D2C01A-47F8-60C6-3E88-9BCD1310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8504-A6AA-41EC-963A-0B828133D4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571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E5C100-971B-492E-4610-3C130BD8D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DDF421-34A2-4F76-D643-E31747712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F562C3-5FC7-BF55-1A9D-EB5FDDAB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9A442-D208-4F72-B799-9171348D5D7F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AC7BBF-5692-2713-B3D5-5B402D6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AB149C-AC3C-F112-27E8-518C45C7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8504-A6AA-41EC-963A-0B828133D4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426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8BF06D-E8E8-4A5C-CFC4-BA822D430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7D1E84-35C0-9439-7888-EE50C3FC1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CB3AA0-4107-0B79-8A21-636F6D80A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9A442-D208-4F72-B799-9171348D5D7F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C233B1-6702-70C9-A8BE-C2DD4987D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4E24C8-8B8A-3EF5-6F27-B70D10EF7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8504-A6AA-41EC-963A-0B828133D4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976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4EFD2-49EF-1D79-35BE-6BAA7C3FB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68326-28DA-59C8-B523-BDE8DA1EE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52B24E-0D43-C6AD-8868-026329CEF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2FFE3A-DFBD-BCB0-1CF4-6DF609DEB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9A442-D208-4F72-B799-9171348D5D7F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2C2FED-9CB5-4676-81CD-8BC4DF9F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51029A-32B1-8910-E6FF-D85378066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8504-A6AA-41EC-963A-0B828133D4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92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53A618-E700-8809-A78B-EF07786EA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3E7A4E-5016-7374-C131-DC2269D1A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1F7B42-9F03-433D-29E7-02190863A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64E1A6-CA97-893D-BD71-64E7D8B73C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2DACD1-173A-E380-57D6-52C0291EB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ADC167-8C3F-FB69-F12A-54B3AE2C1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9A442-D208-4F72-B799-9171348D5D7F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E1973E-D568-BC7B-8756-60B6CEB77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4A464C-15D3-057F-0BF1-9879D416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8504-A6AA-41EC-963A-0B828133D4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66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239601-D736-7FE8-99FA-11E363E35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5C190B4-B058-BA73-1A22-D3631DAF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9A442-D208-4F72-B799-9171348D5D7F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FAFE74-18A9-B7F5-40E9-563A31AB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94CE4C-0B90-2642-46CA-DD23B10B4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8504-A6AA-41EC-963A-0B828133D4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321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6FC3AB-428A-0B94-8589-524AF368F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9A442-D208-4F72-B799-9171348D5D7F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ED07A5-D4EF-DD54-401F-0B0006C12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74BB11-040B-4F83-FA5A-409D3808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8504-A6AA-41EC-963A-0B828133D4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30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19F4F-A39C-ADBF-1EF7-815FC0B36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B1D51B-0E5D-36EE-C58A-3ED4C5EAC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5D6F00-98C0-AA9F-7B7D-A0BA12FFD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36FB8B-7177-6E41-9B50-7E77F7D71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9A442-D208-4F72-B799-9171348D5D7F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40DD58-EED6-2DA4-F2DA-D00C805E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305836-4E8F-DBA3-1966-1B809CE84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8504-A6AA-41EC-963A-0B828133D4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53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E2086F-42D0-E72C-1C08-0952CFA54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062CDAD-FBD8-7E02-C285-37BB5E0E4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1D479D-29DD-822A-D69E-656F24BB2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0C7703-F7ED-DBA5-F2DF-BE3E5C39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9A442-D208-4F72-B799-9171348D5D7F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8326E3-A041-E58C-E864-A42EC4F47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10B4E8-7AE1-6566-283A-2C3231C5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8504-A6AA-41EC-963A-0B828133D4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45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57766-799B-0606-99E8-CC3658EDB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D1C1DA-5015-A076-C413-120DFE94E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54B559-F74A-E2EC-2A67-B56CFC03D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9A442-D208-4F72-B799-9171348D5D7F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295BF9-9C1C-F6DB-A768-BD696B52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A5BE4A-C66E-E5D9-B176-91EEC1A7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8504-A6AA-41EC-963A-0B828133D4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697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882DDB-BD9A-CDDC-8CFF-DB48A5A465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16FD84-A5D8-08A1-5340-705A17A9F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C4B4F-4C6C-EFFC-3B36-C96D0A840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9A442-D208-4F72-B799-9171348D5D7F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D7DF01-BCC8-A1F9-A518-5DF97CDF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59A371-CC14-A5A7-E00E-9BAF9556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B8504-A6AA-41EC-963A-0B828133D4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445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70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711746-2AE7-24B7-49B7-314A9A77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0E0E04-DAF1-FD2C-B3A9-A5B8E0351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9188FA-3CFC-D812-C01A-0C3241D73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9A442-D208-4F72-B799-9171348D5D7F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6A1148-F447-0AC9-470F-5425B8DE4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51F405-1CCF-0C99-E25D-6A4941AB0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B8504-A6AA-41EC-963A-0B828133D4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405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760" y="193675"/>
            <a:ext cx="6416675" cy="612775"/>
          </a:xfrm>
          <a:prstGeom prst="rect">
            <a:avLst/>
          </a:prstGeom>
        </p:spPr>
        <p:txBody>
          <a:bodyPr vert="horz" lIns="88900" tIns="50800" rIns="88900" bIns="508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7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盖玻片厚度测量 </a:t>
            </a:r>
            <a:r>
              <a:rPr lang="en-US" altLang="zh-CN" sz="27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/ 01. </a:t>
            </a:r>
            <a:r>
              <a:rPr lang="zh-CN" altLang="en-US" sz="27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数据与结果</a:t>
            </a:r>
            <a:endParaRPr kumimoji="0" lang="zh-CN" altLang="en-US" sz="2700" i="0" u="none" strike="noStrike" kern="1200" cap="none" spc="0" normalizeH="0" baseline="0" noProof="0" dirty="0">
              <a:ln>
                <a:noFill/>
              </a:ln>
              <a:solidFill>
                <a:srgbClr val="333D4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31996C5F-5233-95A5-1D81-02F267BE9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419089"/>
              </p:ext>
            </p:extLst>
          </p:nvPr>
        </p:nvGraphicFramePr>
        <p:xfrm>
          <a:off x="304800" y="1104900"/>
          <a:ext cx="4953000" cy="4572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250">
                  <a:extLst>
                    <a:ext uri="{9D8B030D-6E8A-4147-A177-3AD203B41FA5}">
                      <a16:colId xmlns:a16="http://schemas.microsoft.com/office/drawing/2014/main" val="2074001236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114691257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142605228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980718880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动镜位移 </a:t>
                      </a:r>
                      <a:r>
                        <a:rPr lang="en-US" altLang="zh-CN" sz="12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mm</a:t>
                      </a:r>
                      <a:endParaRPr lang="zh-CN" altLang="en-US" sz="12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厚度 </a:t>
                      </a:r>
                      <a:r>
                        <a:rPr lang="en-US" altLang="zh-CN" sz="12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mm</a:t>
                      </a:r>
                      <a:endParaRPr lang="zh-CN" altLang="en-US" sz="12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厚度 </a:t>
                      </a:r>
                      <a:r>
                        <a:rPr lang="en-US" altLang="zh-CN" sz="12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</a:t>
                      </a:r>
                      <a:r>
                        <a:rPr lang="el-GR" altLang="zh-CN" sz="12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μ</a:t>
                      </a:r>
                      <a:r>
                        <a:rPr lang="en-US" altLang="zh-CN" sz="12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endParaRPr lang="zh-CN" altLang="en-US" sz="12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880999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0.09120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0.175385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175.385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8758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0.09160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0.176154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176.154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57258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0.09250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0.177885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177.885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8525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0.09140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0.175769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175.769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729998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0.09270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0.178269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178.269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8637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50" b="1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平均值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0.09188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0.176692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 b="1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176.692</a:t>
                      </a:r>
                      <a:endParaRPr lang="zh-CN" altLang="en-US" sz="1250" b="1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67120"/>
                  </a:ext>
                </a:extLst>
              </a:tr>
            </a:tbl>
          </a:graphicData>
        </a:graphic>
      </p:graphicFrame>
      <p:pic>
        <p:nvPicPr>
          <p:cNvPr id="18" name="图片 17">
            <a:extLst>
              <a:ext uri="{FF2B5EF4-FFF2-40B4-BE49-F238E27FC236}">
                <a16:creationId xmlns:a16="http://schemas.microsoft.com/office/drawing/2014/main" id="{291E179D-1625-0774-3950-19C8C8DA636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155700"/>
            <a:ext cx="6388100" cy="3594100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BCFD6F0-F83B-607B-1245-71369F767B89}"/>
              </a:ext>
            </a:extLst>
          </p:cNvPr>
          <p:cNvSpPr/>
          <p:nvPr/>
        </p:nvSpPr>
        <p:spPr>
          <a:xfrm>
            <a:off x="5486400" y="4902200"/>
            <a:ext cx="6388100" cy="914400"/>
          </a:xfrm>
          <a:prstGeom prst="roundRect">
            <a:avLst/>
          </a:prstGeom>
          <a:solidFill>
            <a:srgbClr val="FAF3EA"/>
          </a:solidFill>
          <a:ln w="127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E648518-8216-4A80-03F2-92CEA1243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800" y="4965700"/>
            <a:ext cx="693020" cy="3175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A2DAF715-3404-FB59-4D92-B38CF0A9B5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800" y="5359399"/>
            <a:ext cx="2195101" cy="3175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748C01D2-D5DE-029C-712F-AB9191599531}"/>
              </a:ext>
            </a:extLst>
          </p:cNvPr>
          <p:cNvSpPr txBox="1"/>
          <p:nvPr/>
        </p:nvSpPr>
        <p:spPr>
          <a:xfrm>
            <a:off x="355600" y="5913070"/>
            <a:ext cx="11480800" cy="333425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zh-CN" altLang="en-US" sz="15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五次结果分布在 </a:t>
            </a:r>
            <a:r>
              <a:rPr lang="en-US" altLang="zh-CN" sz="15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175.385</a:t>
            </a:r>
            <a:r>
              <a:rPr lang="zh-CN" altLang="en-US" sz="15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15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178.269 μm</a:t>
            </a:r>
            <a:r>
              <a:rPr lang="zh-CN" altLang="en-US" sz="15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，极差为 </a:t>
            </a:r>
            <a:r>
              <a:rPr lang="en-US" altLang="zh-CN" sz="15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2.885 μm</a:t>
            </a:r>
            <a:r>
              <a:rPr lang="zh-CN" altLang="en-US" sz="15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，未发现明显异常值。</a:t>
            </a:r>
          </a:p>
        </p:txBody>
      </p:sp>
    </p:spTree>
    <p:extLst>
      <p:ext uri="{BB962C8B-B14F-4D97-AF65-F5344CB8AC3E}">
        <p14:creationId xmlns:p14="http://schemas.microsoft.com/office/powerpoint/2010/main" val="4216536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166B53E8-CF73-F9F5-D683-574D883152BE}"/>
              </a:ext>
            </a:extLst>
          </p:cNvPr>
          <p:cNvSpPr/>
          <p:nvPr/>
        </p:nvSpPr>
        <p:spPr>
          <a:xfrm>
            <a:off x="342900" y="127000"/>
            <a:ext cx="495300" cy="609600"/>
          </a:xfrm>
          <a:prstGeom prst="triangle">
            <a:avLst/>
          </a:prstGeom>
          <a:solidFill>
            <a:srgbClr val="D0913D"/>
          </a:solidFill>
          <a:ln w="12700">
            <a:solidFill>
              <a:srgbClr val="333D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3BF750F6-FD75-E870-5A0F-DAC8FC4FE6C5}"/>
              </a:ext>
            </a:extLst>
          </p:cNvPr>
          <p:cNvSpPr/>
          <p:nvPr/>
        </p:nvSpPr>
        <p:spPr>
          <a:xfrm>
            <a:off x="431800" y="165100"/>
            <a:ext cx="495300" cy="6096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D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760" y="193675"/>
            <a:ext cx="6416675" cy="612775"/>
          </a:xfrm>
          <a:prstGeom prst="rect">
            <a:avLst/>
          </a:prstGeom>
        </p:spPr>
        <p:txBody>
          <a:bodyPr vert="horz" lIns="88900" tIns="50800" rIns="88900" bIns="508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7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盖玻片厚度测量 </a:t>
            </a:r>
            <a:r>
              <a:rPr lang="en-US" altLang="zh-CN" sz="27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/ 02. </a:t>
            </a:r>
            <a:r>
              <a:rPr lang="zh-CN" altLang="en-US" sz="27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不确定度计算过程</a:t>
            </a:r>
            <a:endParaRPr kumimoji="0" lang="zh-CN" altLang="en-US" sz="2700" i="0" u="none" strike="noStrike" kern="1200" cap="none" spc="0" normalizeH="0" baseline="0" noProof="0" dirty="0">
              <a:ln>
                <a:noFill/>
              </a:ln>
              <a:solidFill>
                <a:srgbClr val="333D4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9A1669E-C5BD-DA0D-D0BF-1CCA788C6903}"/>
              </a:ext>
            </a:extLst>
          </p:cNvPr>
          <p:cNvSpPr/>
          <p:nvPr/>
        </p:nvSpPr>
        <p:spPr>
          <a:xfrm>
            <a:off x="304800" y="1041400"/>
            <a:ext cx="5676900" cy="497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0D22ADE-8BBF-BC69-3156-2E979335C631}"/>
              </a:ext>
            </a:extLst>
          </p:cNvPr>
          <p:cNvSpPr/>
          <p:nvPr/>
        </p:nvSpPr>
        <p:spPr>
          <a:xfrm>
            <a:off x="6210300" y="1041400"/>
            <a:ext cx="5676900" cy="497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D07357-E408-5AC9-4CCF-04F2B1AED499}"/>
              </a:ext>
            </a:extLst>
          </p:cNvPr>
          <p:cNvSpPr txBox="1"/>
          <p:nvPr/>
        </p:nvSpPr>
        <p:spPr>
          <a:xfrm>
            <a:off x="533400" y="1188671"/>
            <a:ext cx="5207000" cy="410369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en-US" altLang="zh-CN" sz="2000" b="1">
                <a:solidFill>
                  <a:srgbClr val="D091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000" b="1">
                <a:solidFill>
                  <a:srgbClr val="D091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类：重复性评定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004E838-45EA-04C2-5A05-917BADB70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97100"/>
            <a:ext cx="3700196" cy="8382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43F5F11-16D9-08F7-3BEB-D386CE08F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3276600"/>
            <a:ext cx="3263380" cy="5715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98DF2F0-FF61-7D4A-990E-A107AC9BDC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1" y="4190999"/>
            <a:ext cx="2060331" cy="5715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C8169E9E-8447-30CC-FFB4-3527AA3FE0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5130800"/>
            <a:ext cx="4635500" cy="295046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AF4A3309-7A1B-E6A2-CE24-4A9B757156D7}"/>
              </a:ext>
            </a:extLst>
          </p:cNvPr>
          <p:cNvSpPr txBox="1"/>
          <p:nvPr/>
        </p:nvSpPr>
        <p:spPr>
          <a:xfrm>
            <a:off x="6438900" y="1188671"/>
            <a:ext cx="5207000" cy="410369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en-US" altLang="zh-CN" sz="2000" b="1">
                <a:solidFill>
                  <a:srgbClr val="D091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b="1">
                <a:solidFill>
                  <a:srgbClr val="D091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类：仪器与折射率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F7C3E91-CB79-46D3-66C8-08BC79E737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2171700"/>
            <a:ext cx="2984500" cy="39885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643787B8-DB8E-0E64-A136-D5AF0623CD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2921000"/>
            <a:ext cx="2984500" cy="41098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CFD82594-9263-6290-14E3-E7CC98215D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9" y="3657600"/>
            <a:ext cx="3238500" cy="510862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5B122877-60AB-F837-3ED9-B178A6D3B5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4470399"/>
            <a:ext cx="2268593" cy="5715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76DDB788-D73A-ACBA-F0C4-5D9576F77D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5283200"/>
            <a:ext cx="3429000" cy="315864"/>
          </a:xfrm>
          <a:prstGeom prst="rect">
            <a:avLst/>
          </a:prstGeom>
        </p:spPr>
      </p:pic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D4E68A09-E027-3C65-0761-BC703357D6A3}"/>
              </a:ext>
            </a:extLst>
          </p:cNvPr>
          <p:cNvSpPr/>
          <p:nvPr/>
        </p:nvSpPr>
        <p:spPr>
          <a:xfrm>
            <a:off x="304800" y="6045200"/>
            <a:ext cx="11582400" cy="673100"/>
          </a:xfrm>
          <a:prstGeom prst="roundRect">
            <a:avLst/>
          </a:prstGeom>
          <a:solidFill>
            <a:srgbClr val="FAF3EA"/>
          </a:solidFill>
          <a:ln w="127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5C6D5DE3-0CF9-105C-F23C-CBEF57EFCB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200" y="6184899"/>
            <a:ext cx="5165363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7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CA8F45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1905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760" y="193675"/>
            <a:ext cx="6416675" cy="612775"/>
          </a:xfrm>
          <a:prstGeom prst="rect">
            <a:avLst/>
          </a:prstGeom>
        </p:spPr>
        <p:txBody>
          <a:bodyPr vert="horz" lIns="88900" tIns="50800" rIns="88900" bIns="508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7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盖玻片厚度测量 </a:t>
            </a:r>
            <a:r>
              <a:rPr lang="en-US" altLang="zh-CN" sz="27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/ 03. </a:t>
            </a:r>
            <a:r>
              <a:rPr lang="zh-CN" altLang="en-US" sz="2700">
                <a:solidFill>
                  <a:srgbClr val="333D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+mn-ea"/>
              </a:rPr>
              <a:t>预算与结果</a:t>
            </a:r>
            <a:endParaRPr kumimoji="0" lang="zh-CN" altLang="en-US" sz="2700" i="0" u="none" strike="noStrike" kern="1200" cap="none" spc="0" normalizeH="0" baseline="0" noProof="0" dirty="0">
              <a:ln>
                <a:noFill/>
              </a:ln>
              <a:solidFill>
                <a:srgbClr val="333D4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268F9696-A6C5-A260-101F-731E559B3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319659"/>
              </p:ext>
            </p:extLst>
          </p:nvPr>
        </p:nvGraphicFramePr>
        <p:xfrm>
          <a:off x="304800" y="1104900"/>
          <a:ext cx="5207001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667">
                  <a:extLst>
                    <a:ext uri="{9D8B030D-6E8A-4147-A177-3AD203B41FA5}">
                      <a16:colId xmlns:a16="http://schemas.microsoft.com/office/drawing/2014/main" val="2018102815"/>
                    </a:ext>
                  </a:extLst>
                </a:gridCol>
                <a:gridCol w="1735667">
                  <a:extLst>
                    <a:ext uri="{9D8B030D-6E8A-4147-A177-3AD203B41FA5}">
                      <a16:colId xmlns:a16="http://schemas.microsoft.com/office/drawing/2014/main" val="2269516919"/>
                    </a:ext>
                  </a:extLst>
                </a:gridCol>
                <a:gridCol w="1735667">
                  <a:extLst>
                    <a:ext uri="{9D8B030D-6E8A-4147-A177-3AD203B41FA5}">
                      <a16:colId xmlns:a16="http://schemas.microsoft.com/office/drawing/2014/main" val="340933509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不确定度来源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标准不确定度 </a:t>
                      </a:r>
                      <a:r>
                        <a:rPr lang="en-US" altLang="zh-CN" sz="12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μm</a:t>
                      </a:r>
                      <a:endParaRPr lang="zh-CN" altLang="en-US" sz="12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方差贡献率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333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65949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测量重复性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0.581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50.2%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04817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盖玻片折射率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0.554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45.6%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55435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步进位移精度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0.139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2.9%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56157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数显位移测量</a:t>
                      </a: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0.096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1.3%</a:t>
                      </a:r>
                      <a:endParaRPr lang="zh-CN" altLang="en-US" sz="12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anchor="ctr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25444"/>
                  </a:ext>
                </a:extLst>
              </a:tr>
            </a:tbl>
          </a:graphicData>
        </a:graphic>
      </p:graphicFrame>
      <p:pic>
        <p:nvPicPr>
          <p:cNvPr id="18" name="图片 17">
            <a:extLst>
              <a:ext uri="{FF2B5EF4-FFF2-40B4-BE49-F238E27FC236}">
                <a16:creationId xmlns:a16="http://schemas.microsoft.com/office/drawing/2014/main" id="{38F75927-693C-9676-B9B4-A7D147CD16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990600"/>
            <a:ext cx="6096000" cy="3429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78E629E0-E2E3-588C-31C4-CED54C518402}"/>
              </a:ext>
            </a:extLst>
          </p:cNvPr>
          <p:cNvGrpSpPr/>
          <p:nvPr/>
        </p:nvGrpSpPr>
        <p:grpSpPr>
          <a:xfrm>
            <a:off x="304800" y="3898900"/>
            <a:ext cx="5207000" cy="2070100"/>
            <a:chOff x="304800" y="3898900"/>
            <a:chExt cx="5207000" cy="2070100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B6EB5407-3D90-7D11-DBFA-D0184735E8C8}"/>
                </a:ext>
              </a:extLst>
            </p:cNvPr>
            <p:cNvSpPr/>
            <p:nvPr/>
          </p:nvSpPr>
          <p:spPr>
            <a:xfrm>
              <a:off x="304800" y="3898900"/>
              <a:ext cx="5207000" cy="2070100"/>
            </a:xfrm>
            <a:prstGeom prst="roundRect">
              <a:avLst/>
            </a:prstGeom>
            <a:solidFill>
              <a:srgbClr val="F5F5F5"/>
            </a:solidFill>
            <a:ln w="12700">
              <a:solidFill>
                <a:srgbClr val="D9D9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DDD0091C-CF14-194E-A452-23904D03D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100" y="4038600"/>
              <a:ext cx="3273287" cy="38100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A53219CB-F111-4183-3858-41387A3D0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100" y="4559300"/>
              <a:ext cx="2872408" cy="381000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145743AD-3EC0-2FDF-3126-EB7935D7B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101" y="5079999"/>
              <a:ext cx="4555717" cy="381000"/>
            </a:xfrm>
            <a:prstGeom prst="rect">
              <a:avLst/>
            </a:prstGeom>
          </p:spPr>
        </p:pic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939F5A1-7856-072D-0587-E4E26A325D4A}"/>
                </a:ext>
              </a:extLst>
            </p:cNvPr>
            <p:cNvSpPr txBox="1"/>
            <p:nvPr/>
          </p:nvSpPr>
          <p:spPr>
            <a:xfrm>
              <a:off x="546100" y="5595571"/>
              <a:ext cx="4635500" cy="259558"/>
            </a:xfrm>
            <a:prstGeom prst="rect">
              <a:avLst/>
            </a:prstGeom>
            <a:noFill/>
          </p:spPr>
          <p:txBody>
            <a:bodyPr vert="horz" lIns="88900" tIns="50800" rIns="88900" bIns="50800" rtlCol="0" anchor="ctr">
              <a:spAutoFit/>
            </a:bodyPr>
            <a:lstStyle/>
            <a:p>
              <a:r>
                <a:rPr lang="en-US" altLang="zh-CN" sz="102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k=t₀.₉₇₅(</a:t>
              </a:r>
              <a:r>
                <a:rPr lang="el-GR" altLang="zh-CN" sz="102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ν</a:t>
              </a:r>
              <a:r>
                <a:rPr lang="en-US" altLang="zh-CN" sz="102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eff)</a:t>
              </a:r>
              <a:r>
                <a:rPr lang="zh-CN" altLang="en-US" sz="102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02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U₀.₉₅=k·u_c</a:t>
              </a:r>
              <a:r>
                <a:rPr lang="zh-CN" altLang="en-US" sz="102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；</a:t>
              </a:r>
              <a:r>
                <a:rPr lang="en-US" altLang="zh-CN" sz="102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u_c </a:t>
              </a:r>
              <a:r>
                <a:rPr lang="zh-CN" altLang="en-US" sz="102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为合成标准不确定度</a:t>
              </a:r>
            </a:p>
          </p:txBody>
        </p:sp>
      </p:grp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88FBBA9-AE7D-D5F5-750E-F21178FDCF23}"/>
              </a:ext>
            </a:extLst>
          </p:cNvPr>
          <p:cNvSpPr/>
          <p:nvPr/>
        </p:nvSpPr>
        <p:spPr>
          <a:xfrm>
            <a:off x="5791200" y="4686300"/>
            <a:ext cx="6096000" cy="1295400"/>
          </a:xfrm>
          <a:prstGeom prst="roundRect">
            <a:avLst/>
          </a:prstGeom>
          <a:solidFill>
            <a:srgbClr val="D091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lang="zh-CN" altLang="en-US"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最终结果</a:t>
            </a:r>
          </a:p>
          <a:p>
            <a:pPr algn="ctr"/>
            <a:r>
              <a:rPr lang="en-US" altLang="zh-CN"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= (176.7 ± 1.7) </a:t>
            </a:r>
            <a:r>
              <a:rPr lang="el-GR" altLang="zh-CN"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  <a:r>
              <a:rPr lang="en-US" altLang="zh-CN" sz="2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endParaRPr lang="zh-CN" altLang="en-US" sz="2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CC8516C-83F0-88BA-1AC4-D6A9D1E5BF73}"/>
              </a:ext>
            </a:extLst>
          </p:cNvPr>
          <p:cNvSpPr txBox="1"/>
          <p:nvPr/>
        </p:nvSpPr>
        <p:spPr>
          <a:xfrm>
            <a:off x="355600" y="6040070"/>
            <a:ext cx="11480800" cy="333425"/>
          </a:xfrm>
          <a:prstGeom prst="rect">
            <a:avLst/>
          </a:prstGeom>
          <a:noFill/>
        </p:spPr>
        <p:txBody>
          <a:bodyPr vert="horz" lIns="88900" tIns="50800" rIns="88900" bIns="50800" rtlCol="0" anchor="ctr">
            <a:spAutoFit/>
          </a:bodyPr>
          <a:lstStyle/>
          <a:p>
            <a:r>
              <a:rPr lang="en-US" altLang="zh-CN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P≈95%</a:t>
            </a:r>
            <a:r>
              <a:rPr lang="zh-CN" altLang="en-US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，相对扩展不确定度为 </a:t>
            </a:r>
            <a:r>
              <a:rPr lang="en-US" altLang="zh-CN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0.98%</a:t>
            </a:r>
            <a:r>
              <a:rPr lang="zh-CN" altLang="en-US" sz="15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；测量重复性与折射率是两项主要不确定度来源。</a:t>
            </a:r>
          </a:p>
        </p:txBody>
      </p:sp>
    </p:spTree>
    <p:extLst>
      <p:ext uri="{BB962C8B-B14F-4D97-AF65-F5344CB8AC3E}">
        <p14:creationId xmlns:p14="http://schemas.microsoft.com/office/powerpoint/2010/main" val="1226543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274</Words>
  <Application>Microsoft Office PowerPoint</Application>
  <PresentationFormat>宽屏</PresentationFormat>
  <Paragraphs>53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智博 张</dc:creator>
  <cp:lastModifiedBy>智博 张</cp:lastModifiedBy>
  <cp:revision>2</cp:revision>
  <dcterms:created xsi:type="dcterms:W3CDTF">2026-07-31T07:31:43Z</dcterms:created>
  <dcterms:modified xsi:type="dcterms:W3CDTF">2026-07-31T11:23:10Z</dcterms:modified>
</cp:coreProperties>
</file>