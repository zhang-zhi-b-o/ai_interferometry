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6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8ABEF-BC2A-8DBE-ADE4-75BA588C4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17881E-E9BE-4DF0-8A2A-A50207207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FBA69-43A2-7F5D-EFD8-B18E2860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B5C9E-5EA7-8C3D-C0E2-FFD2CAC9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75BF5-D30B-43EB-5332-B790E995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31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852B4-82BB-36F3-EB78-10BF1461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F3F77-EE1A-BE17-F92C-B219861B3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DA99D-A8B1-0CCE-6549-F8A64B34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516C1-37AD-56FB-5CC4-F224FAF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2AA12-4527-AD33-A829-D017A695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68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ED6AC-4C42-4642-E3AD-948C8A22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11DEB0-6E0C-FFC8-30BF-23B10F354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DF991-C6E4-3344-1F09-088F7BE7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9621DD-259D-F4D1-67EE-0CEB1F7E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6BBB5-E18D-CD9E-0B82-7952051B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9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400BC-8456-A1E5-AA99-AEDA5490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231B5B-25E5-4DB3-8B26-8426964CC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B3AA79-058D-4AAE-764D-A4FD3C4CA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C2B2AE-A59F-C9C0-1768-2C779CEB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6BA595-4899-B62A-F618-57A0CD79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9B58EA-F02E-9FC9-5707-2D62FCF1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6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339B9-05E1-9467-E2EE-5AFC52235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C31C9F-D242-2C83-8343-7A69CFB27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9346B8-60D3-376B-0AC9-469480880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F805CD-313B-03AF-BCF1-FEA1F41D7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B7D47C-8363-1E28-96A7-EA4C65F5F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E76054-B086-6FA8-D2C0-8ABC626A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232CA4-D929-0743-776C-8FB2467D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A60F09-688C-063D-31D1-B96E745A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078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81A4C-495E-DADB-877A-6FA24C96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66754E-08E3-D955-66AB-1064CBC9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EB2785-2993-BD0F-E111-3FF9EAFE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B3B7A6-BBD3-37D7-2112-4BF6981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17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9156EF-F7E7-ABDD-4AE2-FD922C2B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3814FB-E6FE-D690-92F3-D3039C2A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D57E9-859F-CE6B-9637-DF0AEE84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29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7B2CD-D2AD-E57D-BEB2-77B8CA7A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A800C-E79D-D25D-3554-500922027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46875-3DE3-E0DA-9B4D-24802D728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C5F9D-DEA5-2BF5-A0CA-0C5DC421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6A41E6-182B-505B-3DFC-64270435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6A97A-23EB-444F-B3C4-724A7977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05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C6E3C-B059-F7B8-0AEA-E05CF18C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2EEC96-4F8A-79B0-5393-FA4FB099D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EB1D0A-B63E-4AA2-B140-4BE947E3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C2133D-9408-00DC-E8C4-A38583A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DC561-166E-8344-2AD6-EFD7D09C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EC14BB-4202-3D73-227B-3590BB04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1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E7C85-FB9F-42E9-7988-77319661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CAF6AF-239E-FBC0-9083-49CCED4B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1A128-09E2-06F5-D751-F923C52B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E542F-BB8F-E46C-6435-8AB7DCC4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621CC6-BC74-2BC9-1E14-7FD4F99B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19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7B4950-41DD-4524-063B-C712A736F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1560C2-1483-4DBF-EA50-185D99EFE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DD6FB-F0CF-F929-527E-2E8FDB0C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8FC92-7F6B-DA8C-F0E3-0BA6E332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66F89-F380-C29D-C406-0439311E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38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9285CA-4B13-6F14-837E-17F8F725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847874-D5BD-ECB8-64A8-0F5AE01E5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93620-6A9B-2933-BA7F-75DED6E13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4458-A556-4903-B6CA-AB2610E1006C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6FAC9-28DE-E05D-947C-424EDC5CC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84DE8-165E-0689-745B-8AD0B9A28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5E1FA-36BF-4A0D-B738-75A141EF0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35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7F3938CC-F607-C538-45BE-2368726D3968}"/>
              </a:ext>
            </a:extLst>
          </p:cNvPr>
          <p:cNvSpPr/>
          <p:nvPr/>
        </p:nvSpPr>
        <p:spPr>
          <a:xfrm>
            <a:off x="8721797" y="697313"/>
            <a:ext cx="3373506" cy="5768366"/>
          </a:xfrm>
          <a:prstGeom prst="roundRect">
            <a:avLst>
              <a:gd name="adj" fmla="val 8672"/>
            </a:avLst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00170E-D86F-5AB7-5318-AEE0AD34F801}"/>
              </a:ext>
            </a:extLst>
          </p:cNvPr>
          <p:cNvSpPr txBox="1"/>
          <p:nvPr/>
        </p:nvSpPr>
        <p:spPr>
          <a:xfrm>
            <a:off x="167425" y="89716"/>
            <a:ext cx="2895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视觉识别流程：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84E2629-F0C1-7ED4-54CE-A2B2ECAF5CEB}"/>
                  </a:ext>
                </a:extLst>
              </p:cNvPr>
              <p:cNvSpPr txBox="1"/>
              <p:nvPr/>
            </p:nvSpPr>
            <p:spPr>
              <a:xfrm flipH="1">
                <a:off x="9013294" y="1373246"/>
                <a:ext cx="2590946" cy="2330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lang="zh-CN" altLang="en-US" sz="1400" b="1" i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score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= 0.25⋅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+0.30⋅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+0.16⋅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+0.12⋅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0" dirty="0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+ 0.10⋅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+0.03⋅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+0.04⋅</m:t>
                          </m:r>
                          <m:r>
                            <a:rPr lang="zh-CN" altLang="en-US" sz="1400" b="1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acc>
                            <m:accPr>
                              <m:chr m:val="̂"/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aln/>
                            </m:rP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= </m:t>
                          </m:r>
                          <m:func>
                            <m:func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400" b="1" i="0" dirty="0">
                                      <a:latin typeface="Cambria Math" panose="02040503050406030204" pitchFamily="18" charset="0"/>
                                    </a:rPr>
                                    <m:t>argmax</m:t>
                                  </m:r>
                                </m:e>
                                <m:sub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fName>
                            <m:e>
                              <m:r>
                                <m:rPr>
                                  <m:nor/>
                                </m:rPr>
                                <a:rPr lang="zh-CN" altLang="en-US" sz="1400" b="1" i="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score</m:t>
                              </m:r>
                            </m:e>
                          </m:func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sSup>
                            <m:sSup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m:rPr>
                              <m:aln/>
                            </m:rP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= </m:t>
                          </m:r>
                          <m:acc>
                            <m:accPr>
                              <m:chr m:val="̂"/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1400" b="1" i="0" dirty="0">
                              <a:latin typeface="Cambria Math" panose="02040503050406030204" pitchFamily="18" charset="0"/>
                            </a:rPr>
                            <m:t> </m:t>
                          </m:r>
                          <m:f>
                            <m:fPr>
                              <m:ctrlPr>
                                <a:rPr lang="zh-CN" alt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zh-CN" altLang="en-US" sz="1400" b="1" i="0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zh-CN" altLang="en-US" sz="1400" b="1" i="0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zh-CN" altLang="en-US" sz="1400" b="1" i="0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zh-CN" altLang="en-US" sz="1400" b="1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1400" b="1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zh-CN" altLang="en-US" sz="1400" b="1" i="0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</m:e>
                      </m:eqArr>
                    </m:oMath>
                  </m:oMathPara>
                </a14:m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84E2629-F0C1-7ED4-54CE-A2B2ECAF5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13294" y="1373246"/>
                <a:ext cx="2590946" cy="2330638"/>
              </a:xfrm>
              <a:prstGeom prst="rect">
                <a:avLst/>
              </a:prstGeom>
              <a:blipFill>
                <a:blip r:embed="rId2"/>
                <a:stretch>
                  <a:fillRect r="-1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BC5EBDE-D323-55CA-DFD6-A871C4334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149307"/>
              </p:ext>
            </p:extLst>
          </p:nvPr>
        </p:nvGraphicFramePr>
        <p:xfrm>
          <a:off x="8925960" y="3792455"/>
          <a:ext cx="3109297" cy="2605160"/>
        </p:xfrm>
        <a:graphic>
          <a:graphicData uri="http://schemas.openxmlformats.org/drawingml/2006/table">
            <a:tbl>
              <a:tblPr/>
              <a:tblGrid>
                <a:gridCol w="351650">
                  <a:extLst>
                    <a:ext uri="{9D8B030D-6E8A-4147-A177-3AD203B41FA5}">
                      <a16:colId xmlns:a16="http://schemas.microsoft.com/office/drawing/2014/main" val="4098524767"/>
                    </a:ext>
                  </a:extLst>
                </a:gridCol>
                <a:gridCol w="692825">
                  <a:extLst>
                    <a:ext uri="{9D8B030D-6E8A-4147-A177-3AD203B41FA5}">
                      <a16:colId xmlns:a16="http://schemas.microsoft.com/office/drawing/2014/main" val="126667568"/>
                    </a:ext>
                  </a:extLst>
                </a:gridCol>
                <a:gridCol w="2064822">
                  <a:extLst>
                    <a:ext uri="{9D8B030D-6E8A-4147-A177-3AD203B41FA5}">
                      <a16:colId xmlns:a16="http://schemas.microsoft.com/office/drawing/2014/main" val="3135236034"/>
                    </a:ext>
                  </a:extLst>
                </a:gridCol>
              </a:tblGrid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特征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物理含义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230683"/>
                  </a:ext>
                </a:extLst>
              </a:tr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暗度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局部比背景暗的程度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748112"/>
                  </a:ext>
                </a:extLst>
              </a:tr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 三通道离散度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831775"/>
                  </a:ext>
                </a:extLst>
              </a:tr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S(x)</a:t>
                      </a:r>
                      <a:endParaRPr lang="zh-CN" sz="1200" b="0" i="0" dirty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条纹能量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高通滤波后残余振荡强度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56159"/>
                  </a:ext>
                </a:extLst>
              </a:tr>
              <a:tr h="4324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边缘对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左右两侧是否有一对对称强边缘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659957"/>
                  </a:ext>
                </a:extLst>
              </a:tr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对称性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相干包络的左右镜像相似度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522768"/>
                  </a:ext>
                </a:extLst>
              </a:tr>
              <a:tr h="4324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YOLO先验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YOLO 零级框中心的高斯弱约束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93758"/>
                  </a:ext>
                </a:extLst>
              </a:tr>
              <a:tr h="290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606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B(x)</a:t>
                      </a:r>
                      <a:endParaRPr lang="zh-CN" sz="1200" b="0" i="0">
                        <a:solidFill>
                          <a:srgbClr val="20202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边界抑制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200" b="0" i="0" dirty="0">
                          <a:solidFill>
                            <a:srgbClr val="2020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压制紧贴框边界的伪结构</a:t>
                      </a:r>
                    </a:p>
                  </a:txBody>
                  <a:tcPr marL="10886" marR="10886" marT="10886" marB="10886" anchor="ctr">
                    <a:lnL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08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00734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363D915-FAFC-768D-6E91-A185C47F08B9}"/>
                  </a:ext>
                </a:extLst>
              </p:cNvPr>
              <p:cNvSpPr txBox="1"/>
              <p:nvPr/>
            </p:nvSpPr>
            <p:spPr>
              <a:xfrm>
                <a:off x="9233567" y="726915"/>
                <a:ext cx="19569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/>
                  <a:t>条纹位置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score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确定算法：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363D915-FAFC-768D-6E91-A185C47F0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567" y="726915"/>
                <a:ext cx="1956940" cy="646331"/>
              </a:xfrm>
              <a:prstGeom prst="rect">
                <a:avLst/>
              </a:prstGeom>
              <a:blipFill>
                <a:blip r:embed="rId3"/>
                <a:stretch>
                  <a:fillRect l="-2181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2BA4160F-3DD8-182C-FE63-F2BC180A5B1A}"/>
              </a:ext>
            </a:extLst>
          </p:cNvPr>
          <p:cNvGrpSpPr/>
          <p:nvPr/>
        </p:nvGrpSpPr>
        <p:grpSpPr>
          <a:xfrm>
            <a:off x="135579" y="697313"/>
            <a:ext cx="8450302" cy="5768365"/>
            <a:chOff x="167425" y="999919"/>
            <a:chExt cx="8450302" cy="5768365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D6FA7F7B-5897-1075-9B8A-F9F0FBF092E8}"/>
                </a:ext>
              </a:extLst>
            </p:cNvPr>
            <p:cNvSpPr/>
            <p:nvPr/>
          </p:nvSpPr>
          <p:spPr>
            <a:xfrm>
              <a:off x="167425" y="999919"/>
              <a:ext cx="8450302" cy="5768365"/>
            </a:xfrm>
            <a:prstGeom prst="roundRect">
              <a:avLst>
                <a:gd name="adj" fmla="val 8114"/>
              </a:avLst>
            </a:pr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B792B45-5272-BB0A-8235-65DB9D0C0D93}"/>
                </a:ext>
              </a:extLst>
            </p:cNvPr>
            <p:cNvGrpSpPr/>
            <p:nvPr/>
          </p:nvGrpSpPr>
          <p:grpSpPr>
            <a:xfrm>
              <a:off x="167425" y="1347464"/>
              <a:ext cx="8275870" cy="5089428"/>
              <a:chOff x="-50938" y="892734"/>
              <a:chExt cx="11337031" cy="5478592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C41E4A6-1301-3F16-7511-CE7449F9F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404" y="918292"/>
                <a:ext cx="2049792" cy="152045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597FA698-2E03-5BD3-D5BD-9F5C64DC5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37358" y="899637"/>
                <a:ext cx="1155899" cy="1505357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6DB2B67-A205-3583-700C-426A97E00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20169" y="3359574"/>
                <a:ext cx="1686748" cy="2129665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EE244341-7947-8DD9-AF47-F6D6C7E74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2404" y="3359575"/>
                <a:ext cx="1916214" cy="2129665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2FF1D576-CDCA-C5E7-C6DE-D1457D40F4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4403" y="1705427"/>
                <a:ext cx="1590118" cy="800348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3E22017-CEEA-F39F-8E8D-2126405DF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98069" y="3359575"/>
                <a:ext cx="1959499" cy="2129666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C4B6162E-AB65-9DDA-8703-8932B517F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96140" y="5165928"/>
                <a:ext cx="1570877" cy="737894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3405864-5D95-434C-4BE3-646D44D4D1EC}"/>
                  </a:ext>
                </a:extLst>
              </p:cNvPr>
              <p:cNvSpPr txBox="1"/>
              <p:nvPr/>
            </p:nvSpPr>
            <p:spPr>
              <a:xfrm>
                <a:off x="582792" y="2514288"/>
                <a:ext cx="1429015" cy="27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画面无条纹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70DCF05-F377-8A5D-4B3D-B7A934A6F034}"/>
                  </a:ext>
                </a:extLst>
              </p:cNvPr>
              <p:cNvSpPr txBox="1"/>
              <p:nvPr/>
            </p:nvSpPr>
            <p:spPr>
              <a:xfrm>
                <a:off x="3990973" y="2514288"/>
                <a:ext cx="2061404" cy="27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画面出现彩色条纹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F1E3F4E-4E69-737E-CD11-B78B91CA11D8}"/>
                  </a:ext>
                </a:extLst>
              </p:cNvPr>
              <p:cNvSpPr txBox="1"/>
              <p:nvPr/>
            </p:nvSpPr>
            <p:spPr>
              <a:xfrm>
                <a:off x="2676512" y="1286218"/>
                <a:ext cx="1211647" cy="27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电机旋转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7489D4A-F790-635B-5F10-0CC9B6E3380E}"/>
                  </a:ext>
                </a:extLst>
              </p:cNvPr>
              <p:cNvSpPr txBox="1"/>
              <p:nvPr/>
            </p:nvSpPr>
            <p:spPr>
              <a:xfrm>
                <a:off x="9155226" y="892734"/>
                <a:ext cx="1706381" cy="64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程序进行</a:t>
                </a:r>
                <a:r>
                  <a:rPr lang="zh-CN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条纹锐化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，增加识别准确度</a:t>
                </a:r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FAC1363A-8A93-9549-04AF-0CF822EBA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22771" y="916354"/>
                <a:ext cx="1814012" cy="1520450"/>
              </a:xfrm>
              <a:prstGeom prst="rect">
                <a:avLst/>
              </a:prstGeom>
            </p:spPr>
          </p:pic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A7BD27-F57A-CCB1-C68A-385468E46785}"/>
                  </a:ext>
                </a:extLst>
              </p:cNvPr>
              <p:cNvSpPr txBox="1"/>
              <p:nvPr/>
            </p:nvSpPr>
            <p:spPr>
              <a:xfrm>
                <a:off x="6025166" y="1269682"/>
                <a:ext cx="1155899" cy="27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电机旋转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0235320-813A-0A0C-3CF2-BD3F3988A610}"/>
                  </a:ext>
                </a:extLst>
              </p:cNvPr>
              <p:cNvSpPr txBox="1"/>
              <p:nvPr/>
            </p:nvSpPr>
            <p:spPr>
              <a:xfrm>
                <a:off x="6907859" y="2451547"/>
                <a:ext cx="2247367" cy="64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画面中出现黑色条纹，此时千分尺读数为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0.030mm</a:t>
                </a: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B360ACB-9AB4-DB34-FF45-0B62D33FBF96}"/>
                  </a:ext>
                </a:extLst>
              </p:cNvPr>
              <p:cNvSpPr txBox="1"/>
              <p:nvPr/>
            </p:nvSpPr>
            <p:spPr>
              <a:xfrm>
                <a:off x="8935699" y="5537179"/>
                <a:ext cx="2350394" cy="834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模型识别到中心条纹（左侧黄框），程序处理得到中心条纹位置（红虚线处）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339F645-3AB5-BD3F-7A61-BFF7E183F557}"/>
                  </a:ext>
                </a:extLst>
              </p:cNvPr>
              <p:cNvSpPr txBox="1"/>
              <p:nvPr/>
            </p:nvSpPr>
            <p:spPr>
              <a:xfrm>
                <a:off x="6787479" y="3508169"/>
                <a:ext cx="2148220" cy="834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电机继续旋转，程序识别到中心条纹位于画面中心时控制电机停止旋转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313DFA6-4769-E81E-2D50-8DCE04ED5EF0}"/>
                  </a:ext>
                </a:extLst>
              </p:cNvPr>
              <p:cNvSpPr txBox="1"/>
              <p:nvPr/>
            </p:nvSpPr>
            <p:spPr>
              <a:xfrm>
                <a:off x="3906404" y="5585114"/>
                <a:ext cx="3011233" cy="64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中心条纹位于画面中心（蓝色虚线处），电机停转，此时千分尺读数为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0.002mm</a:t>
                </a: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81B877B-27DB-17A2-D33B-A651C7EEC0F6}"/>
                  </a:ext>
                </a:extLst>
              </p:cNvPr>
              <p:cNvSpPr txBox="1"/>
              <p:nvPr/>
            </p:nvSpPr>
            <p:spPr>
              <a:xfrm>
                <a:off x="-50938" y="5608141"/>
                <a:ext cx="2562897" cy="496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可以看见中心条纹位于画面中央位置处</a:t>
                </a:r>
              </a:p>
            </p:txBody>
          </p: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4C33508C-1F4B-1593-9B41-C2A66A56B128}"/>
                  </a:ext>
                </a:extLst>
              </p:cNvPr>
              <p:cNvCxnSpPr>
                <a:cxnSpLocks/>
                <a:stCxn id="3" idx="3"/>
                <a:endCxn id="24" idx="1"/>
              </p:cNvCxnSpPr>
              <p:nvPr/>
            </p:nvCxnSpPr>
            <p:spPr>
              <a:xfrm flipV="1">
                <a:off x="2322196" y="1676579"/>
                <a:ext cx="1700575" cy="19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A3426A73-02D4-499F-4A5D-1A9473880B4E}"/>
                  </a:ext>
                </a:extLst>
              </p:cNvPr>
              <p:cNvCxnSpPr>
                <a:cxnSpLocks/>
                <a:stCxn id="24" idx="3"/>
                <a:endCxn id="7" idx="1"/>
              </p:cNvCxnSpPr>
              <p:nvPr/>
            </p:nvCxnSpPr>
            <p:spPr>
              <a:xfrm flipV="1">
                <a:off x="5836783" y="1652316"/>
                <a:ext cx="1700574" cy="24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D281F5C2-47C3-4D5E-C571-529E958F5F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1328" y="2591039"/>
                <a:ext cx="663929" cy="3035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EFC710EF-0033-1143-D1FE-B8CC6B6CE142}"/>
                  </a:ext>
                </a:extLst>
              </p:cNvPr>
              <p:cNvCxnSpPr>
                <a:cxnSpLocks/>
                <a:stCxn id="9" idx="1"/>
                <a:endCxn id="15" idx="3"/>
              </p:cNvCxnSpPr>
              <p:nvPr/>
            </p:nvCxnSpPr>
            <p:spPr>
              <a:xfrm flipH="1">
                <a:off x="6357567" y="4424407"/>
                <a:ext cx="286260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DCDD91A9-7582-D919-2212-E8EC5C03F6B5}"/>
                  </a:ext>
                </a:extLst>
              </p:cNvPr>
              <p:cNvCxnSpPr/>
              <p:nvPr/>
            </p:nvCxnSpPr>
            <p:spPr>
              <a:xfrm flipV="1">
                <a:off x="6242725" y="5976319"/>
                <a:ext cx="1506828" cy="2575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连接符: 肘形 65">
                <a:extLst>
                  <a:ext uri="{FF2B5EF4-FFF2-40B4-BE49-F238E27FC236}">
                    <a16:creationId xmlns:a16="http://schemas.microsoft.com/office/drawing/2014/main" id="{25377B55-6161-3AAD-3DC5-C3CB653C432B}"/>
                  </a:ext>
                </a:extLst>
              </p:cNvPr>
              <p:cNvCxnSpPr>
                <a:cxnSpLocks/>
                <a:stCxn id="7" idx="3"/>
                <a:endCxn id="9" idx="3"/>
              </p:cNvCxnSpPr>
              <p:nvPr/>
            </p:nvCxnSpPr>
            <p:spPr>
              <a:xfrm>
                <a:off x="8693257" y="1652316"/>
                <a:ext cx="2213660" cy="2772092"/>
              </a:xfrm>
              <a:prstGeom prst="bentConnector3">
                <a:avLst>
                  <a:gd name="adj1" fmla="val 114147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9DA52DF3-F1EA-2C7C-B3A3-E9ACF62AD55C}"/>
                  </a:ext>
                </a:extLst>
              </p:cNvPr>
              <p:cNvCxnSpPr>
                <a:stCxn id="15" idx="1"/>
                <a:endCxn id="11" idx="3"/>
              </p:cNvCxnSpPr>
              <p:nvPr/>
            </p:nvCxnSpPr>
            <p:spPr>
              <a:xfrm flipH="1">
                <a:off x="2188618" y="4424407"/>
                <a:ext cx="22094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CC1183A-3803-8167-F1E1-60D809E0E43D}"/>
                </a:ext>
              </a:extLst>
            </p:cNvPr>
            <p:cNvSpPr txBox="1"/>
            <p:nvPr/>
          </p:nvSpPr>
          <p:spPr>
            <a:xfrm>
              <a:off x="1902913" y="3899678"/>
              <a:ext cx="13988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程序结束</a:t>
              </a:r>
              <a:r>
                <a:rPr lang="zh-CN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条纹锐化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，显示相机原始画面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300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351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智博 张</dc:creator>
  <cp:lastModifiedBy>智博 张</cp:lastModifiedBy>
  <cp:revision>5</cp:revision>
  <dcterms:created xsi:type="dcterms:W3CDTF">2026-07-21T12:11:34Z</dcterms:created>
  <dcterms:modified xsi:type="dcterms:W3CDTF">2026-07-21T13:34:44Z</dcterms:modified>
</cp:coreProperties>
</file>