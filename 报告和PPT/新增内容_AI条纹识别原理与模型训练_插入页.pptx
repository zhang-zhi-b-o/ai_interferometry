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53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53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411480" y="164592"/>
            <a:ext cx="384048" cy="566928"/>
          </a:xfrm>
          <a:prstGeom prst="rect">
            <a:avLst/>
          </a:prstGeom>
          <a:solidFill>
            <a:srgbClr val="C99045"/>
          </a:solidFill>
          <a:ln w="17780">
            <a:solidFill>
              <a:srgbClr val="2736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20000">
            <a:off x="493776" y="201168"/>
            <a:ext cx="384048" cy="56692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273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" y="219456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27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基于AI的辅助系统设计 / 02.视觉方案设计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1475720" cy="0"/>
          </a:xfrm>
          <a:prstGeom prst="line">
            <a:avLst/>
          </a:prstGeom>
          <a:noFill/>
          <a:ln w="14605">
            <a:solidFill>
              <a:srgbClr val="273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0" y="64739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8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1/4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9418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AI为什么能识别白光干涉条纹？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83680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80" dirty="0">
                <a:solidFill>
                  <a:srgbClr val="6B7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固定光路中的不同实验状态，会产生可重复、可标注的像素差异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530352" y="1536192"/>
            <a:ext cx="2103120" cy="3246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7780">
            <a:solidFill>
              <a:srgbClr val="2F5DA8"/>
            </a:solidFill>
            <a:prstDash val="solid"/>
          </a:ln>
        </p:spPr>
      </p:sp>
      <p:pic>
        <p:nvPicPr>
          <p:cNvPr id="10" name="Image 0" descr="D:\Files\Work\光电\AI_Interferometry_prepare\make_dataset_new\pre_annotation_model_training\dataset_pool_after_1240\images\val\20260810-1220-13.9975725_0000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35363"/>
            <a:ext cx="1883664" cy="12076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05993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zero_order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4407408"/>
            <a:ext cx="1883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95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中心零级条纹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862072" y="1536192"/>
            <a:ext cx="2103120" cy="3246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7780">
            <a:solidFill>
              <a:srgbClr val="20B8C8"/>
            </a:solidFill>
            <a:prstDash val="solid"/>
          </a:ln>
        </p:spPr>
      </p:sp>
      <p:pic>
        <p:nvPicPr>
          <p:cNvPr id="14" name="Image 1" descr="D:\Files\Work\光电\AI_Interferometry_prepare\make_dataset_new\pre_annotation_model_training\dataset_pool_after_1240\images\val\20260810-1220-13.9975725_0000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235363"/>
            <a:ext cx="1883664" cy="12076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71800" y="405993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B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near_fringe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971800" y="4407408"/>
            <a:ext cx="1883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95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近场彩色条纹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193792" y="1536192"/>
            <a:ext cx="2103120" cy="3246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7780">
            <a:solidFill>
              <a:srgbClr val="8B96A6"/>
            </a:solidFill>
            <a:prstDash val="solid"/>
          </a:ln>
        </p:spPr>
      </p:sp>
      <p:pic>
        <p:nvPicPr>
          <p:cNvPr id="18" name="Image 2" descr="D:\Files\Work\光电\AI_Interferometry_prepare\make_dataset_new\pre_annotation_model_training\dataset_pool_after_1240\images\val\20260810-1240-35.3269072_00026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234915"/>
            <a:ext cx="1883664" cy="12085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03520" y="405993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9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303520" y="4407408"/>
            <a:ext cx="1883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956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无有效条纹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726680" y="1536192"/>
            <a:ext cx="1828800" cy="1344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26680" y="1536192"/>
            <a:ext cx="1828800" cy="64008"/>
          </a:xfrm>
          <a:prstGeom prst="rect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891272" y="168249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周期与纹理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891272" y="2029968"/>
            <a:ext cx="149961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明暗/彩色带形成稳定的边缘和局部高频结构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9765792" y="1536192"/>
            <a:ext cx="1828800" cy="1344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765792" y="1536192"/>
            <a:ext cx="1828800" cy="64008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930384" y="168249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颜色与对比度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9930384" y="2029968"/>
            <a:ext cx="149961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RGB组合、饱和度和暗亮变化提供类别线索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7726680" y="3127248"/>
            <a:ext cx="1828800" cy="1344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726680" y="3127248"/>
            <a:ext cx="1828800" cy="64008"/>
          </a:xfrm>
          <a:prstGeom prst="rect">
            <a:avLst/>
          </a:prstGeom>
          <a:solidFill>
            <a:srgbClr val="20B8C8"/>
          </a:solidFill>
          <a:ln w="12700">
            <a:solidFill>
              <a:srgbClr val="20B8C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891272" y="327355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形态与尺度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7891272" y="3621024"/>
            <a:ext cx="149961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倾斜、弯曲、宽度和连续性由多尺度特征表达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9765792" y="3127248"/>
            <a:ext cx="1828800" cy="1344168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9765792" y="3127248"/>
            <a:ext cx="1828800" cy="64008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930384" y="327355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位置与上下文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9930384" y="3621024"/>
            <a:ext cx="149961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ROI及周围光斑结构帮助排除镜架与边缘干扰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566928" y="5138928"/>
            <a:ext cx="11018520" cy="822960"/>
          </a:xfrm>
          <a:prstGeom prst="rect">
            <a:avLst/>
          </a:prstGeom>
          <a:solidFill>
            <a:srgbClr val="27364A"/>
          </a:solidFill>
          <a:ln w="12700">
            <a:solidFill>
              <a:srgbClr val="27364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960120" y="540410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90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关键结论：</a:t>
            </a: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AI不需要“理解干涉公式”，而是通过标注样本学习 </a:t>
            </a: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像素特征 → 类别与位置</a:t>
            </a: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的统计映射。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411480" y="164592"/>
            <a:ext cx="384048" cy="566928"/>
          </a:xfrm>
          <a:prstGeom prst="rect">
            <a:avLst/>
          </a:prstGeom>
          <a:solidFill>
            <a:srgbClr val="C99045"/>
          </a:solidFill>
          <a:ln w="17780">
            <a:solidFill>
              <a:srgbClr val="2736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20000">
            <a:off x="493776" y="201168"/>
            <a:ext cx="384048" cy="56692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273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" y="219456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27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基于AI的辅助系统设计 / 02.视觉方案设计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1475720" cy="0"/>
          </a:xfrm>
          <a:prstGeom prst="line">
            <a:avLst/>
          </a:prstGeom>
          <a:noFill/>
          <a:ln w="14605">
            <a:solidFill>
              <a:srgbClr val="273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0" y="64739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8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2/4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94183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YOLOv8n：一次前向传播，同时完成“是什么”和“在哪里”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66928" y="1719072"/>
            <a:ext cx="1874520" cy="150876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9050">
            <a:solidFill>
              <a:srgbClr val="7180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87452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180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ROI输入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295144"/>
            <a:ext cx="16367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2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640×640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552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像素矩阵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05456" y="2304288"/>
            <a:ext cx="329184" cy="310896"/>
          </a:xfrm>
          <a:prstGeom prst="chevron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1719072"/>
            <a:ext cx="1874520" cy="150876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9050">
            <a:solidFill>
              <a:srgbClr val="2F5D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87452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5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Backbone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26664" y="2295144"/>
            <a:ext cx="16367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2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 + C2f + SPPF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552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边缘·颜色·纹理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304288"/>
            <a:ext cx="329184" cy="310896"/>
          </a:xfrm>
          <a:prstGeom prst="chevron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48656" y="1719072"/>
            <a:ext cx="1874520" cy="150876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9050">
            <a:solidFill>
              <a:srgbClr val="20B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8384" y="187452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B8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Neck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67528" y="2295144"/>
            <a:ext cx="16367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2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多尺度特征融合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552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窄条纹 + 宽区域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87184" y="2304288"/>
            <a:ext cx="329184" cy="310896"/>
          </a:xfrm>
          <a:prstGeom prst="chevron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1719072"/>
            <a:ext cx="1874520" cy="150876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9050">
            <a:solidFill>
              <a:srgbClr val="C990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9248" y="187452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90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 Head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08392" y="2295144"/>
            <a:ext cx="16367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2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无锚框、解耦头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552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/ 边界框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28048" y="2304288"/>
            <a:ext cx="329184" cy="310896"/>
          </a:xfrm>
          <a:prstGeom prst="chevron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30384" y="1719072"/>
            <a:ext cx="1874520" cy="1508760"/>
          </a:xfrm>
          <a:prstGeom prst="roundRect">
            <a:avLst>
              <a:gd name="adj" fmla="val 3636"/>
            </a:avLst>
          </a:prstGeom>
          <a:solidFill>
            <a:srgbClr val="27364A"/>
          </a:solidFill>
          <a:ln w="19050">
            <a:solidFill>
              <a:srgbClr val="2736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40112" y="187452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输出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049256" y="2295144"/>
            <a:ext cx="163677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 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边界框 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3703320"/>
            <a:ext cx="11018520" cy="1417320"/>
          </a:xfrm>
          <a:prstGeom prst="roundRect">
            <a:avLst>
              <a:gd name="adj" fmla="val 3226"/>
            </a:avLst>
          </a:prstGeom>
          <a:solidFill>
            <a:srgbClr val="EDF3FB"/>
          </a:solidFill>
          <a:ln w="12700">
            <a:solidFill>
              <a:srgbClr val="B7CA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913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训练阶段：预测与人工标注不一致 → 损失增大 → 反向传播更新权重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920240" y="4425696"/>
            <a:ext cx="713232" cy="347472"/>
          </a:xfrm>
          <a:prstGeom prst="roundRect">
            <a:avLst>
              <a:gd name="adj" fmla="val 21053"/>
            </a:avLst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65960" y="447598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Lbox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74320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0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边界框位置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4425696"/>
            <a:ext cx="713232" cy="347472"/>
          </a:xfrm>
          <a:prstGeom prst="roundRect">
            <a:avLst>
              <a:gd name="adj" fmla="val 21053"/>
            </a:avLst>
          </a:prstGeom>
          <a:solidFill>
            <a:srgbClr val="20B8C8"/>
          </a:solidFill>
          <a:ln w="12700">
            <a:solidFill>
              <a:srgbClr val="20B8C8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447598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Lcls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53212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0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类别判断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98080" y="4425696"/>
            <a:ext cx="713232" cy="347472"/>
          </a:xfrm>
          <a:prstGeom prst="roundRect">
            <a:avLst>
              <a:gd name="adj" fmla="val 21053"/>
            </a:avLst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43800" y="447598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Ldfl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2104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0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边界分布精度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6928" y="5413248"/>
            <a:ext cx="11018520" cy="566928"/>
          </a:xfrm>
          <a:prstGeom prst="rect">
            <a:avLst/>
          </a:prstGeom>
          <a:solidFill>
            <a:srgbClr val="FBF4E9"/>
          </a:solidFill>
          <a:ln w="10160">
            <a:solidFill>
              <a:srgbClr val="E2C9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596128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7A55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模型只负责“条纹候选区域”；候选框内再用局部暗度、色度、条纹能量与对称性精修物理中心。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566928" y="614476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3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Redmon et al., CVPR 2016；[2] Ultralytics YOLOv8 Documentation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411480" y="164592"/>
            <a:ext cx="384048" cy="566928"/>
          </a:xfrm>
          <a:prstGeom prst="rect">
            <a:avLst/>
          </a:prstGeom>
          <a:solidFill>
            <a:srgbClr val="C99045"/>
          </a:solidFill>
          <a:ln w="17780">
            <a:solidFill>
              <a:srgbClr val="2736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20000">
            <a:off x="493776" y="201168"/>
            <a:ext cx="384048" cy="56692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273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" y="219456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27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基于AI的辅助系统设计 / 02.视觉方案设计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1475720" cy="0"/>
          </a:xfrm>
          <a:prstGeom prst="line">
            <a:avLst/>
          </a:prstGeom>
          <a:noFill/>
          <a:ln w="14605">
            <a:solidFill>
              <a:srgbClr val="273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0" y="64739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8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3/4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当前模型如何训练出来？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83680" y="1042416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978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数据闭环 + 迁移学习 + 独立验证 + 早停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1572768"/>
            <a:ext cx="2523744" cy="106070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572768"/>
            <a:ext cx="2523744" cy="64008"/>
          </a:xfrm>
          <a:prstGeom prst="rect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采集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066544"/>
            <a:ext cx="2194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2 帧/s 抽帧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覆盖倾斜、弯曲、变色与模糊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55848" y="1572768"/>
            <a:ext cx="2523744" cy="106070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572768"/>
            <a:ext cx="2523744" cy="64008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标注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066544"/>
            <a:ext cx="2194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zero_order / near_fringe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空标签保留背景图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2916936"/>
            <a:ext cx="2523744" cy="106070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2916936"/>
            <a:ext cx="2523744" cy="64008"/>
          </a:xfrm>
          <a:prstGeom prst="rect">
            <a:avLst/>
          </a:prstGeom>
          <a:solidFill>
            <a:srgbClr val="20B8C8"/>
          </a:solidFill>
          <a:ln w="12700">
            <a:solidFill>
              <a:srgbClr val="20B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划分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410712"/>
            <a:ext cx="2194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517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129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55848" y="2916936"/>
            <a:ext cx="2523744" cy="106070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55848" y="2916936"/>
            <a:ext cx="2523744" cy="64008"/>
          </a:xfrm>
          <a:prstGeom prst="rect">
            <a:avLst/>
          </a:prstGeom>
          <a:solidFill>
            <a:srgbClr val="6B7C93"/>
          </a:solidFill>
          <a:ln w="12700">
            <a:solidFill>
              <a:srgbClr val="6B7C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增强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20440" y="3410712"/>
            <a:ext cx="2194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亮度颜色、平移缩放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翻转与 Mosaic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4261104"/>
            <a:ext cx="2523744" cy="106070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4261104"/>
            <a:ext cx="2523744" cy="64008"/>
          </a:xfrm>
          <a:prstGeom prst="rect">
            <a:avLst/>
          </a:prstGeom>
          <a:solidFill>
            <a:srgbClr val="2F5DA8"/>
          </a:solidFill>
          <a:ln w="12700">
            <a:solidFill>
              <a:srgbClr val="2F5D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407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微调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YOLOv8n 预训练权重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imgsz 640 · batch 8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355848" y="4261104"/>
            <a:ext cx="2523744" cy="1060704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5848" y="4261104"/>
            <a:ext cx="2523744" cy="64008"/>
          </a:xfrm>
          <a:prstGeom prst="rect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4407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选择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20440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100 轮 · patience 12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50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40 轮早停，最佳第 28 轮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989320" y="1508760"/>
            <a:ext cx="0" cy="4370832"/>
          </a:xfrm>
          <a:prstGeom prst="line">
            <a:avLst/>
          </a:prstGeom>
          <a:noFill/>
          <a:ln w="12700">
            <a:solidFill>
              <a:srgbClr val="BAC7D8"/>
            </a:solidFill>
            <a:prstDash val="solid"/>
          </a:ln>
        </p:spPr>
      </p:sp>
      <p:pic>
        <p:nvPicPr>
          <p:cNvPr id="34" name="Image 0" descr="D:\Files\Work\光电\AI_Interferometry_prepare\make_dataset_new\pre_annotation_model_training\runs\pool_after_1240\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28216"/>
            <a:ext cx="5285232" cy="264261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656832" y="442569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7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损失下降，Precision / Recall / mAP逐步稳定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400800" y="4892040"/>
            <a:ext cx="1170432" cy="713232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8890">
            <a:solidFill>
              <a:srgbClr val="D5DD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73952" y="496519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0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646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6473952" y="5321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图像总数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744968" y="4892040"/>
            <a:ext cx="1170432" cy="713232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8890">
            <a:solidFill>
              <a:srgbClr val="D5DD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18120" y="496519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7818120" y="5321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背景图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9089136" y="4892040"/>
            <a:ext cx="1170432" cy="713232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8890">
            <a:solidFill>
              <a:srgbClr val="D5DD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62288" y="496519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9162288" y="5321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最佳轮次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10433304" y="4892040"/>
            <a:ext cx="1170432" cy="713232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8890">
            <a:solidFill>
              <a:srgbClr val="D5DD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506456" y="496519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B8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RTX 4060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10506456" y="5321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Laptop GPU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400800" y="580644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验证集不参与权重更新，用于选择泛化表现更好的最佳权重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411480" y="164592"/>
            <a:ext cx="384048" cy="566928"/>
          </a:xfrm>
          <a:prstGeom prst="rect">
            <a:avLst/>
          </a:prstGeom>
          <a:solidFill>
            <a:srgbClr val="C99045"/>
          </a:solidFill>
          <a:ln w="17780">
            <a:solidFill>
              <a:srgbClr val="2736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20000">
            <a:off x="493776" y="201168"/>
            <a:ext cx="384048" cy="566928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273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" y="219456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27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基于AI的辅助系统设计 / 02.视觉方案设计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1475720" cy="0"/>
          </a:xfrm>
          <a:prstGeom prst="line">
            <a:avLst/>
          </a:prstGeom>
          <a:noFill/>
          <a:ln w="14605">
            <a:solidFill>
              <a:srgbClr val="273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0" y="64739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8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4/4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94183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从单帧检测到可靠自动寻中：模型只是第一层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98080" y="10698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6B7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“低阈值保留候选，再用规则与时序提高可靠性”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1627632"/>
            <a:ext cx="1600200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7780">
            <a:solidFill>
              <a:srgbClr val="2F5D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5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YOLO候选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7512" y="2221992"/>
            <a:ext cx="145389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conf=0.05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NMS IoU=0.80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12848" y="2066544"/>
            <a:ext cx="246888" cy="310896"/>
          </a:xfrm>
          <a:prstGeom prst="chevron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627632"/>
            <a:ext cx="1600200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7780">
            <a:solidFill>
              <a:srgbClr val="C99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9464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990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分类筛选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569464" y="2221992"/>
            <a:ext cx="145389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≥0.18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near ≥0.12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2066544"/>
            <a:ext cx="246888" cy="310896"/>
          </a:xfrm>
          <a:prstGeom prst="chevron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8264" y="1627632"/>
            <a:ext cx="1600200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7780">
            <a:solidFill>
              <a:srgbClr val="20B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时序融合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71416" y="2221992"/>
            <a:ext cx="145389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连续帧确认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历史位置与速度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16752" y="2066544"/>
            <a:ext cx="246888" cy="310896"/>
          </a:xfrm>
          <a:prstGeom prst="chevron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0216" y="1627632"/>
            <a:ext cx="1600200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7780">
            <a:solidFill>
              <a:srgbClr val="6B7C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B7C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模糊保护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73368" y="2221992"/>
            <a:ext cx="145389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边转边识别降速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或转停识别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18704" y="2066544"/>
            <a:ext cx="246888" cy="310896"/>
          </a:xfrm>
          <a:prstGeom prst="chevron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2168" y="1627632"/>
            <a:ext cx="1600200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7780">
            <a:solidFill>
              <a:srgbClr val="2F5D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5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中心精修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75320" y="2221992"/>
            <a:ext cx="145389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5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局部多特征评分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B59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不取框几何中心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820656" y="2066544"/>
            <a:ext cx="246888" cy="310896"/>
          </a:xfrm>
          <a:prstGeom prst="chevron">
            <a:avLst/>
          </a:prstGeom>
          <a:solidFill>
            <a:srgbClr val="C99045"/>
          </a:solidFill>
          <a:ln w="12700">
            <a:solidFill>
              <a:srgbClr val="C990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04120" y="1627632"/>
            <a:ext cx="1600200" cy="1234440"/>
          </a:xfrm>
          <a:prstGeom prst="roundRect">
            <a:avLst>
              <a:gd name="adj" fmla="val 3704"/>
            </a:avLst>
          </a:prstGeom>
          <a:solidFill>
            <a:srgbClr val="27364A"/>
          </a:solidFill>
          <a:ln w="17780">
            <a:solidFill>
              <a:srgbClr val="2736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77272" y="18105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电机闭环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0177272" y="2221992"/>
            <a:ext cx="145389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稳定后才停车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丢失后安全重搜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32644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当前模型原始验证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58368" y="3712464"/>
            <a:ext cx="1170432" cy="713232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8890">
            <a:solidFill>
              <a:srgbClr val="D5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78561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D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0.850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1520" y="414223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965960" y="3712464"/>
            <a:ext cx="1170432" cy="713232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8890">
            <a:solidFill>
              <a:srgbClr val="D5DD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39112" y="378561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B8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0.748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039112" y="414223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73552" y="3712464"/>
            <a:ext cx="1170432" cy="713232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8890">
            <a:solidFill>
              <a:srgbClr val="D5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46704" y="378561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0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0.895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3346704" y="414223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mAP50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81144" y="3712464"/>
            <a:ext cx="1170432" cy="713232"/>
          </a:xfrm>
          <a:prstGeom prst="roundRect">
            <a:avLst>
              <a:gd name="adj" fmla="val 6410"/>
            </a:avLst>
          </a:prstGeom>
          <a:solidFill>
            <a:srgbClr val="F7F9FC"/>
          </a:solidFill>
          <a:ln w="8890">
            <a:solidFill>
              <a:srgbClr val="D5DD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54296" y="378561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C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0.660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654296" y="414223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mAP50–95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63640" y="3264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统一筛选策略（129张验证图）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263640" y="3703320"/>
            <a:ext cx="2423160" cy="1234440"/>
          </a:xfrm>
          <a:prstGeom prst="rect">
            <a:avLst/>
          </a:prstGeom>
          <a:solidFill>
            <a:srgbClr val="EDF3FB"/>
          </a:solidFill>
          <a:ln w="10160">
            <a:solidFill>
              <a:srgbClr val="B9CD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8770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zero_order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446520" y="427024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0.754   R 0.929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0.832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915400" y="3703320"/>
            <a:ext cx="2423160" cy="1234440"/>
          </a:xfrm>
          <a:prstGeom prst="rect">
            <a:avLst/>
          </a:prstGeom>
          <a:solidFill>
            <a:srgbClr val="ECFAFC"/>
          </a:solidFill>
          <a:ln w="10160">
            <a:solidFill>
              <a:srgbClr val="9DDB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98280" y="38770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B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near_fringe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098280" y="427024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0.856   R 0.846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0.851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58368" y="5321808"/>
            <a:ext cx="10680192" cy="658368"/>
          </a:xfrm>
          <a:prstGeom prst="rect">
            <a:avLst/>
          </a:prstGeom>
          <a:solidFill>
            <a:srgbClr val="27364A"/>
          </a:solidFill>
          <a:ln w="12700">
            <a:solidFill>
              <a:srgbClr val="2736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5522976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90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能力边界：</a:t>
            </a: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长时间严重模糊、遮挡或相机/光路显著改变时必须降速、停车或重新采样；历史预测不能单独触发换向和完成判定。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658368" y="6108192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7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说明：原始模型指标与统一筛选后的工作点采用不同阈值条件，不能直接拼成同一组。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PresentationFormat>宽屏</PresentationFormat>
  <Paragraphs>123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Microsoft YaHei</vt:lpstr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AI Interferometry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新增内容_AI条纹识别原理与模型训练</dc:title>
  <dc:subject>AI条纹识别原理与模型训练新增插入页</dc:subject>
  <dc:creator>AI Interferometry Project</dc:creator>
  <cp:lastModifiedBy>智博 张</cp:lastModifiedBy>
  <cp:revision>1</cp:revision>
  <dcterms:created xsi:type="dcterms:W3CDTF">2026-08-11T07:35:29Z</dcterms:created>
  <dcterms:modified xsi:type="dcterms:W3CDTF">2026-08-11T07:35:30Z</dcterms:modified>
</cp:coreProperties>
</file>